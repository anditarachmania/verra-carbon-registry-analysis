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7772400" cy="7772400"/>
  <p:notesSz cx="7772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2093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2409444"/>
            <a:ext cx="66065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E6F0F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4352544"/>
            <a:ext cx="54406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791AF"/>
                </a:solidFill>
                <a:latin typeface="Arial MT"/>
                <a:cs typeface="Arial MT"/>
              </a:defRPr>
            </a:lvl1pPr>
          </a:lstStyle>
          <a:p>
            <a:pPr marL="762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 / </a:t>
            </a:r>
            <a:r>
              <a:rPr spc="-25" dirty="0"/>
              <a:t>10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E6F0F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791AF"/>
                </a:solidFill>
                <a:latin typeface="Arial MT"/>
                <a:cs typeface="Arial MT"/>
              </a:defRPr>
            </a:lvl1pPr>
          </a:lstStyle>
          <a:p>
            <a:pPr marL="762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 / </a:t>
            </a:r>
            <a:r>
              <a:rPr spc="-25" dirty="0"/>
              <a:t>10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E6F0F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1787652"/>
            <a:ext cx="338099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1787652"/>
            <a:ext cx="338099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791AF"/>
                </a:solidFill>
                <a:latin typeface="Arial MT"/>
                <a:cs typeface="Arial MT"/>
              </a:defRPr>
            </a:lvl1pPr>
          </a:lstStyle>
          <a:p>
            <a:pPr marL="762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 / </a:t>
            </a:r>
            <a:r>
              <a:rPr spc="-25" dirty="0"/>
              <a:t>10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E6F0F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791AF"/>
                </a:solidFill>
                <a:latin typeface="Arial MT"/>
                <a:cs typeface="Arial MT"/>
              </a:defRPr>
            </a:lvl1pPr>
          </a:lstStyle>
          <a:p>
            <a:pPr marL="762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 / </a:t>
            </a:r>
            <a:r>
              <a:rPr spc="-25" dirty="0"/>
              <a:t>10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791AF"/>
                </a:solidFill>
                <a:latin typeface="Arial MT"/>
                <a:cs typeface="Arial MT"/>
              </a:defRPr>
            </a:lvl1pPr>
          </a:lstStyle>
          <a:p>
            <a:pPr marL="762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 / </a:t>
            </a:r>
            <a:r>
              <a:rPr spc="-25" dirty="0"/>
              <a:t>10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7772400" cy="7772400"/>
          </a:xfrm>
          <a:custGeom>
            <a:avLst/>
            <a:gdLst/>
            <a:ahLst/>
            <a:cxnLst/>
            <a:rect l="l" t="t" r="r" b="b"/>
            <a:pathLst>
              <a:path w="7772400" h="7772400">
                <a:moveTo>
                  <a:pt x="7772400" y="0"/>
                </a:moveTo>
                <a:lnTo>
                  <a:pt x="0" y="0"/>
                </a:lnTo>
                <a:lnTo>
                  <a:pt x="0" y="7772400"/>
                </a:lnTo>
                <a:lnTo>
                  <a:pt x="7772400" y="7772400"/>
                </a:lnTo>
                <a:lnTo>
                  <a:pt x="7772400" y="0"/>
                </a:lnTo>
                <a:close/>
              </a:path>
            </a:pathLst>
          </a:custGeom>
          <a:solidFill>
            <a:srgbClr val="0A18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4500" y="546100"/>
            <a:ext cx="564896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E6F0F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7350" y="3201466"/>
            <a:ext cx="6965950" cy="34010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7228332"/>
            <a:ext cx="248716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7228332"/>
            <a:ext cx="178765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952970" y="7376827"/>
            <a:ext cx="375335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8791AF"/>
                </a:solidFill>
                <a:latin typeface="Arial MT"/>
                <a:cs typeface="Arial MT"/>
              </a:defRPr>
            </a:lvl1pPr>
          </a:lstStyle>
          <a:p>
            <a:pPr marL="762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 / </a:t>
            </a:r>
            <a:r>
              <a:rPr spc="-25" dirty="0"/>
              <a:t>10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7772400" cy="7772400"/>
            <a:chOff x="0" y="0"/>
            <a:chExt cx="7772400" cy="77724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7772400" cy="3886200"/>
            </a:xfrm>
            <a:custGeom>
              <a:avLst/>
              <a:gdLst/>
              <a:ahLst/>
              <a:cxnLst/>
              <a:rect l="l" t="t" r="r" b="b"/>
              <a:pathLst>
                <a:path w="7772400" h="3886200">
                  <a:moveTo>
                    <a:pt x="0" y="3886200"/>
                  </a:moveTo>
                  <a:lnTo>
                    <a:pt x="7772400" y="3886200"/>
                  </a:lnTo>
                  <a:lnTo>
                    <a:pt x="7772400" y="0"/>
                  </a:lnTo>
                  <a:lnTo>
                    <a:pt x="0" y="0"/>
                  </a:lnTo>
                  <a:lnTo>
                    <a:pt x="0" y="3886200"/>
                  </a:lnTo>
                  <a:close/>
                </a:path>
              </a:pathLst>
            </a:custGeom>
            <a:solidFill>
              <a:srgbClr val="0A18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3886200"/>
              <a:ext cx="7772400" cy="3886200"/>
            </a:xfrm>
            <a:custGeom>
              <a:avLst/>
              <a:gdLst/>
              <a:ahLst/>
              <a:cxnLst/>
              <a:rect l="l" t="t" r="r" b="b"/>
              <a:pathLst>
                <a:path w="7772400" h="3886200">
                  <a:moveTo>
                    <a:pt x="7772400" y="0"/>
                  </a:moveTo>
                  <a:lnTo>
                    <a:pt x="0" y="0"/>
                  </a:lnTo>
                  <a:lnTo>
                    <a:pt x="0" y="3886200"/>
                  </a:lnTo>
                  <a:lnTo>
                    <a:pt x="7772400" y="3886200"/>
                  </a:lnTo>
                  <a:lnTo>
                    <a:pt x="7772400" y="0"/>
                  </a:lnTo>
                  <a:close/>
                </a:path>
              </a:pathLst>
            </a:custGeom>
            <a:solidFill>
              <a:srgbClr val="050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7200" y="2692400"/>
              <a:ext cx="50800" cy="3048000"/>
            </a:xfrm>
            <a:custGeom>
              <a:avLst/>
              <a:gdLst/>
              <a:ahLst/>
              <a:cxnLst/>
              <a:rect l="l" t="t" r="r" b="b"/>
              <a:pathLst>
                <a:path w="50800" h="3048000">
                  <a:moveTo>
                    <a:pt x="50800" y="0"/>
                  </a:moveTo>
                  <a:lnTo>
                    <a:pt x="0" y="0"/>
                  </a:lnTo>
                  <a:lnTo>
                    <a:pt x="0" y="3048000"/>
                  </a:lnTo>
                  <a:lnTo>
                    <a:pt x="50800" y="3048000"/>
                  </a:lnTo>
                  <a:lnTo>
                    <a:pt x="50800" y="0"/>
                  </a:lnTo>
                  <a:close/>
                </a:path>
              </a:pathLst>
            </a:custGeom>
            <a:solidFill>
              <a:srgbClr val="00D4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740400" y="254000"/>
              <a:ext cx="1778000" cy="1778000"/>
            </a:xfrm>
            <a:custGeom>
              <a:avLst/>
              <a:gdLst/>
              <a:ahLst/>
              <a:cxnLst/>
              <a:rect l="l" t="t" r="r" b="b"/>
              <a:pathLst>
                <a:path w="1778000" h="1778000">
                  <a:moveTo>
                    <a:pt x="889000" y="0"/>
                  </a:moveTo>
                  <a:lnTo>
                    <a:pt x="840223" y="1315"/>
                  </a:lnTo>
                  <a:lnTo>
                    <a:pt x="792133" y="5216"/>
                  </a:lnTo>
                  <a:lnTo>
                    <a:pt x="744799" y="11635"/>
                  </a:lnTo>
                  <a:lnTo>
                    <a:pt x="698288" y="20504"/>
                  </a:lnTo>
                  <a:lnTo>
                    <a:pt x="652668" y="31755"/>
                  </a:lnTo>
                  <a:lnTo>
                    <a:pt x="608007" y="45321"/>
                  </a:lnTo>
                  <a:lnTo>
                    <a:pt x="564372" y="61134"/>
                  </a:lnTo>
                  <a:lnTo>
                    <a:pt x="521831" y="79125"/>
                  </a:lnTo>
                  <a:lnTo>
                    <a:pt x="480453" y="99228"/>
                  </a:lnTo>
                  <a:lnTo>
                    <a:pt x="440304" y="121374"/>
                  </a:lnTo>
                  <a:lnTo>
                    <a:pt x="401453" y="145496"/>
                  </a:lnTo>
                  <a:lnTo>
                    <a:pt x="363968" y="171525"/>
                  </a:lnTo>
                  <a:lnTo>
                    <a:pt x="327916" y="199394"/>
                  </a:lnTo>
                  <a:lnTo>
                    <a:pt x="293364" y="229036"/>
                  </a:lnTo>
                  <a:lnTo>
                    <a:pt x="260382" y="260382"/>
                  </a:lnTo>
                  <a:lnTo>
                    <a:pt x="229036" y="293364"/>
                  </a:lnTo>
                  <a:lnTo>
                    <a:pt x="199394" y="327916"/>
                  </a:lnTo>
                  <a:lnTo>
                    <a:pt x="171525" y="363968"/>
                  </a:lnTo>
                  <a:lnTo>
                    <a:pt x="145496" y="401453"/>
                  </a:lnTo>
                  <a:lnTo>
                    <a:pt x="121374" y="440304"/>
                  </a:lnTo>
                  <a:lnTo>
                    <a:pt x="99228" y="480453"/>
                  </a:lnTo>
                  <a:lnTo>
                    <a:pt x="79125" y="521831"/>
                  </a:lnTo>
                  <a:lnTo>
                    <a:pt x="61134" y="564372"/>
                  </a:lnTo>
                  <a:lnTo>
                    <a:pt x="45321" y="608007"/>
                  </a:lnTo>
                  <a:lnTo>
                    <a:pt x="31755" y="652668"/>
                  </a:lnTo>
                  <a:lnTo>
                    <a:pt x="20504" y="698288"/>
                  </a:lnTo>
                  <a:lnTo>
                    <a:pt x="11635" y="744799"/>
                  </a:lnTo>
                  <a:lnTo>
                    <a:pt x="5216" y="792133"/>
                  </a:lnTo>
                  <a:lnTo>
                    <a:pt x="1315" y="840223"/>
                  </a:lnTo>
                  <a:lnTo>
                    <a:pt x="0" y="889000"/>
                  </a:lnTo>
                  <a:lnTo>
                    <a:pt x="1315" y="937776"/>
                  </a:lnTo>
                  <a:lnTo>
                    <a:pt x="5216" y="985866"/>
                  </a:lnTo>
                  <a:lnTo>
                    <a:pt x="11635" y="1033200"/>
                  </a:lnTo>
                  <a:lnTo>
                    <a:pt x="20504" y="1079711"/>
                  </a:lnTo>
                  <a:lnTo>
                    <a:pt x="31755" y="1125331"/>
                  </a:lnTo>
                  <a:lnTo>
                    <a:pt x="45321" y="1169992"/>
                  </a:lnTo>
                  <a:lnTo>
                    <a:pt x="61134" y="1213627"/>
                  </a:lnTo>
                  <a:lnTo>
                    <a:pt x="79125" y="1256168"/>
                  </a:lnTo>
                  <a:lnTo>
                    <a:pt x="99228" y="1297546"/>
                  </a:lnTo>
                  <a:lnTo>
                    <a:pt x="121374" y="1337695"/>
                  </a:lnTo>
                  <a:lnTo>
                    <a:pt x="145496" y="1376546"/>
                  </a:lnTo>
                  <a:lnTo>
                    <a:pt x="171525" y="1414031"/>
                  </a:lnTo>
                  <a:lnTo>
                    <a:pt x="199394" y="1450083"/>
                  </a:lnTo>
                  <a:lnTo>
                    <a:pt x="229036" y="1484635"/>
                  </a:lnTo>
                  <a:lnTo>
                    <a:pt x="260382" y="1517617"/>
                  </a:lnTo>
                  <a:lnTo>
                    <a:pt x="293364" y="1548963"/>
                  </a:lnTo>
                  <a:lnTo>
                    <a:pt x="327916" y="1578605"/>
                  </a:lnTo>
                  <a:lnTo>
                    <a:pt x="363968" y="1606474"/>
                  </a:lnTo>
                  <a:lnTo>
                    <a:pt x="401453" y="1632503"/>
                  </a:lnTo>
                  <a:lnTo>
                    <a:pt x="440304" y="1656625"/>
                  </a:lnTo>
                  <a:lnTo>
                    <a:pt x="480453" y="1678771"/>
                  </a:lnTo>
                  <a:lnTo>
                    <a:pt x="521831" y="1698874"/>
                  </a:lnTo>
                  <a:lnTo>
                    <a:pt x="564372" y="1716865"/>
                  </a:lnTo>
                  <a:lnTo>
                    <a:pt x="608007" y="1732678"/>
                  </a:lnTo>
                  <a:lnTo>
                    <a:pt x="652668" y="1746244"/>
                  </a:lnTo>
                  <a:lnTo>
                    <a:pt x="698288" y="1757495"/>
                  </a:lnTo>
                  <a:lnTo>
                    <a:pt x="744799" y="1766364"/>
                  </a:lnTo>
                  <a:lnTo>
                    <a:pt x="792133" y="1772783"/>
                  </a:lnTo>
                  <a:lnTo>
                    <a:pt x="840223" y="1776684"/>
                  </a:lnTo>
                  <a:lnTo>
                    <a:pt x="889000" y="1778000"/>
                  </a:lnTo>
                  <a:lnTo>
                    <a:pt x="937776" y="1776684"/>
                  </a:lnTo>
                  <a:lnTo>
                    <a:pt x="985866" y="1772783"/>
                  </a:lnTo>
                  <a:lnTo>
                    <a:pt x="1033200" y="1766364"/>
                  </a:lnTo>
                  <a:lnTo>
                    <a:pt x="1079711" y="1757495"/>
                  </a:lnTo>
                  <a:lnTo>
                    <a:pt x="1125331" y="1746244"/>
                  </a:lnTo>
                  <a:lnTo>
                    <a:pt x="1169992" y="1732678"/>
                  </a:lnTo>
                  <a:lnTo>
                    <a:pt x="1213627" y="1716865"/>
                  </a:lnTo>
                  <a:lnTo>
                    <a:pt x="1256168" y="1698874"/>
                  </a:lnTo>
                  <a:lnTo>
                    <a:pt x="1297546" y="1678771"/>
                  </a:lnTo>
                  <a:lnTo>
                    <a:pt x="1337695" y="1656625"/>
                  </a:lnTo>
                  <a:lnTo>
                    <a:pt x="1376546" y="1632503"/>
                  </a:lnTo>
                  <a:lnTo>
                    <a:pt x="1414031" y="1606474"/>
                  </a:lnTo>
                  <a:lnTo>
                    <a:pt x="1450083" y="1578605"/>
                  </a:lnTo>
                  <a:lnTo>
                    <a:pt x="1484635" y="1548963"/>
                  </a:lnTo>
                  <a:lnTo>
                    <a:pt x="1517617" y="1517617"/>
                  </a:lnTo>
                  <a:lnTo>
                    <a:pt x="1548963" y="1484635"/>
                  </a:lnTo>
                  <a:lnTo>
                    <a:pt x="1578605" y="1450083"/>
                  </a:lnTo>
                  <a:lnTo>
                    <a:pt x="1606474" y="1414031"/>
                  </a:lnTo>
                  <a:lnTo>
                    <a:pt x="1632503" y="1376546"/>
                  </a:lnTo>
                  <a:lnTo>
                    <a:pt x="1656625" y="1337695"/>
                  </a:lnTo>
                  <a:lnTo>
                    <a:pt x="1678771" y="1297546"/>
                  </a:lnTo>
                  <a:lnTo>
                    <a:pt x="1698874" y="1256168"/>
                  </a:lnTo>
                  <a:lnTo>
                    <a:pt x="1716865" y="1213627"/>
                  </a:lnTo>
                  <a:lnTo>
                    <a:pt x="1732678" y="1169992"/>
                  </a:lnTo>
                  <a:lnTo>
                    <a:pt x="1746244" y="1125331"/>
                  </a:lnTo>
                  <a:lnTo>
                    <a:pt x="1757495" y="1079711"/>
                  </a:lnTo>
                  <a:lnTo>
                    <a:pt x="1766364" y="1033200"/>
                  </a:lnTo>
                  <a:lnTo>
                    <a:pt x="1772783" y="985866"/>
                  </a:lnTo>
                  <a:lnTo>
                    <a:pt x="1776684" y="937776"/>
                  </a:lnTo>
                  <a:lnTo>
                    <a:pt x="1778000" y="889000"/>
                  </a:lnTo>
                  <a:lnTo>
                    <a:pt x="1776684" y="840223"/>
                  </a:lnTo>
                  <a:lnTo>
                    <a:pt x="1772783" y="792133"/>
                  </a:lnTo>
                  <a:lnTo>
                    <a:pt x="1766364" y="744799"/>
                  </a:lnTo>
                  <a:lnTo>
                    <a:pt x="1757495" y="698288"/>
                  </a:lnTo>
                  <a:lnTo>
                    <a:pt x="1746244" y="652668"/>
                  </a:lnTo>
                  <a:lnTo>
                    <a:pt x="1732678" y="608007"/>
                  </a:lnTo>
                  <a:lnTo>
                    <a:pt x="1716865" y="564372"/>
                  </a:lnTo>
                  <a:lnTo>
                    <a:pt x="1698874" y="521831"/>
                  </a:lnTo>
                  <a:lnTo>
                    <a:pt x="1678771" y="480453"/>
                  </a:lnTo>
                  <a:lnTo>
                    <a:pt x="1656625" y="440304"/>
                  </a:lnTo>
                  <a:lnTo>
                    <a:pt x="1632503" y="401453"/>
                  </a:lnTo>
                  <a:lnTo>
                    <a:pt x="1606474" y="363968"/>
                  </a:lnTo>
                  <a:lnTo>
                    <a:pt x="1578605" y="327916"/>
                  </a:lnTo>
                  <a:lnTo>
                    <a:pt x="1548963" y="293364"/>
                  </a:lnTo>
                  <a:lnTo>
                    <a:pt x="1517617" y="260382"/>
                  </a:lnTo>
                  <a:lnTo>
                    <a:pt x="1484635" y="229036"/>
                  </a:lnTo>
                  <a:lnTo>
                    <a:pt x="1450083" y="199394"/>
                  </a:lnTo>
                  <a:lnTo>
                    <a:pt x="1414031" y="171525"/>
                  </a:lnTo>
                  <a:lnTo>
                    <a:pt x="1376546" y="145496"/>
                  </a:lnTo>
                  <a:lnTo>
                    <a:pt x="1337695" y="121374"/>
                  </a:lnTo>
                  <a:lnTo>
                    <a:pt x="1297546" y="99228"/>
                  </a:lnTo>
                  <a:lnTo>
                    <a:pt x="1256168" y="79125"/>
                  </a:lnTo>
                  <a:lnTo>
                    <a:pt x="1213627" y="61134"/>
                  </a:lnTo>
                  <a:lnTo>
                    <a:pt x="1169992" y="45321"/>
                  </a:lnTo>
                  <a:lnTo>
                    <a:pt x="1125331" y="31755"/>
                  </a:lnTo>
                  <a:lnTo>
                    <a:pt x="1079711" y="20504"/>
                  </a:lnTo>
                  <a:lnTo>
                    <a:pt x="1033200" y="11635"/>
                  </a:lnTo>
                  <a:lnTo>
                    <a:pt x="985866" y="5216"/>
                  </a:lnTo>
                  <a:lnTo>
                    <a:pt x="937776" y="1315"/>
                  </a:lnTo>
                  <a:lnTo>
                    <a:pt x="889000" y="0"/>
                  </a:lnTo>
                  <a:close/>
                </a:path>
              </a:pathLst>
            </a:custGeom>
            <a:solidFill>
              <a:srgbClr val="1A3A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930900" y="444500"/>
              <a:ext cx="1397000" cy="1397000"/>
            </a:xfrm>
            <a:custGeom>
              <a:avLst/>
              <a:gdLst/>
              <a:ahLst/>
              <a:cxnLst/>
              <a:rect l="l" t="t" r="r" b="b"/>
              <a:pathLst>
                <a:path w="1397000" h="1397000">
                  <a:moveTo>
                    <a:pt x="698500" y="0"/>
                  </a:moveTo>
                  <a:lnTo>
                    <a:pt x="650676" y="1611"/>
                  </a:lnTo>
                  <a:lnTo>
                    <a:pt x="603717" y="6376"/>
                  </a:lnTo>
                  <a:lnTo>
                    <a:pt x="557727" y="14191"/>
                  </a:lnTo>
                  <a:lnTo>
                    <a:pt x="512810" y="24951"/>
                  </a:lnTo>
                  <a:lnTo>
                    <a:pt x="469070" y="38552"/>
                  </a:lnTo>
                  <a:lnTo>
                    <a:pt x="426612" y="54891"/>
                  </a:lnTo>
                  <a:lnTo>
                    <a:pt x="385538" y="73863"/>
                  </a:lnTo>
                  <a:lnTo>
                    <a:pt x="345953" y="95365"/>
                  </a:lnTo>
                  <a:lnTo>
                    <a:pt x="307961" y="119292"/>
                  </a:lnTo>
                  <a:lnTo>
                    <a:pt x="271667" y="145541"/>
                  </a:lnTo>
                  <a:lnTo>
                    <a:pt x="237173" y="174006"/>
                  </a:lnTo>
                  <a:lnTo>
                    <a:pt x="204585" y="204585"/>
                  </a:lnTo>
                  <a:lnTo>
                    <a:pt x="174006" y="237173"/>
                  </a:lnTo>
                  <a:lnTo>
                    <a:pt x="145541" y="271667"/>
                  </a:lnTo>
                  <a:lnTo>
                    <a:pt x="119292" y="307961"/>
                  </a:lnTo>
                  <a:lnTo>
                    <a:pt x="95365" y="345953"/>
                  </a:lnTo>
                  <a:lnTo>
                    <a:pt x="73863" y="385538"/>
                  </a:lnTo>
                  <a:lnTo>
                    <a:pt x="54891" y="426612"/>
                  </a:lnTo>
                  <a:lnTo>
                    <a:pt x="38552" y="469070"/>
                  </a:lnTo>
                  <a:lnTo>
                    <a:pt x="24951" y="512810"/>
                  </a:lnTo>
                  <a:lnTo>
                    <a:pt x="14191" y="557727"/>
                  </a:lnTo>
                  <a:lnTo>
                    <a:pt x="6376" y="603717"/>
                  </a:lnTo>
                  <a:lnTo>
                    <a:pt x="1611" y="650676"/>
                  </a:lnTo>
                  <a:lnTo>
                    <a:pt x="0" y="698500"/>
                  </a:lnTo>
                  <a:lnTo>
                    <a:pt x="1611" y="746323"/>
                  </a:lnTo>
                  <a:lnTo>
                    <a:pt x="6376" y="793282"/>
                  </a:lnTo>
                  <a:lnTo>
                    <a:pt x="14191" y="839272"/>
                  </a:lnTo>
                  <a:lnTo>
                    <a:pt x="24951" y="884189"/>
                  </a:lnTo>
                  <a:lnTo>
                    <a:pt x="38552" y="927929"/>
                  </a:lnTo>
                  <a:lnTo>
                    <a:pt x="54891" y="970387"/>
                  </a:lnTo>
                  <a:lnTo>
                    <a:pt x="73863" y="1011461"/>
                  </a:lnTo>
                  <a:lnTo>
                    <a:pt x="95365" y="1051046"/>
                  </a:lnTo>
                  <a:lnTo>
                    <a:pt x="119292" y="1089038"/>
                  </a:lnTo>
                  <a:lnTo>
                    <a:pt x="145541" y="1125332"/>
                  </a:lnTo>
                  <a:lnTo>
                    <a:pt x="174006" y="1159826"/>
                  </a:lnTo>
                  <a:lnTo>
                    <a:pt x="204585" y="1192414"/>
                  </a:lnTo>
                  <a:lnTo>
                    <a:pt x="237173" y="1222993"/>
                  </a:lnTo>
                  <a:lnTo>
                    <a:pt x="271667" y="1251458"/>
                  </a:lnTo>
                  <a:lnTo>
                    <a:pt x="307961" y="1277707"/>
                  </a:lnTo>
                  <a:lnTo>
                    <a:pt x="345953" y="1301634"/>
                  </a:lnTo>
                  <a:lnTo>
                    <a:pt x="385538" y="1323136"/>
                  </a:lnTo>
                  <a:lnTo>
                    <a:pt x="426612" y="1342108"/>
                  </a:lnTo>
                  <a:lnTo>
                    <a:pt x="469070" y="1358447"/>
                  </a:lnTo>
                  <a:lnTo>
                    <a:pt x="512810" y="1372048"/>
                  </a:lnTo>
                  <a:lnTo>
                    <a:pt x="557727" y="1382808"/>
                  </a:lnTo>
                  <a:lnTo>
                    <a:pt x="603717" y="1390623"/>
                  </a:lnTo>
                  <a:lnTo>
                    <a:pt x="650676" y="1395388"/>
                  </a:lnTo>
                  <a:lnTo>
                    <a:pt x="698500" y="1397000"/>
                  </a:lnTo>
                  <a:lnTo>
                    <a:pt x="746323" y="1395388"/>
                  </a:lnTo>
                  <a:lnTo>
                    <a:pt x="793282" y="1390623"/>
                  </a:lnTo>
                  <a:lnTo>
                    <a:pt x="839272" y="1382808"/>
                  </a:lnTo>
                  <a:lnTo>
                    <a:pt x="884189" y="1372048"/>
                  </a:lnTo>
                  <a:lnTo>
                    <a:pt x="927929" y="1358447"/>
                  </a:lnTo>
                  <a:lnTo>
                    <a:pt x="970387" y="1342108"/>
                  </a:lnTo>
                  <a:lnTo>
                    <a:pt x="1011461" y="1323136"/>
                  </a:lnTo>
                  <a:lnTo>
                    <a:pt x="1051046" y="1301634"/>
                  </a:lnTo>
                  <a:lnTo>
                    <a:pt x="1089038" y="1277707"/>
                  </a:lnTo>
                  <a:lnTo>
                    <a:pt x="1125332" y="1251458"/>
                  </a:lnTo>
                  <a:lnTo>
                    <a:pt x="1159826" y="1222993"/>
                  </a:lnTo>
                  <a:lnTo>
                    <a:pt x="1192414" y="1192414"/>
                  </a:lnTo>
                  <a:lnTo>
                    <a:pt x="1222993" y="1159826"/>
                  </a:lnTo>
                  <a:lnTo>
                    <a:pt x="1251458" y="1125332"/>
                  </a:lnTo>
                  <a:lnTo>
                    <a:pt x="1277707" y="1089038"/>
                  </a:lnTo>
                  <a:lnTo>
                    <a:pt x="1301634" y="1051046"/>
                  </a:lnTo>
                  <a:lnTo>
                    <a:pt x="1323136" y="1011461"/>
                  </a:lnTo>
                  <a:lnTo>
                    <a:pt x="1342108" y="970387"/>
                  </a:lnTo>
                  <a:lnTo>
                    <a:pt x="1358447" y="927929"/>
                  </a:lnTo>
                  <a:lnTo>
                    <a:pt x="1372048" y="884189"/>
                  </a:lnTo>
                  <a:lnTo>
                    <a:pt x="1382808" y="839272"/>
                  </a:lnTo>
                  <a:lnTo>
                    <a:pt x="1390623" y="793282"/>
                  </a:lnTo>
                  <a:lnTo>
                    <a:pt x="1395388" y="746323"/>
                  </a:lnTo>
                  <a:lnTo>
                    <a:pt x="1397000" y="698500"/>
                  </a:lnTo>
                  <a:lnTo>
                    <a:pt x="1395388" y="650676"/>
                  </a:lnTo>
                  <a:lnTo>
                    <a:pt x="1390623" y="603717"/>
                  </a:lnTo>
                  <a:lnTo>
                    <a:pt x="1382808" y="557727"/>
                  </a:lnTo>
                  <a:lnTo>
                    <a:pt x="1372048" y="512810"/>
                  </a:lnTo>
                  <a:lnTo>
                    <a:pt x="1358447" y="469070"/>
                  </a:lnTo>
                  <a:lnTo>
                    <a:pt x="1342108" y="426612"/>
                  </a:lnTo>
                  <a:lnTo>
                    <a:pt x="1323136" y="385538"/>
                  </a:lnTo>
                  <a:lnTo>
                    <a:pt x="1301634" y="345953"/>
                  </a:lnTo>
                  <a:lnTo>
                    <a:pt x="1277707" y="307961"/>
                  </a:lnTo>
                  <a:lnTo>
                    <a:pt x="1251458" y="271667"/>
                  </a:lnTo>
                  <a:lnTo>
                    <a:pt x="1222993" y="237173"/>
                  </a:lnTo>
                  <a:lnTo>
                    <a:pt x="1192414" y="204585"/>
                  </a:lnTo>
                  <a:lnTo>
                    <a:pt x="1159826" y="174006"/>
                  </a:lnTo>
                  <a:lnTo>
                    <a:pt x="1125332" y="145541"/>
                  </a:lnTo>
                  <a:lnTo>
                    <a:pt x="1089038" y="119292"/>
                  </a:lnTo>
                  <a:lnTo>
                    <a:pt x="1051046" y="95365"/>
                  </a:lnTo>
                  <a:lnTo>
                    <a:pt x="1011461" y="73863"/>
                  </a:lnTo>
                  <a:lnTo>
                    <a:pt x="970387" y="54891"/>
                  </a:lnTo>
                  <a:lnTo>
                    <a:pt x="927929" y="38552"/>
                  </a:lnTo>
                  <a:lnTo>
                    <a:pt x="884189" y="24951"/>
                  </a:lnTo>
                  <a:lnTo>
                    <a:pt x="839272" y="14191"/>
                  </a:lnTo>
                  <a:lnTo>
                    <a:pt x="793282" y="6376"/>
                  </a:lnTo>
                  <a:lnTo>
                    <a:pt x="746323" y="1611"/>
                  </a:lnTo>
                  <a:lnTo>
                    <a:pt x="698500" y="0"/>
                  </a:lnTo>
                  <a:close/>
                </a:path>
              </a:pathLst>
            </a:custGeom>
            <a:solidFill>
              <a:srgbClr val="0C21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146698" y="850900"/>
            <a:ext cx="9658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5" dirty="0">
                <a:solidFill>
                  <a:srgbClr val="00D4AA"/>
                </a:solidFill>
              </a:rPr>
              <a:t>VCS</a:t>
            </a:r>
            <a:endParaRPr sz="3600"/>
          </a:p>
        </p:txBody>
      </p:sp>
      <p:sp>
        <p:nvSpPr>
          <p:cNvPr id="9" name="object 9"/>
          <p:cNvSpPr txBox="1"/>
          <p:nvPr/>
        </p:nvSpPr>
        <p:spPr>
          <a:xfrm>
            <a:off x="647700" y="2628900"/>
            <a:ext cx="5257165" cy="17132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b="1" dirty="0">
                <a:solidFill>
                  <a:srgbClr val="E6F0FF"/>
                </a:solidFill>
                <a:latin typeface="Arial"/>
                <a:cs typeface="Arial"/>
              </a:rPr>
              <a:t>Exploring Data </a:t>
            </a:r>
            <a:r>
              <a:rPr sz="3400" b="1" spc="-10" dirty="0">
                <a:solidFill>
                  <a:srgbClr val="E6F0FF"/>
                </a:solidFill>
                <a:latin typeface="Arial"/>
                <a:cs typeface="Arial"/>
              </a:rPr>
              <a:t>Quality</a:t>
            </a:r>
            <a:endParaRPr sz="3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400" b="1" dirty="0">
                <a:solidFill>
                  <a:srgbClr val="00D4AA"/>
                </a:solidFill>
                <a:latin typeface="Arial"/>
                <a:cs typeface="Arial"/>
              </a:rPr>
              <a:t>in</a:t>
            </a:r>
            <a:r>
              <a:rPr sz="3400" b="1" spc="-10" dirty="0">
                <a:solidFill>
                  <a:srgbClr val="00D4AA"/>
                </a:solidFill>
                <a:latin typeface="Arial"/>
                <a:cs typeface="Arial"/>
              </a:rPr>
              <a:t> </a:t>
            </a:r>
            <a:r>
              <a:rPr sz="3400" b="1" dirty="0">
                <a:solidFill>
                  <a:srgbClr val="00D4AA"/>
                </a:solidFill>
                <a:latin typeface="Arial"/>
                <a:cs typeface="Arial"/>
              </a:rPr>
              <a:t>the</a:t>
            </a:r>
            <a:r>
              <a:rPr sz="3400" b="1" spc="-10" dirty="0">
                <a:solidFill>
                  <a:srgbClr val="00D4AA"/>
                </a:solidFill>
                <a:latin typeface="Arial"/>
                <a:cs typeface="Arial"/>
              </a:rPr>
              <a:t> </a:t>
            </a:r>
            <a:r>
              <a:rPr sz="3400" b="1" dirty="0">
                <a:solidFill>
                  <a:srgbClr val="00D4AA"/>
                </a:solidFill>
                <a:latin typeface="Arial"/>
                <a:cs typeface="Arial"/>
              </a:rPr>
              <a:t>Verra</a:t>
            </a:r>
            <a:r>
              <a:rPr sz="3400" b="1" spc="-5" dirty="0">
                <a:solidFill>
                  <a:srgbClr val="00D4AA"/>
                </a:solidFill>
                <a:latin typeface="Arial"/>
                <a:cs typeface="Arial"/>
              </a:rPr>
              <a:t> </a:t>
            </a:r>
            <a:r>
              <a:rPr sz="3400" b="1" dirty="0">
                <a:solidFill>
                  <a:srgbClr val="00D4AA"/>
                </a:solidFill>
                <a:latin typeface="Arial"/>
                <a:cs typeface="Arial"/>
              </a:rPr>
              <a:t>VCS</a:t>
            </a:r>
            <a:r>
              <a:rPr sz="3400" b="1" spc="-10" dirty="0">
                <a:solidFill>
                  <a:srgbClr val="00D4AA"/>
                </a:solidFill>
                <a:latin typeface="Arial"/>
                <a:cs typeface="Arial"/>
              </a:rPr>
              <a:t> Registry</a:t>
            </a:r>
            <a:endParaRPr sz="3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sz="1500" dirty="0">
                <a:solidFill>
                  <a:srgbClr val="8791AF"/>
                </a:solidFill>
                <a:latin typeface="Arial MT"/>
                <a:cs typeface="Arial MT"/>
              </a:rPr>
              <a:t>Exploratory</a:t>
            </a:r>
            <a:r>
              <a:rPr sz="1500" spc="-3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8791AF"/>
                </a:solidFill>
                <a:latin typeface="Arial MT"/>
                <a:cs typeface="Arial MT"/>
              </a:rPr>
              <a:t>Analysis</a:t>
            </a:r>
            <a:r>
              <a:rPr sz="1500" spc="-3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500" spc="-25" dirty="0">
                <a:solidFill>
                  <a:srgbClr val="8791AF"/>
                </a:solidFill>
                <a:latin typeface="Arial MT"/>
                <a:cs typeface="Arial MT"/>
              </a:rPr>
              <a:t>on</a:t>
            </a:r>
            <a:endParaRPr sz="15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500" dirty="0">
                <a:solidFill>
                  <a:srgbClr val="8791AF"/>
                </a:solidFill>
                <a:latin typeface="Arial MT"/>
                <a:cs typeface="Arial MT"/>
              </a:rPr>
              <a:t>Verra</a:t>
            </a:r>
            <a:r>
              <a:rPr sz="1500" spc="-3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8791AF"/>
                </a:solidFill>
                <a:latin typeface="Arial MT"/>
                <a:cs typeface="Arial MT"/>
              </a:rPr>
              <a:t>Energy</a:t>
            </a:r>
            <a:r>
              <a:rPr sz="1500" spc="-3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8791AF"/>
                </a:solidFill>
                <a:latin typeface="Arial MT"/>
                <a:cs typeface="Arial MT"/>
              </a:rPr>
              <a:t>Industry</a:t>
            </a:r>
            <a:r>
              <a:rPr sz="1500" spc="-3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8791AF"/>
                </a:solidFill>
                <a:latin typeface="Arial MT"/>
                <a:cs typeface="Arial MT"/>
              </a:rPr>
              <a:t>Public</a:t>
            </a:r>
            <a:r>
              <a:rPr sz="1500" spc="-3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500" spc="-20" dirty="0">
                <a:solidFill>
                  <a:srgbClr val="8791AF"/>
                </a:solidFill>
                <a:latin typeface="Arial MT"/>
                <a:cs typeface="Arial MT"/>
              </a:rPr>
              <a:t>Data</a:t>
            </a:r>
            <a:endParaRPr sz="1500" dirty="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60400" y="4521200"/>
            <a:ext cx="4419600" cy="0"/>
          </a:xfrm>
          <a:custGeom>
            <a:avLst/>
            <a:gdLst/>
            <a:ahLst/>
            <a:cxnLst/>
            <a:rect l="l" t="t" r="r" b="b"/>
            <a:pathLst>
              <a:path w="4419600">
                <a:moveTo>
                  <a:pt x="0" y="0"/>
                </a:moveTo>
                <a:lnTo>
                  <a:pt x="4419600" y="0"/>
                </a:lnTo>
              </a:path>
            </a:pathLst>
          </a:custGeom>
          <a:ln w="6350">
            <a:solidFill>
              <a:srgbClr val="1D3A5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47700" y="4559300"/>
            <a:ext cx="3619500" cy="566822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300" dirty="0">
                <a:solidFill>
                  <a:srgbClr val="8791AF"/>
                </a:solidFill>
                <a:latin typeface="Arial MT"/>
                <a:cs typeface="Arial MT"/>
              </a:rPr>
              <a:t>Andita</a:t>
            </a:r>
            <a:r>
              <a:rPr sz="1300" spc="-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8791AF"/>
                </a:solidFill>
                <a:latin typeface="Arial MT"/>
                <a:cs typeface="Arial MT"/>
              </a:rPr>
              <a:t>Rachmania</a:t>
            </a:r>
            <a:r>
              <a:rPr sz="1300" spc="27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8791AF"/>
                </a:solidFill>
                <a:latin typeface="Arial MT"/>
                <a:cs typeface="Arial MT"/>
              </a:rPr>
              <a:t>·</a:t>
            </a:r>
            <a:r>
              <a:rPr sz="1300" spc="27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8791AF"/>
                </a:solidFill>
                <a:latin typeface="Arial MT"/>
                <a:cs typeface="Arial MT"/>
              </a:rPr>
              <a:t>April </a:t>
            </a:r>
            <a:r>
              <a:rPr sz="1300" spc="-20" dirty="0">
                <a:solidFill>
                  <a:srgbClr val="8791AF"/>
                </a:solidFill>
                <a:latin typeface="Arial MT"/>
                <a:cs typeface="Arial MT"/>
              </a:rPr>
              <a:t>2026</a:t>
            </a:r>
            <a:endParaRPr sz="13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300" dirty="0">
                <a:solidFill>
                  <a:srgbClr val="8791AF"/>
                </a:solidFill>
                <a:latin typeface="Arial MT"/>
                <a:cs typeface="Arial MT"/>
              </a:rPr>
              <a:t>1,700 Projects</a:t>
            </a:r>
            <a:r>
              <a:rPr sz="1300" spc="28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8791AF"/>
                </a:solidFill>
                <a:latin typeface="Arial MT"/>
                <a:cs typeface="Arial MT"/>
              </a:rPr>
              <a:t>·</a:t>
            </a:r>
            <a:r>
              <a:rPr sz="1300" spc="28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8791AF"/>
                </a:solidFill>
                <a:latin typeface="Arial MT"/>
                <a:cs typeface="Arial MT"/>
              </a:rPr>
              <a:t>Verra VCS</a:t>
            </a:r>
            <a:r>
              <a:rPr sz="13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8791AF"/>
                </a:solidFill>
                <a:latin typeface="Arial MT"/>
                <a:cs typeface="Arial MT"/>
              </a:rPr>
              <a:t>Energy </a:t>
            </a:r>
            <a:r>
              <a:rPr sz="1300" spc="-10" dirty="0">
                <a:solidFill>
                  <a:srgbClr val="8791AF"/>
                </a:solidFill>
                <a:latin typeface="Arial MT"/>
                <a:cs typeface="Arial MT"/>
              </a:rPr>
              <a:t>Industry</a:t>
            </a:r>
            <a:endParaRPr sz="1300" dirty="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7620000"/>
            <a:ext cx="7772400" cy="50800"/>
          </a:xfrm>
          <a:custGeom>
            <a:avLst/>
            <a:gdLst/>
            <a:ahLst/>
            <a:cxnLst/>
            <a:rect l="l" t="t" r="r" b="b"/>
            <a:pathLst>
              <a:path w="7772400" h="50800">
                <a:moveTo>
                  <a:pt x="7772400" y="0"/>
                </a:moveTo>
                <a:lnTo>
                  <a:pt x="0" y="0"/>
                </a:lnTo>
                <a:lnTo>
                  <a:pt x="0" y="50800"/>
                </a:lnTo>
                <a:lnTo>
                  <a:pt x="7772400" y="50800"/>
                </a:lnTo>
                <a:lnTo>
                  <a:pt x="7772400" y="0"/>
                </a:lnTo>
                <a:close/>
              </a:path>
            </a:pathLst>
          </a:custGeom>
          <a:solidFill>
            <a:srgbClr val="00D4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/>
              <a:t>1</a:t>
            </a:fld>
            <a:r>
              <a:rPr dirty="0"/>
              <a:t> / </a:t>
            </a:r>
            <a:r>
              <a:rPr spc="-25" dirty="0"/>
              <a:t>10</a:t>
            </a: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88310"/>
            <a:ext cx="16891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791AF"/>
                </a:solidFill>
                <a:latin typeface="Arial MT"/>
                <a:cs typeface="Arial MT"/>
              </a:rPr>
              <a:t>BACKGROUND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9440" y="980441"/>
            <a:ext cx="5648960" cy="3911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Why</a:t>
            </a:r>
            <a:r>
              <a:rPr sz="2400" spc="-30" dirty="0"/>
              <a:t> </a:t>
            </a:r>
            <a:r>
              <a:rPr sz="2400" dirty="0"/>
              <a:t>does</a:t>
            </a:r>
            <a:r>
              <a:rPr sz="2400" spc="-25" dirty="0"/>
              <a:t> </a:t>
            </a:r>
            <a:r>
              <a:rPr sz="2400" dirty="0"/>
              <a:t>registry</a:t>
            </a:r>
            <a:r>
              <a:rPr sz="2400" spc="-30" dirty="0"/>
              <a:t> </a:t>
            </a:r>
            <a:r>
              <a:rPr sz="2400" dirty="0"/>
              <a:t>data</a:t>
            </a:r>
            <a:r>
              <a:rPr sz="2400" spc="-25" dirty="0"/>
              <a:t> </a:t>
            </a:r>
            <a:r>
              <a:rPr sz="2400" dirty="0"/>
              <a:t>quality</a:t>
            </a:r>
            <a:r>
              <a:rPr sz="2400" spc="-30" dirty="0"/>
              <a:t> </a:t>
            </a:r>
            <a:r>
              <a:rPr sz="2400" spc="-10" dirty="0"/>
              <a:t>matter?</a:t>
            </a:r>
            <a:endParaRPr sz="2400" dirty="0"/>
          </a:p>
        </p:txBody>
      </p:sp>
      <p:sp>
        <p:nvSpPr>
          <p:cNvPr id="6" name="object 6"/>
          <p:cNvSpPr txBox="1"/>
          <p:nvPr/>
        </p:nvSpPr>
        <p:spPr>
          <a:xfrm>
            <a:off x="622300" y="1654565"/>
            <a:ext cx="6159500" cy="743152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241300" marR="5080" indent="-228600">
              <a:lnSpc>
                <a:spcPct val="90300"/>
              </a:lnSpc>
              <a:spcBef>
                <a:spcPts val="355"/>
              </a:spcBef>
            </a:pPr>
            <a:r>
              <a:rPr sz="3300" b="1" baseline="-5050" dirty="0">
                <a:solidFill>
                  <a:srgbClr val="00D4AA"/>
                </a:solidFill>
                <a:latin typeface="Arial"/>
                <a:cs typeface="Arial"/>
              </a:rPr>
              <a:t>“</a:t>
            </a:r>
            <a:r>
              <a:rPr sz="3300" b="1" spc="127" baseline="-5050" dirty="0">
                <a:solidFill>
                  <a:srgbClr val="00D4AA"/>
                </a:solidFill>
                <a:latin typeface="Arial"/>
                <a:cs typeface="Arial"/>
              </a:rPr>
              <a:t> </a:t>
            </a:r>
            <a:r>
              <a:rPr sz="1300" i="1" dirty="0">
                <a:solidFill>
                  <a:srgbClr val="E6F0FF"/>
                </a:solidFill>
                <a:latin typeface="Arial"/>
                <a:cs typeface="Arial"/>
              </a:rPr>
              <a:t>Carbon-crediting</a:t>
            </a:r>
            <a:r>
              <a:rPr sz="1300" i="1" spc="5" dirty="0">
                <a:solidFill>
                  <a:srgbClr val="E6F0FF"/>
                </a:solidFill>
                <a:latin typeface="Arial"/>
                <a:cs typeface="Arial"/>
              </a:rPr>
              <a:t> </a:t>
            </a:r>
            <a:r>
              <a:rPr sz="1300" i="1" dirty="0">
                <a:solidFill>
                  <a:srgbClr val="E6F0FF"/>
                </a:solidFill>
                <a:latin typeface="Arial"/>
                <a:cs typeface="Arial"/>
              </a:rPr>
              <a:t>programs shall</a:t>
            </a:r>
            <a:r>
              <a:rPr sz="1300" i="1" spc="5" dirty="0">
                <a:solidFill>
                  <a:srgbClr val="E6F0FF"/>
                </a:solidFill>
                <a:latin typeface="Arial"/>
                <a:cs typeface="Arial"/>
              </a:rPr>
              <a:t> </a:t>
            </a:r>
            <a:r>
              <a:rPr sz="1300" i="1" dirty="0">
                <a:solidFill>
                  <a:srgbClr val="E6F0FF"/>
                </a:solidFill>
                <a:latin typeface="Arial"/>
                <a:cs typeface="Arial"/>
              </a:rPr>
              <a:t>provide comprehensive and</a:t>
            </a:r>
            <a:r>
              <a:rPr sz="1300" i="1" spc="5" dirty="0">
                <a:solidFill>
                  <a:srgbClr val="E6F0FF"/>
                </a:solidFill>
                <a:latin typeface="Arial"/>
                <a:cs typeface="Arial"/>
              </a:rPr>
              <a:t> </a:t>
            </a:r>
            <a:r>
              <a:rPr sz="1300" i="1" spc="-10" dirty="0">
                <a:solidFill>
                  <a:srgbClr val="E6F0FF"/>
                </a:solidFill>
                <a:latin typeface="Arial"/>
                <a:cs typeface="Arial"/>
              </a:rPr>
              <a:t>transparent </a:t>
            </a:r>
            <a:r>
              <a:rPr sz="1300" i="1" dirty="0">
                <a:solidFill>
                  <a:srgbClr val="E6F0FF"/>
                </a:solidFill>
                <a:latin typeface="Arial"/>
                <a:cs typeface="Arial"/>
              </a:rPr>
              <a:t>information on all</a:t>
            </a:r>
            <a:r>
              <a:rPr sz="1300" i="1" spc="5" dirty="0">
                <a:solidFill>
                  <a:srgbClr val="E6F0FF"/>
                </a:solidFill>
                <a:latin typeface="Arial"/>
                <a:cs typeface="Arial"/>
              </a:rPr>
              <a:t> </a:t>
            </a:r>
            <a:r>
              <a:rPr sz="1300" i="1" dirty="0">
                <a:solidFill>
                  <a:srgbClr val="E6F0FF"/>
                </a:solidFill>
                <a:latin typeface="Arial"/>
                <a:cs typeface="Arial"/>
              </a:rPr>
              <a:t>credited mitigation</a:t>
            </a:r>
            <a:r>
              <a:rPr sz="1300" i="1" spc="5" dirty="0">
                <a:solidFill>
                  <a:srgbClr val="E6F0FF"/>
                </a:solidFill>
                <a:latin typeface="Arial"/>
                <a:cs typeface="Arial"/>
              </a:rPr>
              <a:t> </a:t>
            </a:r>
            <a:r>
              <a:rPr sz="1300" i="1" dirty="0">
                <a:solidFill>
                  <a:srgbClr val="E6F0FF"/>
                </a:solidFill>
                <a:latin typeface="Arial"/>
                <a:cs typeface="Arial"/>
              </a:rPr>
              <a:t>activities ...</a:t>
            </a:r>
            <a:r>
              <a:rPr sz="1300" i="1" spc="5" dirty="0">
                <a:solidFill>
                  <a:srgbClr val="E6F0FF"/>
                </a:solidFill>
                <a:latin typeface="Arial"/>
                <a:cs typeface="Arial"/>
              </a:rPr>
              <a:t> </a:t>
            </a:r>
            <a:r>
              <a:rPr sz="1300" i="1" dirty="0">
                <a:solidFill>
                  <a:srgbClr val="E6F0FF"/>
                </a:solidFill>
                <a:latin typeface="Arial"/>
                <a:cs typeface="Arial"/>
              </a:rPr>
              <a:t>accessible </a:t>
            </a:r>
            <a:r>
              <a:rPr sz="1300" i="1" spc="-25" dirty="0">
                <a:solidFill>
                  <a:srgbClr val="E6F0FF"/>
                </a:solidFill>
                <a:latin typeface="Arial"/>
                <a:cs typeface="Arial"/>
              </a:rPr>
              <a:t>to</a:t>
            </a:r>
            <a:endParaRPr sz="130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100"/>
              </a:spcBef>
            </a:pPr>
            <a:r>
              <a:rPr sz="1300" i="1" dirty="0">
                <a:solidFill>
                  <a:srgbClr val="E6F0FF"/>
                </a:solidFill>
                <a:latin typeface="Arial"/>
                <a:cs typeface="Arial"/>
              </a:rPr>
              <a:t>non-specialised audiences, to</a:t>
            </a:r>
            <a:r>
              <a:rPr sz="1300" i="1" spc="5" dirty="0">
                <a:solidFill>
                  <a:srgbClr val="E6F0FF"/>
                </a:solidFill>
                <a:latin typeface="Arial"/>
                <a:cs typeface="Arial"/>
              </a:rPr>
              <a:t> </a:t>
            </a:r>
            <a:r>
              <a:rPr sz="1300" i="1" dirty="0">
                <a:solidFill>
                  <a:srgbClr val="E6F0FF"/>
                </a:solidFill>
                <a:latin typeface="Arial"/>
                <a:cs typeface="Arial"/>
              </a:rPr>
              <a:t>enable scrutiny</a:t>
            </a:r>
            <a:r>
              <a:rPr sz="1300" i="1" spc="5" dirty="0">
                <a:solidFill>
                  <a:srgbClr val="E6F0FF"/>
                </a:solidFill>
                <a:latin typeface="Arial"/>
                <a:cs typeface="Arial"/>
              </a:rPr>
              <a:t> </a:t>
            </a:r>
            <a:r>
              <a:rPr sz="1300" i="1" dirty="0">
                <a:solidFill>
                  <a:srgbClr val="E6F0FF"/>
                </a:solidFill>
                <a:latin typeface="Arial"/>
                <a:cs typeface="Arial"/>
              </a:rPr>
              <a:t>of mitigation</a:t>
            </a:r>
            <a:r>
              <a:rPr sz="1300" i="1" spc="5" dirty="0">
                <a:solidFill>
                  <a:srgbClr val="E6F0FF"/>
                </a:solidFill>
                <a:latin typeface="Arial"/>
                <a:cs typeface="Arial"/>
              </a:rPr>
              <a:t> </a:t>
            </a:r>
            <a:r>
              <a:rPr sz="1300" i="1" spc="-10" dirty="0">
                <a:solidFill>
                  <a:srgbClr val="E6F0FF"/>
                </a:solidFill>
                <a:latin typeface="Arial"/>
                <a:cs typeface="Arial"/>
              </a:rPr>
              <a:t>activities.</a:t>
            </a:r>
            <a:endParaRPr sz="13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43600" y="2137165"/>
            <a:ext cx="16510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-50" dirty="0">
                <a:solidFill>
                  <a:srgbClr val="00D4AA"/>
                </a:solidFill>
                <a:latin typeface="Arial"/>
                <a:cs typeface="Arial"/>
              </a:rPr>
              <a:t>”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0900" y="2454665"/>
            <a:ext cx="471170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8791AF"/>
                </a:solidFill>
                <a:latin typeface="Arial MT"/>
                <a:cs typeface="Arial MT"/>
              </a:rPr>
              <a:t>ICVCM</a:t>
            </a:r>
            <a:r>
              <a:rPr sz="1100" spc="-2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8791AF"/>
                </a:solidFill>
                <a:latin typeface="Arial MT"/>
                <a:cs typeface="Arial MT"/>
              </a:rPr>
              <a:t>Core</a:t>
            </a:r>
            <a:r>
              <a:rPr sz="1100" spc="-2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8791AF"/>
                </a:solidFill>
                <a:latin typeface="Arial MT"/>
                <a:cs typeface="Arial MT"/>
              </a:rPr>
              <a:t>Carbon</a:t>
            </a:r>
            <a:r>
              <a:rPr sz="1100" spc="-2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8791AF"/>
                </a:solidFill>
                <a:latin typeface="Arial MT"/>
                <a:cs typeface="Arial MT"/>
              </a:rPr>
              <a:t>Principles</a:t>
            </a:r>
            <a:r>
              <a:rPr sz="1100" spc="-2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8791AF"/>
                </a:solidFill>
                <a:latin typeface="Arial MT"/>
                <a:cs typeface="Arial MT"/>
              </a:rPr>
              <a:t>—</a:t>
            </a:r>
            <a:r>
              <a:rPr sz="1100" spc="-2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8791AF"/>
                </a:solidFill>
                <a:latin typeface="Arial MT"/>
                <a:cs typeface="Arial MT"/>
              </a:rPr>
              <a:t>Transparency</a:t>
            </a:r>
            <a:r>
              <a:rPr sz="1100" spc="-2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8791AF"/>
                </a:solidFill>
                <a:latin typeface="Arial MT"/>
                <a:cs typeface="Arial MT"/>
              </a:rPr>
              <a:t>Principle</a:t>
            </a:r>
            <a:r>
              <a:rPr sz="1100" spc="-2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8791AF"/>
                </a:solidFill>
                <a:latin typeface="Arial MT"/>
                <a:cs typeface="Arial MT"/>
              </a:rPr>
              <a:t>(2024)</a:t>
            </a:r>
            <a:endParaRPr sz="1100" dirty="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57200" y="3886200"/>
            <a:ext cx="6858000" cy="0"/>
          </a:xfrm>
          <a:custGeom>
            <a:avLst/>
            <a:gdLst/>
            <a:ahLst/>
            <a:cxnLst/>
            <a:rect l="l" t="t" r="r" b="b"/>
            <a:pathLst>
              <a:path w="6858000">
                <a:moveTo>
                  <a:pt x="0" y="0"/>
                </a:moveTo>
                <a:lnTo>
                  <a:pt x="6858000" y="0"/>
                </a:lnTo>
              </a:path>
            </a:pathLst>
          </a:custGeom>
          <a:ln w="6350">
            <a:solidFill>
              <a:srgbClr val="1D3A5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683260" y="5064943"/>
            <a:ext cx="6858000" cy="508000"/>
            <a:chOff x="457200" y="4013200"/>
            <a:chExt cx="6858000" cy="508000"/>
          </a:xfrm>
        </p:grpSpPr>
        <p:sp>
          <p:nvSpPr>
            <p:cNvPr id="11" name="object 11"/>
            <p:cNvSpPr/>
            <p:nvPr/>
          </p:nvSpPr>
          <p:spPr>
            <a:xfrm>
              <a:off x="457200" y="4013200"/>
              <a:ext cx="6858000" cy="508000"/>
            </a:xfrm>
            <a:custGeom>
              <a:avLst/>
              <a:gdLst/>
              <a:ahLst/>
              <a:cxnLst/>
              <a:rect l="l" t="t" r="r" b="b"/>
              <a:pathLst>
                <a:path w="6858000" h="508000">
                  <a:moveTo>
                    <a:pt x="6756400" y="0"/>
                  </a:moveTo>
                  <a:lnTo>
                    <a:pt x="101600" y="0"/>
                  </a:lnTo>
                  <a:lnTo>
                    <a:pt x="62030" y="7976"/>
                  </a:lnTo>
                  <a:lnTo>
                    <a:pt x="29738" y="29738"/>
                  </a:lnTo>
                  <a:lnTo>
                    <a:pt x="7976" y="62030"/>
                  </a:lnTo>
                  <a:lnTo>
                    <a:pt x="0" y="101600"/>
                  </a:lnTo>
                  <a:lnTo>
                    <a:pt x="0" y="406400"/>
                  </a:lnTo>
                  <a:lnTo>
                    <a:pt x="7976" y="445969"/>
                  </a:lnTo>
                  <a:lnTo>
                    <a:pt x="29738" y="478261"/>
                  </a:lnTo>
                  <a:lnTo>
                    <a:pt x="62030" y="500023"/>
                  </a:lnTo>
                  <a:lnTo>
                    <a:pt x="101600" y="508000"/>
                  </a:lnTo>
                  <a:lnTo>
                    <a:pt x="6756400" y="508000"/>
                  </a:lnTo>
                  <a:lnTo>
                    <a:pt x="6795969" y="500023"/>
                  </a:lnTo>
                  <a:lnTo>
                    <a:pt x="6828261" y="478261"/>
                  </a:lnTo>
                  <a:lnTo>
                    <a:pt x="6850023" y="445969"/>
                  </a:lnTo>
                  <a:lnTo>
                    <a:pt x="6858000" y="406400"/>
                  </a:lnTo>
                  <a:lnTo>
                    <a:pt x="6858000" y="101600"/>
                  </a:lnTo>
                  <a:lnTo>
                    <a:pt x="6850023" y="62030"/>
                  </a:lnTo>
                  <a:lnTo>
                    <a:pt x="6828261" y="29738"/>
                  </a:lnTo>
                  <a:lnTo>
                    <a:pt x="6795969" y="7976"/>
                  </a:lnTo>
                  <a:lnTo>
                    <a:pt x="6756400" y="0"/>
                  </a:lnTo>
                  <a:close/>
                </a:path>
              </a:pathLst>
            </a:custGeom>
            <a:solidFill>
              <a:srgbClr val="0C2A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7200" y="4013200"/>
              <a:ext cx="50800" cy="508000"/>
            </a:xfrm>
            <a:custGeom>
              <a:avLst/>
              <a:gdLst/>
              <a:ahLst/>
              <a:cxnLst/>
              <a:rect l="l" t="t" r="r" b="b"/>
              <a:pathLst>
                <a:path w="50800" h="508000">
                  <a:moveTo>
                    <a:pt x="50800" y="0"/>
                  </a:moveTo>
                  <a:lnTo>
                    <a:pt x="0" y="0"/>
                  </a:lnTo>
                  <a:lnTo>
                    <a:pt x="0" y="508000"/>
                  </a:lnTo>
                  <a:lnTo>
                    <a:pt x="50800" y="508000"/>
                  </a:lnTo>
                  <a:lnTo>
                    <a:pt x="50800" y="0"/>
                  </a:lnTo>
                  <a:close/>
                </a:path>
              </a:pathLst>
            </a:custGeom>
            <a:solidFill>
              <a:srgbClr val="00D4A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04850" y="3886200"/>
            <a:ext cx="5438140" cy="17061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35"/>
              </a:spcBef>
            </a:pPr>
            <a:endParaRPr sz="1100" dirty="0">
              <a:latin typeface="Arial MT"/>
              <a:cs typeface="Arial MT"/>
            </a:endParaRPr>
          </a:p>
          <a:p>
            <a:pPr marL="12700" marR="5080">
              <a:lnSpc>
                <a:spcPct val="113599"/>
              </a:lnSpc>
            </a:pP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Rating</a:t>
            </a:r>
            <a:r>
              <a:rPr sz="1200" spc="-2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agencies</a:t>
            </a:r>
            <a:r>
              <a:rPr sz="1200" spc="-2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like</a:t>
            </a:r>
            <a:r>
              <a:rPr sz="1200" spc="-2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Sylvera</a:t>
            </a:r>
            <a:r>
              <a:rPr sz="1200" spc="-2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and</a:t>
            </a:r>
            <a:r>
              <a:rPr sz="1200" spc="-2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MSCI</a:t>
            </a:r>
            <a:r>
              <a:rPr sz="1200" spc="-1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build</a:t>
            </a:r>
            <a:r>
              <a:rPr sz="1200" spc="-2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their</a:t>
            </a:r>
            <a:r>
              <a:rPr sz="1200" spc="-2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credit</a:t>
            </a:r>
            <a:r>
              <a:rPr sz="1200" spc="-2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8791AF"/>
                </a:solidFill>
                <a:latin typeface="Arial MT"/>
                <a:cs typeface="Arial MT"/>
              </a:rPr>
              <a:t>assessments</a:t>
            </a:r>
            <a:r>
              <a:rPr sz="1200" spc="50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on</a:t>
            </a:r>
            <a:r>
              <a:rPr sz="1200" spc="-1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structured</a:t>
            </a:r>
            <a:r>
              <a:rPr sz="1200" spc="-1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registry</a:t>
            </a:r>
            <a:r>
              <a:rPr sz="1200" spc="-1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data.</a:t>
            </a:r>
            <a:r>
              <a:rPr sz="1200" spc="-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Where</a:t>
            </a:r>
            <a:r>
              <a:rPr sz="1200" spc="-1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fields</a:t>
            </a:r>
            <a:r>
              <a:rPr sz="1200" spc="-1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are</a:t>
            </a:r>
            <a:r>
              <a:rPr sz="1200" spc="-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missing</a:t>
            </a:r>
            <a:r>
              <a:rPr sz="1200" spc="-1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or</a:t>
            </a:r>
            <a:r>
              <a:rPr sz="1200" spc="-10" dirty="0">
                <a:solidFill>
                  <a:srgbClr val="8791AF"/>
                </a:solidFill>
                <a:latin typeface="Arial MT"/>
                <a:cs typeface="Arial MT"/>
              </a:rPr>
              <a:t> inconsistent,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assessment</a:t>
            </a:r>
            <a:r>
              <a:rPr sz="1200" spc="-1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becomes</a:t>
            </a:r>
            <a:r>
              <a:rPr sz="1200" spc="-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difficult</a:t>
            </a:r>
            <a:r>
              <a:rPr sz="1200" spc="-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—</a:t>
            </a:r>
            <a:r>
              <a:rPr sz="1200" spc="-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and</a:t>
            </a:r>
            <a:r>
              <a:rPr sz="1200" spc="-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so</a:t>
            </a:r>
            <a:r>
              <a:rPr sz="1200" spc="-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does</a:t>
            </a:r>
            <a:r>
              <a:rPr sz="1200" spc="-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informed</a:t>
            </a:r>
            <a:r>
              <a:rPr sz="1200" spc="-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8791AF"/>
                </a:solidFill>
                <a:latin typeface="Arial MT"/>
                <a:cs typeface="Arial MT"/>
              </a:rPr>
              <a:t>decision-making</a:t>
            </a:r>
            <a:r>
              <a:rPr sz="1100" spc="-10" dirty="0">
                <a:solidFill>
                  <a:srgbClr val="8791AF"/>
                </a:solidFill>
                <a:latin typeface="Arial MT"/>
                <a:cs typeface="Arial MT"/>
              </a:rPr>
              <a:t>.</a:t>
            </a:r>
            <a:endParaRPr sz="11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15"/>
              </a:spcBef>
            </a:pPr>
            <a:endParaRPr sz="1200" dirty="0">
              <a:latin typeface="Arial MT"/>
              <a:cs typeface="Arial MT"/>
            </a:endParaRPr>
          </a:p>
          <a:p>
            <a:pPr marL="190500">
              <a:lnSpc>
                <a:spcPct val="100000"/>
              </a:lnSpc>
            </a:pPr>
            <a:r>
              <a:rPr sz="1200" b="1" dirty="0">
                <a:solidFill>
                  <a:srgbClr val="E6F0FF"/>
                </a:solidFill>
                <a:latin typeface="Arial"/>
                <a:cs typeface="Arial"/>
              </a:rPr>
              <a:t>About</a:t>
            </a:r>
            <a:r>
              <a:rPr sz="1200" b="1" spc="-15" dirty="0">
                <a:solidFill>
                  <a:srgbClr val="E6F0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E6F0FF"/>
                </a:solidFill>
                <a:latin typeface="Arial"/>
                <a:cs typeface="Arial"/>
              </a:rPr>
              <a:t>this</a:t>
            </a:r>
            <a:r>
              <a:rPr sz="1200" b="1" spc="-15" dirty="0">
                <a:solidFill>
                  <a:srgbClr val="E6F0FF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E6F0FF"/>
                </a:solidFill>
                <a:latin typeface="Arial"/>
                <a:cs typeface="Arial"/>
              </a:rPr>
              <a:t>analysis:</a:t>
            </a:r>
            <a:endParaRPr sz="1200" dirty="0">
              <a:latin typeface="Arial"/>
              <a:cs typeface="Arial"/>
            </a:endParaRPr>
          </a:p>
          <a:p>
            <a:pPr marL="190500" marR="71120">
              <a:lnSpc>
                <a:spcPct val="100000"/>
              </a:lnSpc>
              <a:spcBef>
                <a:spcPts val="200"/>
              </a:spcBef>
            </a:pP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Applies data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quality lenses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to publicly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available Verra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VCS registry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8791AF"/>
                </a:solidFill>
                <a:latin typeface="Arial MT"/>
                <a:cs typeface="Arial MT"/>
              </a:rPr>
              <a:t>records,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focusing on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completeness,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consistency,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and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structural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patterns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in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the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8791AF"/>
                </a:solidFill>
                <a:latin typeface="Arial MT"/>
                <a:cs typeface="Arial MT"/>
              </a:rPr>
              <a:t>data.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0" y="7620000"/>
            <a:ext cx="7772400" cy="50800"/>
          </a:xfrm>
          <a:custGeom>
            <a:avLst/>
            <a:gdLst/>
            <a:ahLst/>
            <a:cxnLst/>
            <a:rect l="l" t="t" r="r" b="b"/>
            <a:pathLst>
              <a:path w="7772400" h="50800">
                <a:moveTo>
                  <a:pt x="7772400" y="0"/>
                </a:moveTo>
                <a:lnTo>
                  <a:pt x="0" y="0"/>
                </a:lnTo>
                <a:lnTo>
                  <a:pt x="0" y="50800"/>
                </a:lnTo>
                <a:lnTo>
                  <a:pt x="7772400" y="50800"/>
                </a:lnTo>
                <a:lnTo>
                  <a:pt x="7772400" y="0"/>
                </a:lnTo>
                <a:close/>
              </a:path>
            </a:pathLst>
          </a:custGeom>
          <a:solidFill>
            <a:srgbClr val="00D4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/>
              <a:t>2</a:t>
            </a:fld>
            <a:r>
              <a:rPr dirty="0"/>
              <a:t> / </a:t>
            </a:r>
            <a:r>
              <a:rPr spc="-25" dirty="0"/>
              <a:t>10</a:t>
            </a:r>
          </a:p>
        </p:txBody>
      </p:sp>
      <p:sp>
        <p:nvSpPr>
          <p:cNvPr id="18" name="object 6">
            <a:extLst>
              <a:ext uri="{FF2B5EF4-FFF2-40B4-BE49-F238E27FC236}">
                <a16:creationId xmlns:a16="http://schemas.microsoft.com/office/drawing/2014/main" id="{4C202F40-680E-B016-36A5-2F533B06A4D0}"/>
              </a:ext>
            </a:extLst>
          </p:cNvPr>
          <p:cNvSpPr txBox="1"/>
          <p:nvPr/>
        </p:nvSpPr>
        <p:spPr>
          <a:xfrm>
            <a:off x="683260" y="2960414"/>
            <a:ext cx="5869940" cy="870046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292735">
              <a:lnSpc>
                <a:spcPct val="113599"/>
              </a:lnSpc>
              <a:spcBef>
                <a:spcPts val="100"/>
              </a:spcBef>
            </a:pPr>
            <a:r>
              <a:rPr lang="en-US" sz="1200" dirty="0">
                <a:solidFill>
                  <a:srgbClr val="E6F0FF"/>
                </a:solidFill>
                <a:latin typeface="Arial MT"/>
                <a:cs typeface="Arial MT"/>
              </a:rPr>
              <a:t>The</a:t>
            </a:r>
            <a:r>
              <a:rPr lang="en-US" sz="1200" spc="-20" dirty="0">
                <a:solidFill>
                  <a:srgbClr val="E6F0FF"/>
                </a:solidFill>
                <a:latin typeface="Arial MT"/>
                <a:cs typeface="Arial MT"/>
              </a:rPr>
              <a:t> </a:t>
            </a:r>
            <a:r>
              <a:rPr lang="en-US" sz="1200" dirty="0">
                <a:solidFill>
                  <a:srgbClr val="E6F0FF"/>
                </a:solidFill>
                <a:latin typeface="Arial MT"/>
                <a:cs typeface="Arial MT"/>
              </a:rPr>
              <a:t>Integrity</a:t>
            </a:r>
            <a:r>
              <a:rPr lang="en-US" sz="1200" spc="-15" dirty="0">
                <a:solidFill>
                  <a:srgbClr val="E6F0FF"/>
                </a:solidFill>
                <a:latin typeface="Arial MT"/>
                <a:cs typeface="Arial MT"/>
              </a:rPr>
              <a:t> </a:t>
            </a:r>
            <a:r>
              <a:rPr lang="en-US" sz="1200" dirty="0">
                <a:solidFill>
                  <a:srgbClr val="E6F0FF"/>
                </a:solidFill>
                <a:latin typeface="Arial MT"/>
                <a:cs typeface="Arial MT"/>
              </a:rPr>
              <a:t>Council</a:t>
            </a:r>
            <a:r>
              <a:rPr lang="en-US" sz="1200" spc="-15" dirty="0">
                <a:solidFill>
                  <a:srgbClr val="E6F0FF"/>
                </a:solidFill>
                <a:latin typeface="Arial MT"/>
                <a:cs typeface="Arial MT"/>
              </a:rPr>
              <a:t> </a:t>
            </a:r>
            <a:r>
              <a:rPr lang="en-US" sz="1200" dirty="0">
                <a:solidFill>
                  <a:srgbClr val="E6F0FF"/>
                </a:solidFill>
                <a:latin typeface="Arial MT"/>
                <a:cs typeface="Arial MT"/>
              </a:rPr>
              <a:t>for</a:t>
            </a:r>
            <a:r>
              <a:rPr lang="en-US" sz="1200" spc="-15" dirty="0">
                <a:solidFill>
                  <a:srgbClr val="E6F0FF"/>
                </a:solidFill>
                <a:latin typeface="Arial MT"/>
                <a:cs typeface="Arial MT"/>
              </a:rPr>
              <a:t> </a:t>
            </a:r>
            <a:r>
              <a:rPr lang="en-US" sz="1200" dirty="0">
                <a:solidFill>
                  <a:srgbClr val="E6F0FF"/>
                </a:solidFill>
                <a:latin typeface="Arial MT"/>
                <a:cs typeface="Arial MT"/>
              </a:rPr>
              <a:t>the</a:t>
            </a:r>
            <a:r>
              <a:rPr lang="en-US" sz="1200" spc="-15" dirty="0">
                <a:solidFill>
                  <a:srgbClr val="E6F0FF"/>
                </a:solidFill>
                <a:latin typeface="Arial MT"/>
                <a:cs typeface="Arial MT"/>
              </a:rPr>
              <a:t> </a:t>
            </a:r>
            <a:r>
              <a:rPr lang="en-US" sz="1200" dirty="0">
                <a:solidFill>
                  <a:srgbClr val="E6F0FF"/>
                </a:solidFill>
                <a:latin typeface="Arial MT"/>
                <a:cs typeface="Arial MT"/>
              </a:rPr>
              <a:t>Voluntary</a:t>
            </a:r>
            <a:r>
              <a:rPr lang="en-US" sz="1200" spc="-15" dirty="0">
                <a:solidFill>
                  <a:srgbClr val="E6F0FF"/>
                </a:solidFill>
                <a:latin typeface="Arial MT"/>
                <a:cs typeface="Arial MT"/>
              </a:rPr>
              <a:t> </a:t>
            </a:r>
            <a:r>
              <a:rPr lang="en-US" sz="1200" dirty="0">
                <a:solidFill>
                  <a:srgbClr val="E6F0FF"/>
                </a:solidFill>
                <a:latin typeface="Arial MT"/>
                <a:cs typeface="Arial MT"/>
              </a:rPr>
              <a:t>Carbon</a:t>
            </a:r>
            <a:r>
              <a:rPr lang="en-US" sz="1200" spc="-15" dirty="0">
                <a:solidFill>
                  <a:srgbClr val="E6F0FF"/>
                </a:solidFill>
                <a:latin typeface="Arial MT"/>
                <a:cs typeface="Arial MT"/>
              </a:rPr>
              <a:t> </a:t>
            </a:r>
            <a:r>
              <a:rPr lang="en-US" sz="1200" dirty="0">
                <a:solidFill>
                  <a:srgbClr val="E6F0FF"/>
                </a:solidFill>
                <a:latin typeface="Arial MT"/>
                <a:cs typeface="Arial MT"/>
              </a:rPr>
              <a:t>Market</a:t>
            </a:r>
            <a:r>
              <a:rPr lang="en-US" sz="1200" spc="-15" dirty="0">
                <a:solidFill>
                  <a:srgbClr val="E6F0FF"/>
                </a:solidFill>
                <a:latin typeface="Arial MT"/>
                <a:cs typeface="Arial MT"/>
              </a:rPr>
              <a:t> </a:t>
            </a:r>
            <a:r>
              <a:rPr lang="en-US" sz="1200" dirty="0">
                <a:solidFill>
                  <a:srgbClr val="E6F0FF"/>
                </a:solidFill>
                <a:latin typeface="Arial MT"/>
                <a:cs typeface="Arial MT"/>
              </a:rPr>
              <a:t>(ICVCM)</a:t>
            </a:r>
            <a:r>
              <a:rPr lang="en-US" sz="1200" spc="-15" dirty="0">
                <a:solidFill>
                  <a:srgbClr val="E6F0FF"/>
                </a:solidFill>
                <a:latin typeface="Arial MT"/>
                <a:cs typeface="Arial MT"/>
              </a:rPr>
              <a:t> </a:t>
            </a:r>
            <a:r>
              <a:rPr lang="en-US" sz="1200" spc="-20" dirty="0">
                <a:solidFill>
                  <a:srgbClr val="E6F0FF"/>
                </a:solidFill>
                <a:latin typeface="Arial MT"/>
                <a:cs typeface="Arial MT"/>
              </a:rPr>
              <a:t>sets </a:t>
            </a:r>
            <a:r>
              <a:rPr lang="en-US" sz="1200" dirty="0">
                <a:solidFill>
                  <a:srgbClr val="E6F0FF"/>
                </a:solidFill>
                <a:latin typeface="Arial MT"/>
                <a:cs typeface="Arial MT"/>
              </a:rPr>
              <a:t>the</a:t>
            </a:r>
            <a:r>
              <a:rPr lang="en-US" sz="1200" spc="-10" dirty="0">
                <a:solidFill>
                  <a:srgbClr val="E6F0FF"/>
                </a:solidFill>
                <a:latin typeface="Arial MT"/>
                <a:cs typeface="Arial MT"/>
              </a:rPr>
              <a:t> </a:t>
            </a:r>
            <a:r>
              <a:rPr lang="en-US" sz="1200" dirty="0">
                <a:solidFill>
                  <a:srgbClr val="E6F0FF"/>
                </a:solidFill>
                <a:latin typeface="Arial MT"/>
                <a:cs typeface="Arial MT"/>
              </a:rPr>
              <a:t>global</a:t>
            </a:r>
            <a:r>
              <a:rPr lang="en-US" sz="1200" spc="-10" dirty="0">
                <a:solidFill>
                  <a:srgbClr val="E6F0FF"/>
                </a:solidFill>
                <a:latin typeface="Arial MT"/>
                <a:cs typeface="Arial MT"/>
              </a:rPr>
              <a:t> </a:t>
            </a:r>
            <a:r>
              <a:rPr lang="en-US" sz="1200" dirty="0">
                <a:solidFill>
                  <a:srgbClr val="E6F0FF"/>
                </a:solidFill>
                <a:latin typeface="Arial MT"/>
                <a:cs typeface="Arial MT"/>
              </a:rPr>
              <a:t>benchmark</a:t>
            </a:r>
            <a:r>
              <a:rPr lang="en-US" sz="1200" spc="-5" dirty="0">
                <a:solidFill>
                  <a:srgbClr val="E6F0FF"/>
                </a:solidFill>
                <a:latin typeface="Arial MT"/>
                <a:cs typeface="Arial MT"/>
              </a:rPr>
              <a:t> </a:t>
            </a:r>
            <a:r>
              <a:rPr lang="en-US" sz="1200" dirty="0">
                <a:solidFill>
                  <a:srgbClr val="E6F0FF"/>
                </a:solidFill>
                <a:latin typeface="Arial MT"/>
                <a:cs typeface="Arial MT"/>
              </a:rPr>
              <a:t>for</a:t>
            </a:r>
            <a:r>
              <a:rPr lang="en-US" sz="1200" spc="-10" dirty="0">
                <a:solidFill>
                  <a:srgbClr val="E6F0FF"/>
                </a:solidFill>
                <a:latin typeface="Arial MT"/>
                <a:cs typeface="Arial MT"/>
              </a:rPr>
              <a:t> high-</a:t>
            </a:r>
            <a:r>
              <a:rPr lang="en-US" sz="1200" dirty="0">
                <a:solidFill>
                  <a:srgbClr val="E6F0FF"/>
                </a:solidFill>
                <a:latin typeface="Arial MT"/>
                <a:cs typeface="Arial MT"/>
              </a:rPr>
              <a:t>quality</a:t>
            </a:r>
            <a:r>
              <a:rPr lang="en-US" sz="1200" spc="-5" dirty="0">
                <a:solidFill>
                  <a:srgbClr val="E6F0FF"/>
                </a:solidFill>
                <a:latin typeface="Arial MT"/>
                <a:cs typeface="Arial MT"/>
              </a:rPr>
              <a:t> </a:t>
            </a:r>
            <a:r>
              <a:rPr lang="en-US" sz="1200" dirty="0">
                <a:solidFill>
                  <a:srgbClr val="E6F0FF"/>
                </a:solidFill>
                <a:latin typeface="Arial MT"/>
                <a:cs typeface="Arial MT"/>
              </a:rPr>
              <a:t>carbon</a:t>
            </a:r>
            <a:r>
              <a:rPr lang="en-US" sz="1200" spc="-10" dirty="0">
                <a:solidFill>
                  <a:srgbClr val="E6F0FF"/>
                </a:solidFill>
                <a:latin typeface="Arial MT"/>
                <a:cs typeface="Arial MT"/>
              </a:rPr>
              <a:t> </a:t>
            </a:r>
            <a:r>
              <a:rPr lang="en-US" sz="1200" dirty="0">
                <a:solidFill>
                  <a:srgbClr val="E6F0FF"/>
                </a:solidFill>
                <a:latin typeface="Arial MT"/>
                <a:cs typeface="Arial MT"/>
              </a:rPr>
              <a:t>credits.</a:t>
            </a:r>
            <a:r>
              <a:rPr lang="en-US" sz="1200" spc="-10" dirty="0">
                <a:solidFill>
                  <a:srgbClr val="E6F0FF"/>
                </a:solidFill>
                <a:latin typeface="Arial MT"/>
                <a:cs typeface="Arial MT"/>
              </a:rPr>
              <a:t> </a:t>
            </a:r>
            <a:r>
              <a:rPr lang="en-US" sz="1200" dirty="0">
                <a:solidFill>
                  <a:srgbClr val="E6F0FF"/>
                </a:solidFill>
                <a:latin typeface="Arial MT"/>
                <a:cs typeface="Arial MT"/>
              </a:rPr>
              <a:t>Central</a:t>
            </a:r>
            <a:r>
              <a:rPr lang="en-US" sz="1200" spc="-5" dirty="0">
                <a:solidFill>
                  <a:srgbClr val="E6F0FF"/>
                </a:solidFill>
                <a:latin typeface="Arial MT"/>
                <a:cs typeface="Arial MT"/>
              </a:rPr>
              <a:t> </a:t>
            </a:r>
            <a:r>
              <a:rPr lang="en-US" sz="1200" dirty="0">
                <a:solidFill>
                  <a:srgbClr val="E6F0FF"/>
                </a:solidFill>
                <a:latin typeface="Arial MT"/>
                <a:cs typeface="Arial MT"/>
              </a:rPr>
              <a:t>to</a:t>
            </a:r>
            <a:r>
              <a:rPr lang="en-US" sz="1200" spc="-10" dirty="0">
                <a:solidFill>
                  <a:srgbClr val="E6F0FF"/>
                </a:solidFill>
                <a:latin typeface="Arial MT"/>
                <a:cs typeface="Arial MT"/>
              </a:rPr>
              <a:t> </a:t>
            </a:r>
            <a:r>
              <a:rPr lang="en-US" sz="1200" spc="-25" dirty="0">
                <a:solidFill>
                  <a:srgbClr val="E6F0FF"/>
                </a:solidFill>
                <a:latin typeface="Arial MT"/>
                <a:cs typeface="Arial MT"/>
              </a:rPr>
              <a:t>its </a:t>
            </a:r>
            <a:r>
              <a:rPr lang="en-US" sz="1200" dirty="0">
                <a:solidFill>
                  <a:srgbClr val="E6F0FF"/>
                </a:solidFill>
                <a:latin typeface="Arial MT"/>
                <a:cs typeface="Arial MT"/>
              </a:rPr>
              <a:t>framework</a:t>
            </a:r>
            <a:r>
              <a:rPr lang="en-US" sz="1200" spc="-10" dirty="0">
                <a:solidFill>
                  <a:srgbClr val="E6F0FF"/>
                </a:solidFill>
                <a:latin typeface="Arial MT"/>
                <a:cs typeface="Arial MT"/>
              </a:rPr>
              <a:t> </a:t>
            </a:r>
            <a:r>
              <a:rPr lang="en-US" sz="1200" dirty="0">
                <a:solidFill>
                  <a:srgbClr val="E6F0FF"/>
                </a:solidFill>
                <a:latin typeface="Arial MT"/>
                <a:cs typeface="Arial MT"/>
              </a:rPr>
              <a:t>is</a:t>
            </a:r>
            <a:r>
              <a:rPr lang="en-US" sz="1200" spc="-10" dirty="0">
                <a:solidFill>
                  <a:srgbClr val="E6F0FF"/>
                </a:solidFill>
                <a:latin typeface="Arial MT"/>
                <a:cs typeface="Arial MT"/>
              </a:rPr>
              <a:t> </a:t>
            </a:r>
            <a:r>
              <a:rPr lang="en-US" sz="1200" dirty="0">
                <a:solidFill>
                  <a:srgbClr val="E6F0FF"/>
                </a:solidFill>
                <a:latin typeface="Arial MT"/>
                <a:cs typeface="Arial MT"/>
              </a:rPr>
              <a:t>a</a:t>
            </a:r>
            <a:r>
              <a:rPr lang="en-US" sz="1200" spc="-5" dirty="0">
                <a:solidFill>
                  <a:srgbClr val="E6F0FF"/>
                </a:solidFill>
                <a:latin typeface="Arial MT"/>
                <a:cs typeface="Arial MT"/>
              </a:rPr>
              <a:t> </a:t>
            </a:r>
            <a:r>
              <a:rPr lang="en-US" sz="1200" dirty="0">
                <a:solidFill>
                  <a:srgbClr val="E6F0FF"/>
                </a:solidFill>
                <a:latin typeface="Arial MT"/>
                <a:cs typeface="Arial MT"/>
              </a:rPr>
              <a:t>Transparency</a:t>
            </a:r>
            <a:r>
              <a:rPr lang="en-US" sz="1200" spc="-10" dirty="0">
                <a:solidFill>
                  <a:srgbClr val="E6F0FF"/>
                </a:solidFill>
                <a:latin typeface="Arial MT"/>
                <a:cs typeface="Arial MT"/>
              </a:rPr>
              <a:t> </a:t>
            </a:r>
            <a:r>
              <a:rPr lang="en-US" sz="1200" dirty="0">
                <a:solidFill>
                  <a:srgbClr val="E6F0FF"/>
                </a:solidFill>
                <a:latin typeface="Arial MT"/>
                <a:cs typeface="Arial MT"/>
              </a:rPr>
              <a:t>Principle:</a:t>
            </a:r>
            <a:r>
              <a:rPr lang="en-US" sz="1200" spc="-5" dirty="0">
                <a:solidFill>
                  <a:srgbClr val="E6F0FF"/>
                </a:solidFill>
                <a:latin typeface="Arial MT"/>
                <a:cs typeface="Arial MT"/>
              </a:rPr>
              <a:t> </a:t>
            </a:r>
            <a:r>
              <a:rPr lang="en-US" sz="1200" dirty="0">
                <a:solidFill>
                  <a:srgbClr val="E6F0FF"/>
                </a:solidFill>
                <a:latin typeface="Arial MT"/>
                <a:cs typeface="Arial MT"/>
              </a:rPr>
              <a:t>project</a:t>
            </a:r>
            <a:r>
              <a:rPr lang="en-US" sz="1200" spc="-10" dirty="0">
                <a:solidFill>
                  <a:srgbClr val="E6F0FF"/>
                </a:solidFill>
                <a:latin typeface="Arial MT"/>
                <a:cs typeface="Arial MT"/>
              </a:rPr>
              <a:t> </a:t>
            </a:r>
            <a:r>
              <a:rPr lang="en-US" sz="1200" dirty="0">
                <a:solidFill>
                  <a:srgbClr val="E6F0FF"/>
                </a:solidFill>
                <a:latin typeface="Arial MT"/>
                <a:cs typeface="Arial MT"/>
              </a:rPr>
              <a:t>data</a:t>
            </a:r>
            <a:r>
              <a:rPr lang="en-US" sz="1200" spc="-10" dirty="0">
                <a:solidFill>
                  <a:srgbClr val="E6F0FF"/>
                </a:solidFill>
                <a:latin typeface="Arial MT"/>
                <a:cs typeface="Arial MT"/>
              </a:rPr>
              <a:t> </a:t>
            </a:r>
            <a:r>
              <a:rPr lang="en-US" sz="1200" dirty="0">
                <a:solidFill>
                  <a:srgbClr val="E6F0FF"/>
                </a:solidFill>
                <a:latin typeface="Arial MT"/>
                <a:cs typeface="Arial MT"/>
              </a:rPr>
              <a:t>must</a:t>
            </a:r>
            <a:r>
              <a:rPr lang="en-US" sz="1200" spc="-5" dirty="0">
                <a:solidFill>
                  <a:srgbClr val="E6F0FF"/>
                </a:solidFill>
                <a:latin typeface="Arial MT"/>
                <a:cs typeface="Arial MT"/>
              </a:rPr>
              <a:t> </a:t>
            </a:r>
            <a:r>
              <a:rPr lang="en-US" sz="1200" dirty="0">
                <a:solidFill>
                  <a:srgbClr val="E6F0FF"/>
                </a:solidFill>
                <a:latin typeface="Arial MT"/>
                <a:cs typeface="Arial MT"/>
              </a:rPr>
              <a:t>be</a:t>
            </a:r>
            <a:r>
              <a:rPr lang="en-US" sz="1200" spc="-10" dirty="0">
                <a:solidFill>
                  <a:srgbClr val="E6F0FF"/>
                </a:solidFill>
                <a:latin typeface="Arial MT"/>
                <a:cs typeface="Arial MT"/>
              </a:rPr>
              <a:t> public, </a:t>
            </a:r>
            <a:r>
              <a:rPr lang="en-US" sz="1200" dirty="0">
                <a:solidFill>
                  <a:srgbClr val="E6F0FF"/>
                </a:solidFill>
                <a:latin typeface="Arial MT"/>
                <a:cs typeface="Arial MT"/>
              </a:rPr>
              <a:t>structured,</a:t>
            </a:r>
            <a:r>
              <a:rPr lang="en-US" sz="1200" spc="-30" dirty="0">
                <a:solidFill>
                  <a:srgbClr val="E6F0FF"/>
                </a:solidFill>
                <a:latin typeface="Arial MT"/>
                <a:cs typeface="Arial MT"/>
              </a:rPr>
              <a:t> </a:t>
            </a:r>
            <a:r>
              <a:rPr lang="en-US" sz="1200" dirty="0">
                <a:solidFill>
                  <a:srgbClr val="E6F0FF"/>
                </a:solidFill>
                <a:latin typeface="Arial MT"/>
                <a:cs typeface="Arial MT"/>
              </a:rPr>
              <a:t>and</a:t>
            </a:r>
            <a:r>
              <a:rPr lang="en-US" sz="1200" spc="-25" dirty="0">
                <a:solidFill>
                  <a:srgbClr val="E6F0FF"/>
                </a:solidFill>
                <a:latin typeface="Arial MT"/>
                <a:cs typeface="Arial MT"/>
              </a:rPr>
              <a:t> </a:t>
            </a:r>
            <a:r>
              <a:rPr lang="en-US" sz="1200" dirty="0">
                <a:solidFill>
                  <a:srgbClr val="E6F0FF"/>
                </a:solidFill>
                <a:latin typeface="Arial MT"/>
                <a:cs typeface="Arial MT"/>
              </a:rPr>
              <a:t>auditable</a:t>
            </a:r>
            <a:r>
              <a:rPr lang="en-US" sz="1200" spc="-30" dirty="0">
                <a:solidFill>
                  <a:srgbClr val="E6F0FF"/>
                </a:solidFill>
                <a:latin typeface="Arial MT"/>
                <a:cs typeface="Arial MT"/>
              </a:rPr>
              <a:t> </a:t>
            </a:r>
            <a:r>
              <a:rPr lang="en-US" sz="1200" dirty="0">
                <a:solidFill>
                  <a:srgbClr val="E6F0FF"/>
                </a:solidFill>
                <a:latin typeface="Arial MT"/>
                <a:cs typeface="Arial MT"/>
              </a:rPr>
              <a:t>by</a:t>
            </a:r>
            <a:r>
              <a:rPr lang="en-US" sz="1200" spc="-25" dirty="0">
                <a:solidFill>
                  <a:srgbClr val="E6F0FF"/>
                </a:solidFill>
                <a:latin typeface="Arial MT"/>
                <a:cs typeface="Arial MT"/>
              </a:rPr>
              <a:t> </a:t>
            </a:r>
            <a:r>
              <a:rPr lang="en-US" sz="1200" dirty="0">
                <a:solidFill>
                  <a:srgbClr val="E6F0FF"/>
                </a:solidFill>
                <a:latin typeface="Arial MT"/>
                <a:cs typeface="Arial MT"/>
              </a:rPr>
              <a:t>independent</a:t>
            </a:r>
            <a:r>
              <a:rPr lang="en-US" sz="1200" spc="-30" dirty="0">
                <a:solidFill>
                  <a:srgbClr val="E6F0FF"/>
                </a:solidFill>
                <a:latin typeface="Arial MT"/>
                <a:cs typeface="Arial MT"/>
              </a:rPr>
              <a:t> </a:t>
            </a:r>
            <a:r>
              <a:rPr lang="en-US" sz="1200" spc="-10" dirty="0">
                <a:solidFill>
                  <a:srgbClr val="E6F0FF"/>
                </a:solidFill>
                <a:latin typeface="Arial MT"/>
                <a:cs typeface="Arial MT"/>
              </a:rPr>
              <a:t>parties.</a:t>
            </a:r>
            <a:endParaRPr lang="en-US" sz="1200" dirty="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640710"/>
            <a:ext cx="16129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SCOPE &amp; </a:t>
            </a:r>
            <a:r>
              <a:rPr sz="1200" spc="-20" dirty="0">
                <a:solidFill>
                  <a:srgbClr val="8791AF"/>
                </a:solidFill>
                <a:latin typeface="Arial MT"/>
                <a:cs typeface="Arial MT"/>
              </a:rPr>
              <a:t>DATA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44500" y="1066800"/>
            <a:ext cx="5648960" cy="3911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D" sz="2400" dirty="0"/>
              <a:t>Four</a:t>
            </a:r>
            <a:r>
              <a:rPr lang="en-ID" sz="2400" spc="-65" dirty="0"/>
              <a:t> </a:t>
            </a:r>
            <a:r>
              <a:rPr lang="en-ID" sz="2400" dirty="0"/>
              <a:t>datasets.</a:t>
            </a:r>
            <a:r>
              <a:rPr lang="en-ID" sz="2400" spc="-60" dirty="0"/>
              <a:t> </a:t>
            </a:r>
            <a:r>
              <a:rPr lang="en-ID" sz="2400" dirty="0"/>
              <a:t>One</a:t>
            </a:r>
            <a:r>
              <a:rPr lang="en-ID" sz="2400" spc="-65" dirty="0"/>
              <a:t> </a:t>
            </a:r>
            <a:r>
              <a:rPr lang="en-ID" sz="2400" spc="-10" dirty="0"/>
              <a:t>registry.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57200" y="1524000"/>
            <a:ext cx="34886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8791AF"/>
                </a:solidFill>
                <a:latin typeface="Arial MT"/>
                <a:cs typeface="Arial MT"/>
              </a:rPr>
              <a:t>Verra</a:t>
            </a:r>
            <a:r>
              <a:rPr sz="1100" spc="-1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8791AF"/>
                </a:solidFill>
                <a:latin typeface="Arial MT"/>
                <a:cs typeface="Arial MT"/>
              </a:rPr>
              <a:t>VCS</a:t>
            </a:r>
            <a:r>
              <a:rPr sz="1100" spc="-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8791AF"/>
                </a:solidFill>
                <a:latin typeface="Arial MT"/>
                <a:cs typeface="Arial MT"/>
              </a:rPr>
              <a:t>·</a:t>
            </a:r>
            <a:r>
              <a:rPr sz="1100" spc="-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8791AF"/>
                </a:solidFill>
                <a:latin typeface="Arial MT"/>
                <a:cs typeface="Arial MT"/>
              </a:rPr>
              <a:t>Energy</a:t>
            </a:r>
            <a:r>
              <a:rPr sz="1100" spc="-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8791AF"/>
                </a:solidFill>
                <a:latin typeface="Arial MT"/>
                <a:cs typeface="Arial MT"/>
              </a:rPr>
              <a:t>Industry</a:t>
            </a:r>
            <a:r>
              <a:rPr sz="1100" spc="-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8791AF"/>
                </a:solidFill>
                <a:latin typeface="Arial MT"/>
                <a:cs typeface="Arial MT"/>
              </a:rPr>
              <a:t>·</a:t>
            </a:r>
            <a:r>
              <a:rPr sz="1100" spc="-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8791AF"/>
                </a:solidFill>
                <a:latin typeface="Arial MT"/>
                <a:cs typeface="Arial MT"/>
              </a:rPr>
              <a:t>Exported</a:t>
            </a:r>
            <a:r>
              <a:rPr sz="1100" spc="-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8791AF"/>
                </a:solidFill>
                <a:latin typeface="Arial MT"/>
                <a:cs typeface="Arial MT"/>
              </a:rPr>
              <a:t>March</a:t>
            </a:r>
            <a:r>
              <a:rPr sz="1100" spc="-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8791AF"/>
                </a:solidFill>
                <a:latin typeface="Arial MT"/>
                <a:cs typeface="Arial MT"/>
              </a:rPr>
              <a:t>26,</a:t>
            </a:r>
            <a:r>
              <a:rPr sz="1100" spc="-1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8791AF"/>
                </a:solidFill>
                <a:latin typeface="Arial MT"/>
                <a:cs typeface="Arial MT"/>
              </a:rPr>
              <a:t>2026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04190" y="2057400"/>
            <a:ext cx="6858000" cy="635000"/>
            <a:chOff x="457200" y="1651000"/>
            <a:chExt cx="6858000" cy="635000"/>
          </a:xfrm>
        </p:grpSpPr>
        <p:sp>
          <p:nvSpPr>
            <p:cNvPr id="7" name="object 7"/>
            <p:cNvSpPr/>
            <p:nvPr/>
          </p:nvSpPr>
          <p:spPr>
            <a:xfrm>
              <a:off x="457200" y="1651000"/>
              <a:ext cx="6858000" cy="635000"/>
            </a:xfrm>
            <a:custGeom>
              <a:avLst/>
              <a:gdLst/>
              <a:ahLst/>
              <a:cxnLst/>
              <a:rect l="l" t="t" r="r" b="b"/>
              <a:pathLst>
                <a:path w="6858000" h="635000">
                  <a:moveTo>
                    <a:pt x="6756400" y="0"/>
                  </a:moveTo>
                  <a:lnTo>
                    <a:pt x="101600" y="0"/>
                  </a:lnTo>
                  <a:lnTo>
                    <a:pt x="62030" y="7976"/>
                  </a:lnTo>
                  <a:lnTo>
                    <a:pt x="29738" y="29738"/>
                  </a:lnTo>
                  <a:lnTo>
                    <a:pt x="7976" y="62030"/>
                  </a:lnTo>
                  <a:lnTo>
                    <a:pt x="0" y="101600"/>
                  </a:lnTo>
                  <a:lnTo>
                    <a:pt x="0" y="533400"/>
                  </a:lnTo>
                  <a:lnTo>
                    <a:pt x="7976" y="572969"/>
                  </a:lnTo>
                  <a:lnTo>
                    <a:pt x="29738" y="605261"/>
                  </a:lnTo>
                  <a:lnTo>
                    <a:pt x="62030" y="627023"/>
                  </a:lnTo>
                  <a:lnTo>
                    <a:pt x="101600" y="635000"/>
                  </a:lnTo>
                  <a:lnTo>
                    <a:pt x="6756400" y="635000"/>
                  </a:lnTo>
                  <a:lnTo>
                    <a:pt x="6795969" y="627023"/>
                  </a:lnTo>
                  <a:lnTo>
                    <a:pt x="6828261" y="605261"/>
                  </a:lnTo>
                  <a:lnTo>
                    <a:pt x="6850023" y="572969"/>
                  </a:lnTo>
                  <a:lnTo>
                    <a:pt x="6858000" y="533400"/>
                  </a:lnTo>
                  <a:lnTo>
                    <a:pt x="6858000" y="101600"/>
                  </a:lnTo>
                  <a:lnTo>
                    <a:pt x="6850023" y="62030"/>
                  </a:lnTo>
                  <a:lnTo>
                    <a:pt x="6828261" y="29738"/>
                  </a:lnTo>
                  <a:lnTo>
                    <a:pt x="6795969" y="7976"/>
                  </a:lnTo>
                  <a:lnTo>
                    <a:pt x="6756400" y="0"/>
                  </a:lnTo>
                  <a:close/>
                </a:path>
              </a:pathLst>
            </a:custGeom>
            <a:solidFill>
              <a:srgbClr val="1121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200" y="1651000"/>
              <a:ext cx="63500" cy="635000"/>
            </a:xfrm>
            <a:custGeom>
              <a:avLst/>
              <a:gdLst/>
              <a:ahLst/>
              <a:cxnLst/>
              <a:rect l="l" t="t" r="r" b="b"/>
              <a:pathLst>
                <a:path w="63500" h="635000">
                  <a:moveTo>
                    <a:pt x="63500" y="0"/>
                  </a:moveTo>
                  <a:lnTo>
                    <a:pt x="0" y="0"/>
                  </a:lnTo>
                  <a:lnTo>
                    <a:pt x="0" y="635000"/>
                  </a:lnTo>
                  <a:lnTo>
                    <a:pt x="63500" y="635000"/>
                  </a:lnTo>
                  <a:lnTo>
                    <a:pt x="63500" y="0"/>
                  </a:lnTo>
                  <a:close/>
                </a:path>
              </a:pathLst>
            </a:custGeom>
            <a:solidFill>
              <a:srgbClr val="00D4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47700" y="2133600"/>
            <a:ext cx="86423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00D4AA"/>
                </a:solidFill>
                <a:latin typeface="Arial"/>
                <a:cs typeface="Arial"/>
              </a:rPr>
              <a:t>1,700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solidFill>
                  <a:srgbClr val="E6F0FF"/>
                </a:solidFill>
                <a:latin typeface="Arial"/>
                <a:cs typeface="Arial"/>
              </a:rPr>
              <a:t>All</a:t>
            </a:r>
            <a:r>
              <a:rPr sz="1200" b="1" spc="-20" dirty="0">
                <a:solidFill>
                  <a:srgbClr val="E6F0FF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E6F0FF"/>
                </a:solidFill>
                <a:latin typeface="Arial"/>
                <a:cs typeface="Arial"/>
              </a:rPr>
              <a:t>Projects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73300" y="2235200"/>
            <a:ext cx="2768600" cy="4260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Complete universe — all </a:t>
            </a:r>
            <a:r>
              <a:rPr sz="1200" spc="-10" dirty="0">
                <a:solidFill>
                  <a:srgbClr val="8791AF"/>
                </a:solidFill>
                <a:latin typeface="Arial MT"/>
                <a:cs typeface="Arial MT"/>
              </a:rPr>
              <a:t>statuses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and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lifecycle</a:t>
            </a:r>
            <a:r>
              <a:rPr sz="1200" spc="1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8791AF"/>
                </a:solidFill>
                <a:latin typeface="Arial MT"/>
                <a:cs typeface="Arial MT"/>
              </a:rPr>
              <a:t>stages</a:t>
            </a:r>
            <a:endParaRPr sz="1200" dirty="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04190" y="2819400"/>
            <a:ext cx="6858000" cy="635000"/>
            <a:chOff x="457200" y="2413000"/>
            <a:chExt cx="6858000" cy="635000"/>
          </a:xfrm>
        </p:grpSpPr>
        <p:sp>
          <p:nvSpPr>
            <p:cNvPr id="12" name="object 12"/>
            <p:cNvSpPr/>
            <p:nvPr/>
          </p:nvSpPr>
          <p:spPr>
            <a:xfrm>
              <a:off x="457200" y="2413000"/>
              <a:ext cx="6858000" cy="635000"/>
            </a:xfrm>
            <a:custGeom>
              <a:avLst/>
              <a:gdLst/>
              <a:ahLst/>
              <a:cxnLst/>
              <a:rect l="l" t="t" r="r" b="b"/>
              <a:pathLst>
                <a:path w="6858000" h="635000">
                  <a:moveTo>
                    <a:pt x="6756400" y="0"/>
                  </a:moveTo>
                  <a:lnTo>
                    <a:pt x="101600" y="0"/>
                  </a:lnTo>
                  <a:lnTo>
                    <a:pt x="62030" y="7976"/>
                  </a:lnTo>
                  <a:lnTo>
                    <a:pt x="29738" y="29738"/>
                  </a:lnTo>
                  <a:lnTo>
                    <a:pt x="7976" y="62030"/>
                  </a:lnTo>
                  <a:lnTo>
                    <a:pt x="0" y="101600"/>
                  </a:lnTo>
                  <a:lnTo>
                    <a:pt x="0" y="533400"/>
                  </a:lnTo>
                  <a:lnTo>
                    <a:pt x="7976" y="572969"/>
                  </a:lnTo>
                  <a:lnTo>
                    <a:pt x="29738" y="605261"/>
                  </a:lnTo>
                  <a:lnTo>
                    <a:pt x="62030" y="627023"/>
                  </a:lnTo>
                  <a:lnTo>
                    <a:pt x="101600" y="635000"/>
                  </a:lnTo>
                  <a:lnTo>
                    <a:pt x="6756400" y="635000"/>
                  </a:lnTo>
                  <a:lnTo>
                    <a:pt x="6795969" y="627023"/>
                  </a:lnTo>
                  <a:lnTo>
                    <a:pt x="6828261" y="605261"/>
                  </a:lnTo>
                  <a:lnTo>
                    <a:pt x="6850023" y="572969"/>
                  </a:lnTo>
                  <a:lnTo>
                    <a:pt x="6858000" y="533400"/>
                  </a:lnTo>
                  <a:lnTo>
                    <a:pt x="6858000" y="101600"/>
                  </a:lnTo>
                  <a:lnTo>
                    <a:pt x="6850023" y="62030"/>
                  </a:lnTo>
                  <a:lnTo>
                    <a:pt x="6828261" y="29738"/>
                  </a:lnTo>
                  <a:lnTo>
                    <a:pt x="6795969" y="7976"/>
                  </a:lnTo>
                  <a:lnTo>
                    <a:pt x="6756400" y="0"/>
                  </a:lnTo>
                  <a:close/>
                </a:path>
              </a:pathLst>
            </a:custGeom>
            <a:solidFill>
              <a:srgbClr val="1121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7200" y="2413000"/>
              <a:ext cx="63500" cy="635000"/>
            </a:xfrm>
            <a:custGeom>
              <a:avLst/>
              <a:gdLst/>
              <a:ahLst/>
              <a:cxnLst/>
              <a:rect l="l" t="t" r="r" b="b"/>
              <a:pathLst>
                <a:path w="63500" h="635000">
                  <a:moveTo>
                    <a:pt x="63500" y="0"/>
                  </a:moveTo>
                  <a:lnTo>
                    <a:pt x="0" y="0"/>
                  </a:lnTo>
                  <a:lnTo>
                    <a:pt x="0" y="635000"/>
                  </a:lnTo>
                  <a:lnTo>
                    <a:pt x="63500" y="635000"/>
                  </a:lnTo>
                  <a:lnTo>
                    <a:pt x="63500" y="0"/>
                  </a:lnTo>
                  <a:close/>
                </a:path>
              </a:pathLst>
            </a:custGeom>
            <a:solidFill>
              <a:srgbClr val="66BA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47700" y="2895600"/>
            <a:ext cx="81343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66BA69"/>
                </a:solidFill>
                <a:latin typeface="Arial"/>
                <a:cs typeface="Arial"/>
              </a:rPr>
              <a:t>1,387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200" b="1" spc="-10" dirty="0">
                <a:solidFill>
                  <a:srgbClr val="E6F0FF"/>
                </a:solidFill>
                <a:latin typeface="Arial"/>
                <a:cs typeface="Arial"/>
              </a:rPr>
              <a:t>Registered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73300" y="2997200"/>
            <a:ext cx="2768600" cy="4260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Includes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both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Registered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8791AF"/>
                </a:solidFill>
                <a:latin typeface="Arial MT"/>
                <a:cs typeface="Arial MT"/>
              </a:rPr>
              <a:t>projects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and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Late</a:t>
            </a:r>
            <a:r>
              <a:rPr sz="1200" spc="1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to</a:t>
            </a:r>
            <a:r>
              <a:rPr sz="1200" spc="1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Verify</a:t>
            </a:r>
            <a:r>
              <a:rPr sz="1200" spc="1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(stalled)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8791AF"/>
                </a:solidFill>
                <a:latin typeface="Arial MT"/>
                <a:cs typeface="Arial MT"/>
              </a:rPr>
              <a:t>statuses</a:t>
            </a:r>
            <a:endParaRPr sz="1200" dirty="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04190" y="3581400"/>
            <a:ext cx="6858000" cy="635000"/>
            <a:chOff x="457200" y="3175000"/>
            <a:chExt cx="6858000" cy="635000"/>
          </a:xfrm>
        </p:grpSpPr>
        <p:sp>
          <p:nvSpPr>
            <p:cNvPr id="17" name="object 17"/>
            <p:cNvSpPr/>
            <p:nvPr/>
          </p:nvSpPr>
          <p:spPr>
            <a:xfrm>
              <a:off x="457200" y="3175000"/>
              <a:ext cx="6858000" cy="635000"/>
            </a:xfrm>
            <a:custGeom>
              <a:avLst/>
              <a:gdLst/>
              <a:ahLst/>
              <a:cxnLst/>
              <a:rect l="l" t="t" r="r" b="b"/>
              <a:pathLst>
                <a:path w="6858000" h="635000">
                  <a:moveTo>
                    <a:pt x="6756400" y="0"/>
                  </a:moveTo>
                  <a:lnTo>
                    <a:pt x="101600" y="0"/>
                  </a:lnTo>
                  <a:lnTo>
                    <a:pt x="62030" y="7976"/>
                  </a:lnTo>
                  <a:lnTo>
                    <a:pt x="29738" y="29738"/>
                  </a:lnTo>
                  <a:lnTo>
                    <a:pt x="7976" y="62030"/>
                  </a:lnTo>
                  <a:lnTo>
                    <a:pt x="0" y="101600"/>
                  </a:lnTo>
                  <a:lnTo>
                    <a:pt x="0" y="533400"/>
                  </a:lnTo>
                  <a:lnTo>
                    <a:pt x="7976" y="572969"/>
                  </a:lnTo>
                  <a:lnTo>
                    <a:pt x="29738" y="605261"/>
                  </a:lnTo>
                  <a:lnTo>
                    <a:pt x="62030" y="627023"/>
                  </a:lnTo>
                  <a:lnTo>
                    <a:pt x="101600" y="635000"/>
                  </a:lnTo>
                  <a:lnTo>
                    <a:pt x="6756400" y="635000"/>
                  </a:lnTo>
                  <a:lnTo>
                    <a:pt x="6795969" y="627023"/>
                  </a:lnTo>
                  <a:lnTo>
                    <a:pt x="6828261" y="605261"/>
                  </a:lnTo>
                  <a:lnTo>
                    <a:pt x="6850023" y="572969"/>
                  </a:lnTo>
                  <a:lnTo>
                    <a:pt x="6858000" y="533400"/>
                  </a:lnTo>
                  <a:lnTo>
                    <a:pt x="6858000" y="101600"/>
                  </a:lnTo>
                  <a:lnTo>
                    <a:pt x="6850023" y="62030"/>
                  </a:lnTo>
                  <a:lnTo>
                    <a:pt x="6828261" y="29738"/>
                  </a:lnTo>
                  <a:lnTo>
                    <a:pt x="6795969" y="7976"/>
                  </a:lnTo>
                  <a:lnTo>
                    <a:pt x="6756400" y="0"/>
                  </a:lnTo>
                  <a:close/>
                </a:path>
              </a:pathLst>
            </a:custGeom>
            <a:solidFill>
              <a:srgbClr val="1121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57200" y="3175000"/>
              <a:ext cx="63500" cy="635000"/>
            </a:xfrm>
            <a:custGeom>
              <a:avLst/>
              <a:gdLst/>
              <a:ahLst/>
              <a:cxnLst/>
              <a:rect l="l" t="t" r="r" b="b"/>
              <a:pathLst>
                <a:path w="63500" h="635000">
                  <a:moveTo>
                    <a:pt x="63500" y="0"/>
                  </a:moveTo>
                  <a:lnTo>
                    <a:pt x="0" y="0"/>
                  </a:lnTo>
                  <a:lnTo>
                    <a:pt x="0" y="635000"/>
                  </a:lnTo>
                  <a:lnTo>
                    <a:pt x="63500" y="635000"/>
                  </a:lnTo>
                  <a:lnTo>
                    <a:pt x="63500" y="0"/>
                  </a:lnTo>
                  <a:close/>
                </a:path>
              </a:pathLst>
            </a:custGeom>
            <a:solidFill>
              <a:srgbClr val="F9A8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47700" y="3657600"/>
            <a:ext cx="61023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367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solidFill>
                  <a:srgbClr val="F9A824"/>
                </a:solidFill>
                <a:latin typeface="Arial"/>
                <a:cs typeface="Arial"/>
              </a:rPr>
              <a:t>176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200" b="1" spc="-10" dirty="0">
                <a:solidFill>
                  <a:srgbClr val="E6F0FF"/>
                </a:solidFill>
                <a:latin typeface="Arial"/>
                <a:cs typeface="Arial"/>
              </a:rPr>
              <a:t>Pipeline</a:t>
            </a:r>
            <a:endParaRPr sz="12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273300" y="3759200"/>
            <a:ext cx="2705100" cy="4260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Pre-registration stage — projects </a:t>
            </a:r>
            <a:r>
              <a:rPr sz="1200" spc="-10" dirty="0">
                <a:solidFill>
                  <a:srgbClr val="8791AF"/>
                </a:solidFill>
                <a:latin typeface="Arial MT"/>
                <a:cs typeface="Arial MT"/>
              </a:rPr>
              <a:t>under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development or </a:t>
            </a:r>
            <a:r>
              <a:rPr sz="1200" spc="-10" dirty="0">
                <a:solidFill>
                  <a:srgbClr val="8791AF"/>
                </a:solidFill>
                <a:latin typeface="Arial MT"/>
                <a:cs typeface="Arial MT"/>
              </a:rPr>
              <a:t>validation</a:t>
            </a:r>
            <a:endParaRPr sz="1200" dirty="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04190" y="4343400"/>
            <a:ext cx="6858000" cy="635000"/>
            <a:chOff x="457200" y="3937000"/>
            <a:chExt cx="6858000" cy="635000"/>
          </a:xfrm>
        </p:grpSpPr>
        <p:sp>
          <p:nvSpPr>
            <p:cNvPr id="22" name="object 22"/>
            <p:cNvSpPr/>
            <p:nvPr/>
          </p:nvSpPr>
          <p:spPr>
            <a:xfrm>
              <a:off x="457200" y="3937000"/>
              <a:ext cx="6858000" cy="635000"/>
            </a:xfrm>
            <a:custGeom>
              <a:avLst/>
              <a:gdLst/>
              <a:ahLst/>
              <a:cxnLst/>
              <a:rect l="l" t="t" r="r" b="b"/>
              <a:pathLst>
                <a:path w="6858000" h="635000">
                  <a:moveTo>
                    <a:pt x="6756400" y="0"/>
                  </a:moveTo>
                  <a:lnTo>
                    <a:pt x="101600" y="0"/>
                  </a:lnTo>
                  <a:lnTo>
                    <a:pt x="62030" y="7976"/>
                  </a:lnTo>
                  <a:lnTo>
                    <a:pt x="29738" y="29738"/>
                  </a:lnTo>
                  <a:lnTo>
                    <a:pt x="7976" y="62030"/>
                  </a:lnTo>
                  <a:lnTo>
                    <a:pt x="0" y="101600"/>
                  </a:lnTo>
                  <a:lnTo>
                    <a:pt x="0" y="533400"/>
                  </a:lnTo>
                  <a:lnTo>
                    <a:pt x="7976" y="572969"/>
                  </a:lnTo>
                  <a:lnTo>
                    <a:pt x="29738" y="605261"/>
                  </a:lnTo>
                  <a:lnTo>
                    <a:pt x="62030" y="627023"/>
                  </a:lnTo>
                  <a:lnTo>
                    <a:pt x="101600" y="635000"/>
                  </a:lnTo>
                  <a:lnTo>
                    <a:pt x="6756400" y="635000"/>
                  </a:lnTo>
                  <a:lnTo>
                    <a:pt x="6795969" y="627023"/>
                  </a:lnTo>
                  <a:lnTo>
                    <a:pt x="6828261" y="605261"/>
                  </a:lnTo>
                  <a:lnTo>
                    <a:pt x="6850023" y="572969"/>
                  </a:lnTo>
                  <a:lnTo>
                    <a:pt x="6858000" y="533400"/>
                  </a:lnTo>
                  <a:lnTo>
                    <a:pt x="6858000" y="101600"/>
                  </a:lnTo>
                  <a:lnTo>
                    <a:pt x="6850023" y="62030"/>
                  </a:lnTo>
                  <a:lnTo>
                    <a:pt x="6828261" y="29738"/>
                  </a:lnTo>
                  <a:lnTo>
                    <a:pt x="6795969" y="7976"/>
                  </a:lnTo>
                  <a:lnTo>
                    <a:pt x="6756400" y="0"/>
                  </a:lnTo>
                  <a:close/>
                </a:path>
              </a:pathLst>
            </a:custGeom>
            <a:solidFill>
              <a:srgbClr val="1121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7200" y="3937000"/>
              <a:ext cx="63500" cy="635000"/>
            </a:xfrm>
            <a:custGeom>
              <a:avLst/>
              <a:gdLst/>
              <a:ahLst/>
              <a:cxnLst/>
              <a:rect l="l" t="t" r="r" b="b"/>
              <a:pathLst>
                <a:path w="63500" h="635000">
                  <a:moveTo>
                    <a:pt x="63500" y="0"/>
                  </a:moveTo>
                  <a:lnTo>
                    <a:pt x="0" y="0"/>
                  </a:lnTo>
                  <a:lnTo>
                    <a:pt x="0" y="635000"/>
                  </a:lnTo>
                  <a:lnTo>
                    <a:pt x="63500" y="635000"/>
                  </a:lnTo>
                  <a:lnTo>
                    <a:pt x="63500" y="0"/>
                  </a:lnTo>
                  <a:close/>
                </a:path>
              </a:pathLst>
            </a:custGeom>
            <a:solidFill>
              <a:srgbClr val="EF52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47700" y="4419600"/>
            <a:ext cx="59309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367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solidFill>
                  <a:srgbClr val="EF524F"/>
                </a:solidFill>
                <a:latin typeface="Arial"/>
                <a:cs typeface="Arial"/>
              </a:rPr>
              <a:t>102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200" b="1" spc="-10" dirty="0">
                <a:solidFill>
                  <a:srgbClr val="E6F0FF"/>
                </a:solidFill>
                <a:latin typeface="Arial"/>
                <a:cs typeface="Arial"/>
              </a:rPr>
              <a:t>Inactive</a:t>
            </a:r>
            <a:endParaRPr sz="12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273300" y="4521200"/>
            <a:ext cx="3060700" cy="4260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Terminal records — withdrawn, </a:t>
            </a:r>
            <a:r>
              <a:rPr sz="1200" spc="-10" dirty="0">
                <a:solidFill>
                  <a:srgbClr val="8791AF"/>
                </a:solidFill>
                <a:latin typeface="Arial MT"/>
                <a:cs typeface="Arial MT"/>
              </a:rPr>
              <a:t>rejected,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or declared inactive by </a:t>
            </a:r>
            <a:r>
              <a:rPr sz="1200" spc="-10" dirty="0">
                <a:solidFill>
                  <a:srgbClr val="8791AF"/>
                </a:solidFill>
                <a:latin typeface="Arial MT"/>
                <a:cs typeface="Arial MT"/>
              </a:rPr>
              <a:t>administrator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44500" y="5156200"/>
            <a:ext cx="473710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dirty="0">
                <a:solidFill>
                  <a:srgbClr val="8791AF"/>
                </a:solidFill>
                <a:latin typeface="Arial"/>
                <a:cs typeface="Arial"/>
              </a:rPr>
              <a:t>Focus: data</a:t>
            </a:r>
            <a:r>
              <a:rPr sz="1100" i="1" spc="5" dirty="0">
                <a:solidFill>
                  <a:srgbClr val="8791AF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8791AF"/>
                </a:solidFill>
                <a:latin typeface="Arial"/>
                <a:cs typeface="Arial"/>
              </a:rPr>
              <a:t>quality</a:t>
            </a:r>
            <a:r>
              <a:rPr sz="1100" i="1" spc="5" dirty="0">
                <a:solidFill>
                  <a:srgbClr val="8791AF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8791AF"/>
                </a:solidFill>
                <a:latin typeface="Arial"/>
                <a:cs typeface="Arial"/>
              </a:rPr>
              <a:t>audit</a:t>
            </a:r>
            <a:r>
              <a:rPr sz="1100" i="1" spc="5" dirty="0">
                <a:solidFill>
                  <a:srgbClr val="8791AF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8791AF"/>
                </a:solidFill>
                <a:latin typeface="Arial"/>
                <a:cs typeface="Arial"/>
              </a:rPr>
              <a:t>+ anomaly</a:t>
            </a:r>
            <a:r>
              <a:rPr sz="1100" i="1" spc="5" dirty="0">
                <a:solidFill>
                  <a:srgbClr val="8791AF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8791AF"/>
                </a:solidFill>
                <a:latin typeface="Arial"/>
                <a:cs typeface="Arial"/>
              </a:rPr>
              <a:t>detection</a:t>
            </a:r>
            <a:r>
              <a:rPr sz="1100" i="1" spc="5" dirty="0">
                <a:solidFill>
                  <a:srgbClr val="8791AF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8791AF"/>
                </a:solidFill>
                <a:latin typeface="Arial"/>
                <a:cs typeface="Arial"/>
              </a:rPr>
              <a:t>across</a:t>
            </a:r>
            <a:r>
              <a:rPr sz="1100" i="1" spc="5" dirty="0">
                <a:solidFill>
                  <a:srgbClr val="8791AF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8791AF"/>
                </a:solidFill>
                <a:latin typeface="Arial"/>
                <a:cs typeface="Arial"/>
              </a:rPr>
              <a:t>all 1,700</a:t>
            </a:r>
            <a:r>
              <a:rPr sz="1100" i="1" spc="5" dirty="0">
                <a:solidFill>
                  <a:srgbClr val="8791AF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8791AF"/>
                </a:solidFill>
                <a:latin typeface="Arial"/>
                <a:cs typeface="Arial"/>
              </a:rPr>
              <a:t>projects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0" y="7620000"/>
            <a:ext cx="7772400" cy="50800"/>
          </a:xfrm>
          <a:custGeom>
            <a:avLst/>
            <a:gdLst/>
            <a:ahLst/>
            <a:cxnLst/>
            <a:rect l="l" t="t" r="r" b="b"/>
            <a:pathLst>
              <a:path w="7772400" h="50800">
                <a:moveTo>
                  <a:pt x="7772400" y="0"/>
                </a:moveTo>
                <a:lnTo>
                  <a:pt x="0" y="0"/>
                </a:lnTo>
                <a:lnTo>
                  <a:pt x="0" y="50800"/>
                </a:lnTo>
                <a:lnTo>
                  <a:pt x="7772400" y="50800"/>
                </a:lnTo>
                <a:lnTo>
                  <a:pt x="7772400" y="0"/>
                </a:lnTo>
                <a:close/>
              </a:path>
            </a:pathLst>
          </a:custGeom>
          <a:solidFill>
            <a:srgbClr val="00D4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/>
              <a:t>3</a:t>
            </a:fld>
            <a:r>
              <a:rPr dirty="0"/>
              <a:t> / </a:t>
            </a:r>
            <a:r>
              <a:rPr spc="-25" dirty="0"/>
              <a:t>10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355600"/>
            <a:ext cx="17145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THE BIG </a:t>
            </a:r>
            <a:r>
              <a:rPr sz="1200" spc="-10" dirty="0">
                <a:solidFill>
                  <a:srgbClr val="8791AF"/>
                </a:solidFill>
                <a:latin typeface="Arial MT"/>
                <a:cs typeface="Arial MT"/>
              </a:rPr>
              <a:t>PICTURE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44500" y="675641"/>
            <a:ext cx="5648960" cy="3911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1,700</a:t>
            </a:r>
            <a:r>
              <a:rPr sz="2400" spc="-75" dirty="0"/>
              <a:t> </a:t>
            </a:r>
            <a:r>
              <a:rPr sz="2400" dirty="0"/>
              <a:t>projects.</a:t>
            </a:r>
            <a:r>
              <a:rPr sz="2400" spc="-70" dirty="0"/>
              <a:t> </a:t>
            </a:r>
            <a:r>
              <a:rPr sz="2400" dirty="0"/>
              <a:t>Four</a:t>
            </a:r>
            <a:r>
              <a:rPr sz="2400" spc="-70" dirty="0"/>
              <a:t> </a:t>
            </a:r>
            <a:r>
              <a:rPr sz="2400" dirty="0"/>
              <a:t>lifecycle</a:t>
            </a:r>
            <a:r>
              <a:rPr sz="2400" spc="-70" dirty="0"/>
              <a:t> </a:t>
            </a:r>
            <a:r>
              <a:rPr sz="2400" spc="-10" dirty="0"/>
              <a:t>stages.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482600" y="1270000"/>
            <a:ext cx="1651000" cy="1397000"/>
            <a:chOff x="457200" y="1270000"/>
            <a:chExt cx="1651000" cy="1397000"/>
          </a:xfrm>
        </p:grpSpPr>
        <p:sp>
          <p:nvSpPr>
            <p:cNvPr id="6" name="object 6"/>
            <p:cNvSpPr/>
            <p:nvPr/>
          </p:nvSpPr>
          <p:spPr>
            <a:xfrm>
              <a:off x="457200" y="1270000"/>
              <a:ext cx="1651000" cy="1397000"/>
            </a:xfrm>
            <a:custGeom>
              <a:avLst/>
              <a:gdLst/>
              <a:ahLst/>
              <a:cxnLst/>
              <a:rect l="l" t="t" r="r" b="b"/>
              <a:pathLst>
                <a:path w="1651000" h="1397000">
                  <a:moveTo>
                    <a:pt x="1549400" y="0"/>
                  </a:moveTo>
                  <a:lnTo>
                    <a:pt x="101600" y="0"/>
                  </a:lnTo>
                  <a:lnTo>
                    <a:pt x="62030" y="7976"/>
                  </a:lnTo>
                  <a:lnTo>
                    <a:pt x="29738" y="29738"/>
                  </a:lnTo>
                  <a:lnTo>
                    <a:pt x="7976" y="62030"/>
                  </a:lnTo>
                  <a:lnTo>
                    <a:pt x="0" y="101600"/>
                  </a:lnTo>
                  <a:lnTo>
                    <a:pt x="0" y="1295400"/>
                  </a:lnTo>
                  <a:lnTo>
                    <a:pt x="7976" y="1334969"/>
                  </a:lnTo>
                  <a:lnTo>
                    <a:pt x="29738" y="1367261"/>
                  </a:lnTo>
                  <a:lnTo>
                    <a:pt x="62030" y="1389023"/>
                  </a:lnTo>
                  <a:lnTo>
                    <a:pt x="101600" y="1397000"/>
                  </a:lnTo>
                  <a:lnTo>
                    <a:pt x="1549400" y="1397000"/>
                  </a:lnTo>
                  <a:lnTo>
                    <a:pt x="1588969" y="1389023"/>
                  </a:lnTo>
                  <a:lnTo>
                    <a:pt x="1621261" y="1367261"/>
                  </a:lnTo>
                  <a:lnTo>
                    <a:pt x="1643023" y="1334969"/>
                  </a:lnTo>
                  <a:lnTo>
                    <a:pt x="1651000" y="1295400"/>
                  </a:lnTo>
                  <a:lnTo>
                    <a:pt x="1651000" y="101600"/>
                  </a:lnTo>
                  <a:lnTo>
                    <a:pt x="1643023" y="62030"/>
                  </a:lnTo>
                  <a:lnTo>
                    <a:pt x="1621261" y="29738"/>
                  </a:lnTo>
                  <a:lnTo>
                    <a:pt x="1588969" y="7976"/>
                  </a:lnTo>
                  <a:lnTo>
                    <a:pt x="1549400" y="0"/>
                  </a:lnTo>
                  <a:close/>
                </a:path>
              </a:pathLst>
            </a:custGeom>
            <a:solidFill>
              <a:srgbClr val="2A1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1270000"/>
              <a:ext cx="1651000" cy="25400"/>
            </a:xfrm>
            <a:custGeom>
              <a:avLst/>
              <a:gdLst/>
              <a:ahLst/>
              <a:cxnLst/>
              <a:rect l="l" t="t" r="r" b="b"/>
              <a:pathLst>
                <a:path w="1651000" h="25400">
                  <a:moveTo>
                    <a:pt x="165100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651000" y="25400"/>
                  </a:lnTo>
                  <a:lnTo>
                    <a:pt x="1651000" y="0"/>
                  </a:lnTo>
                  <a:close/>
                </a:path>
              </a:pathLst>
            </a:custGeom>
            <a:solidFill>
              <a:srgbClr val="F9A8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20751" y="1524000"/>
            <a:ext cx="931849" cy="975908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50"/>
              </a:spcBef>
            </a:pPr>
            <a:r>
              <a:rPr sz="3200" b="1" spc="-25" dirty="0">
                <a:solidFill>
                  <a:srgbClr val="F9A824"/>
                </a:solidFill>
                <a:latin typeface="Arial"/>
                <a:cs typeface="Arial"/>
              </a:rPr>
              <a:t>176</a:t>
            </a:r>
            <a:endParaRPr sz="32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1100" b="1" spc="-10" dirty="0">
                <a:solidFill>
                  <a:srgbClr val="E6F0FF"/>
                </a:solidFill>
                <a:latin typeface="Arial"/>
                <a:cs typeface="Arial"/>
              </a:rPr>
              <a:t>PIPELINE</a:t>
            </a:r>
            <a:endParaRPr sz="11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40"/>
              </a:spcBef>
            </a:pPr>
            <a:r>
              <a:rPr sz="1000" spc="-10" dirty="0">
                <a:solidFill>
                  <a:srgbClr val="8791AF"/>
                </a:solidFill>
                <a:latin typeface="Arial MT"/>
                <a:cs typeface="Arial MT"/>
              </a:rPr>
              <a:t>Pre-registration</a:t>
            </a:r>
            <a:endParaRPr sz="1000" dirty="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159000" y="1270000"/>
            <a:ext cx="1651000" cy="1397000"/>
            <a:chOff x="2184400" y="1270000"/>
            <a:chExt cx="1651000" cy="1397000"/>
          </a:xfrm>
        </p:grpSpPr>
        <p:sp>
          <p:nvSpPr>
            <p:cNvPr id="10" name="object 10"/>
            <p:cNvSpPr/>
            <p:nvPr/>
          </p:nvSpPr>
          <p:spPr>
            <a:xfrm>
              <a:off x="2184400" y="1270000"/>
              <a:ext cx="1651000" cy="1397000"/>
            </a:xfrm>
            <a:custGeom>
              <a:avLst/>
              <a:gdLst/>
              <a:ahLst/>
              <a:cxnLst/>
              <a:rect l="l" t="t" r="r" b="b"/>
              <a:pathLst>
                <a:path w="1651000" h="1397000">
                  <a:moveTo>
                    <a:pt x="1549400" y="0"/>
                  </a:moveTo>
                  <a:lnTo>
                    <a:pt x="101600" y="0"/>
                  </a:lnTo>
                  <a:lnTo>
                    <a:pt x="62030" y="7976"/>
                  </a:lnTo>
                  <a:lnTo>
                    <a:pt x="29738" y="29738"/>
                  </a:lnTo>
                  <a:lnTo>
                    <a:pt x="7976" y="62030"/>
                  </a:lnTo>
                  <a:lnTo>
                    <a:pt x="0" y="101600"/>
                  </a:lnTo>
                  <a:lnTo>
                    <a:pt x="0" y="1295400"/>
                  </a:lnTo>
                  <a:lnTo>
                    <a:pt x="7976" y="1334969"/>
                  </a:lnTo>
                  <a:lnTo>
                    <a:pt x="29738" y="1367261"/>
                  </a:lnTo>
                  <a:lnTo>
                    <a:pt x="62030" y="1389023"/>
                  </a:lnTo>
                  <a:lnTo>
                    <a:pt x="101600" y="1397000"/>
                  </a:lnTo>
                  <a:lnTo>
                    <a:pt x="1549400" y="1397000"/>
                  </a:lnTo>
                  <a:lnTo>
                    <a:pt x="1588969" y="1389023"/>
                  </a:lnTo>
                  <a:lnTo>
                    <a:pt x="1621261" y="1367261"/>
                  </a:lnTo>
                  <a:lnTo>
                    <a:pt x="1643023" y="1334969"/>
                  </a:lnTo>
                  <a:lnTo>
                    <a:pt x="1651000" y="1295400"/>
                  </a:lnTo>
                  <a:lnTo>
                    <a:pt x="1651000" y="101600"/>
                  </a:lnTo>
                  <a:lnTo>
                    <a:pt x="1643023" y="62030"/>
                  </a:lnTo>
                  <a:lnTo>
                    <a:pt x="1621261" y="29738"/>
                  </a:lnTo>
                  <a:lnTo>
                    <a:pt x="1588969" y="7976"/>
                  </a:lnTo>
                  <a:lnTo>
                    <a:pt x="1549400" y="0"/>
                  </a:lnTo>
                  <a:close/>
                </a:path>
              </a:pathLst>
            </a:custGeom>
            <a:solidFill>
              <a:srgbClr val="001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184400" y="1270000"/>
              <a:ext cx="1651000" cy="25400"/>
            </a:xfrm>
            <a:custGeom>
              <a:avLst/>
              <a:gdLst/>
              <a:ahLst/>
              <a:cxnLst/>
              <a:rect l="l" t="t" r="r" b="b"/>
              <a:pathLst>
                <a:path w="1651000" h="25400">
                  <a:moveTo>
                    <a:pt x="165100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651000" y="25400"/>
                  </a:lnTo>
                  <a:lnTo>
                    <a:pt x="1651000" y="0"/>
                  </a:lnTo>
                  <a:close/>
                </a:path>
              </a:pathLst>
            </a:custGeom>
            <a:solidFill>
              <a:srgbClr val="66BA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362200" y="1524000"/>
            <a:ext cx="1285444" cy="975908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50"/>
              </a:spcBef>
            </a:pPr>
            <a:r>
              <a:rPr sz="3200" b="1" spc="-25" dirty="0">
                <a:solidFill>
                  <a:srgbClr val="66BA69"/>
                </a:solidFill>
                <a:latin typeface="Arial"/>
                <a:cs typeface="Arial"/>
              </a:rPr>
              <a:t>820</a:t>
            </a:r>
            <a:endParaRPr sz="32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1100" b="1" spc="-10" dirty="0">
                <a:solidFill>
                  <a:srgbClr val="E6F0FF"/>
                </a:solidFill>
                <a:latin typeface="Arial"/>
                <a:cs typeface="Arial"/>
              </a:rPr>
              <a:t>ACTIVE</a:t>
            </a:r>
            <a:endParaRPr sz="11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40"/>
              </a:spcBef>
            </a:pPr>
            <a:r>
              <a:rPr sz="1000" dirty="0">
                <a:solidFill>
                  <a:srgbClr val="8791AF"/>
                </a:solidFill>
                <a:latin typeface="Arial MT"/>
                <a:cs typeface="Arial MT"/>
              </a:rPr>
              <a:t>Generating</a:t>
            </a:r>
            <a:r>
              <a:rPr sz="1000" spc="-2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8791AF"/>
                </a:solidFill>
                <a:latin typeface="Arial MT"/>
                <a:cs typeface="Arial MT"/>
              </a:rPr>
              <a:t>or</a:t>
            </a:r>
            <a:r>
              <a:rPr sz="1000" spc="-2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8791AF"/>
                </a:solidFill>
                <a:latin typeface="Arial MT"/>
                <a:cs typeface="Arial MT"/>
              </a:rPr>
              <a:t>eligible</a:t>
            </a:r>
            <a:endParaRPr sz="1000" dirty="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911600" y="1270000"/>
            <a:ext cx="1651000" cy="1397000"/>
            <a:chOff x="3911600" y="1270000"/>
            <a:chExt cx="1651000" cy="1397000"/>
          </a:xfrm>
        </p:grpSpPr>
        <p:sp>
          <p:nvSpPr>
            <p:cNvPr id="14" name="object 14"/>
            <p:cNvSpPr/>
            <p:nvPr/>
          </p:nvSpPr>
          <p:spPr>
            <a:xfrm>
              <a:off x="3911600" y="1270000"/>
              <a:ext cx="1651000" cy="1397000"/>
            </a:xfrm>
            <a:custGeom>
              <a:avLst/>
              <a:gdLst/>
              <a:ahLst/>
              <a:cxnLst/>
              <a:rect l="l" t="t" r="r" b="b"/>
              <a:pathLst>
                <a:path w="1651000" h="1397000">
                  <a:moveTo>
                    <a:pt x="1549400" y="0"/>
                  </a:moveTo>
                  <a:lnTo>
                    <a:pt x="101600" y="0"/>
                  </a:lnTo>
                  <a:lnTo>
                    <a:pt x="62030" y="7976"/>
                  </a:lnTo>
                  <a:lnTo>
                    <a:pt x="29738" y="29738"/>
                  </a:lnTo>
                  <a:lnTo>
                    <a:pt x="7976" y="62030"/>
                  </a:lnTo>
                  <a:lnTo>
                    <a:pt x="0" y="101600"/>
                  </a:lnTo>
                  <a:lnTo>
                    <a:pt x="0" y="1295400"/>
                  </a:lnTo>
                  <a:lnTo>
                    <a:pt x="7976" y="1334969"/>
                  </a:lnTo>
                  <a:lnTo>
                    <a:pt x="29738" y="1367261"/>
                  </a:lnTo>
                  <a:lnTo>
                    <a:pt x="62030" y="1389023"/>
                  </a:lnTo>
                  <a:lnTo>
                    <a:pt x="101600" y="1397000"/>
                  </a:lnTo>
                  <a:lnTo>
                    <a:pt x="1549400" y="1397000"/>
                  </a:lnTo>
                  <a:lnTo>
                    <a:pt x="1588969" y="1389023"/>
                  </a:lnTo>
                  <a:lnTo>
                    <a:pt x="1621261" y="1367261"/>
                  </a:lnTo>
                  <a:lnTo>
                    <a:pt x="1643023" y="1334969"/>
                  </a:lnTo>
                  <a:lnTo>
                    <a:pt x="1651000" y="1295400"/>
                  </a:lnTo>
                  <a:lnTo>
                    <a:pt x="1651000" y="101600"/>
                  </a:lnTo>
                  <a:lnTo>
                    <a:pt x="1643023" y="62030"/>
                  </a:lnTo>
                  <a:lnTo>
                    <a:pt x="1621261" y="29738"/>
                  </a:lnTo>
                  <a:lnTo>
                    <a:pt x="1588969" y="7976"/>
                  </a:lnTo>
                  <a:lnTo>
                    <a:pt x="1549400" y="0"/>
                  </a:lnTo>
                  <a:close/>
                </a:path>
              </a:pathLst>
            </a:custGeom>
            <a:solidFill>
              <a:srgbClr val="2A1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911600" y="1270000"/>
              <a:ext cx="1651000" cy="25400"/>
            </a:xfrm>
            <a:custGeom>
              <a:avLst/>
              <a:gdLst/>
              <a:ahLst/>
              <a:cxnLst/>
              <a:rect l="l" t="t" r="r" b="b"/>
              <a:pathLst>
                <a:path w="1651000" h="25400">
                  <a:moveTo>
                    <a:pt x="165100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651000" y="25400"/>
                  </a:lnTo>
                  <a:lnTo>
                    <a:pt x="1651000" y="0"/>
                  </a:lnTo>
                  <a:close/>
                </a:path>
              </a:pathLst>
            </a:custGeom>
            <a:solidFill>
              <a:srgbClr val="F9A8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038600" y="1524000"/>
            <a:ext cx="1374648" cy="1129796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50"/>
              </a:spcBef>
            </a:pPr>
            <a:r>
              <a:rPr sz="3200" b="1" spc="-25" dirty="0">
                <a:solidFill>
                  <a:srgbClr val="F9A824"/>
                </a:solidFill>
                <a:latin typeface="Arial"/>
                <a:cs typeface="Arial"/>
              </a:rPr>
              <a:t>601</a:t>
            </a:r>
            <a:endParaRPr sz="32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1100" b="1" spc="-10" dirty="0">
                <a:solidFill>
                  <a:srgbClr val="E6F0FF"/>
                </a:solidFill>
                <a:latin typeface="Arial"/>
                <a:cs typeface="Arial"/>
              </a:rPr>
              <a:t>STALLED</a:t>
            </a:r>
            <a:endParaRPr sz="11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40"/>
              </a:spcBef>
            </a:pPr>
            <a:r>
              <a:rPr sz="1000" dirty="0">
                <a:solidFill>
                  <a:srgbClr val="8791AF"/>
                </a:solidFill>
                <a:latin typeface="Arial MT"/>
                <a:cs typeface="Arial MT"/>
              </a:rPr>
              <a:t>Late</a:t>
            </a:r>
            <a:r>
              <a:rPr sz="1000" spc="-1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8791AF"/>
                </a:solidFill>
                <a:latin typeface="Arial MT"/>
                <a:cs typeface="Arial MT"/>
              </a:rPr>
              <a:t>to</a:t>
            </a:r>
            <a:r>
              <a:rPr sz="1000" spc="-1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8791AF"/>
                </a:solidFill>
                <a:latin typeface="Arial MT"/>
                <a:cs typeface="Arial MT"/>
              </a:rPr>
              <a:t>Verify</a:t>
            </a:r>
            <a:r>
              <a:rPr sz="1000" spc="-1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8791AF"/>
                </a:solidFill>
                <a:latin typeface="Arial MT"/>
                <a:cs typeface="Arial MT"/>
              </a:rPr>
              <a:t>·</a:t>
            </a:r>
            <a:r>
              <a:rPr sz="1000" spc="-1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8791AF"/>
                </a:solidFill>
                <a:latin typeface="Arial MT"/>
                <a:cs typeface="Arial MT"/>
              </a:rPr>
              <a:t>On</a:t>
            </a:r>
            <a:r>
              <a:rPr sz="1000" spc="-1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8791AF"/>
                </a:solidFill>
                <a:latin typeface="Arial MT"/>
                <a:cs typeface="Arial MT"/>
              </a:rPr>
              <a:t>Hold</a:t>
            </a:r>
            <a:endParaRPr sz="1000" dirty="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sz="1000" dirty="0">
                <a:solidFill>
                  <a:srgbClr val="8791AF"/>
                </a:solidFill>
                <a:latin typeface="Arial MT"/>
                <a:cs typeface="Arial MT"/>
              </a:rPr>
              <a:t>·</a:t>
            </a:r>
            <a:r>
              <a:rPr sz="1000" spc="-2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8791AF"/>
                </a:solidFill>
                <a:latin typeface="Arial MT"/>
                <a:cs typeface="Arial MT"/>
              </a:rPr>
              <a:t>Verif.</a:t>
            </a:r>
            <a:r>
              <a:rPr sz="1000" spc="-1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8791AF"/>
                </a:solidFill>
                <a:latin typeface="Arial MT"/>
                <a:cs typeface="Arial MT"/>
              </a:rPr>
              <a:t>Approval</a:t>
            </a:r>
            <a:r>
              <a:rPr sz="1000" spc="-1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8791AF"/>
                </a:solidFill>
                <a:latin typeface="Arial MT"/>
                <a:cs typeface="Arial MT"/>
              </a:rPr>
              <a:t>Denied</a:t>
            </a:r>
            <a:endParaRPr sz="1000" dirty="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638800" y="1270000"/>
            <a:ext cx="1651000" cy="1397000"/>
            <a:chOff x="5638800" y="1270000"/>
            <a:chExt cx="1651000" cy="1397000"/>
          </a:xfrm>
        </p:grpSpPr>
        <p:sp>
          <p:nvSpPr>
            <p:cNvPr id="18" name="object 18"/>
            <p:cNvSpPr/>
            <p:nvPr/>
          </p:nvSpPr>
          <p:spPr>
            <a:xfrm>
              <a:off x="5638800" y="1270000"/>
              <a:ext cx="1651000" cy="1397000"/>
            </a:xfrm>
            <a:custGeom>
              <a:avLst/>
              <a:gdLst/>
              <a:ahLst/>
              <a:cxnLst/>
              <a:rect l="l" t="t" r="r" b="b"/>
              <a:pathLst>
                <a:path w="1651000" h="1397000">
                  <a:moveTo>
                    <a:pt x="1549400" y="0"/>
                  </a:moveTo>
                  <a:lnTo>
                    <a:pt x="101600" y="0"/>
                  </a:lnTo>
                  <a:lnTo>
                    <a:pt x="62030" y="7976"/>
                  </a:lnTo>
                  <a:lnTo>
                    <a:pt x="29738" y="29738"/>
                  </a:lnTo>
                  <a:lnTo>
                    <a:pt x="7976" y="62030"/>
                  </a:lnTo>
                  <a:lnTo>
                    <a:pt x="0" y="101600"/>
                  </a:lnTo>
                  <a:lnTo>
                    <a:pt x="0" y="1295400"/>
                  </a:lnTo>
                  <a:lnTo>
                    <a:pt x="7976" y="1334969"/>
                  </a:lnTo>
                  <a:lnTo>
                    <a:pt x="29738" y="1367261"/>
                  </a:lnTo>
                  <a:lnTo>
                    <a:pt x="62030" y="1389023"/>
                  </a:lnTo>
                  <a:lnTo>
                    <a:pt x="101600" y="1397000"/>
                  </a:lnTo>
                  <a:lnTo>
                    <a:pt x="1549400" y="1397000"/>
                  </a:lnTo>
                  <a:lnTo>
                    <a:pt x="1588969" y="1389023"/>
                  </a:lnTo>
                  <a:lnTo>
                    <a:pt x="1621261" y="1367261"/>
                  </a:lnTo>
                  <a:lnTo>
                    <a:pt x="1643023" y="1334969"/>
                  </a:lnTo>
                  <a:lnTo>
                    <a:pt x="1651000" y="1295400"/>
                  </a:lnTo>
                  <a:lnTo>
                    <a:pt x="1651000" y="101600"/>
                  </a:lnTo>
                  <a:lnTo>
                    <a:pt x="1643023" y="62030"/>
                  </a:lnTo>
                  <a:lnTo>
                    <a:pt x="1621261" y="29738"/>
                  </a:lnTo>
                  <a:lnTo>
                    <a:pt x="1588969" y="7976"/>
                  </a:lnTo>
                  <a:lnTo>
                    <a:pt x="1549400" y="0"/>
                  </a:lnTo>
                  <a:close/>
                </a:path>
              </a:pathLst>
            </a:custGeom>
            <a:solidFill>
              <a:srgbClr val="1A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638800" y="1270000"/>
              <a:ext cx="1651000" cy="25400"/>
            </a:xfrm>
            <a:custGeom>
              <a:avLst/>
              <a:gdLst/>
              <a:ahLst/>
              <a:cxnLst/>
              <a:rect l="l" t="t" r="r" b="b"/>
              <a:pathLst>
                <a:path w="1651000" h="25400">
                  <a:moveTo>
                    <a:pt x="165100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651000" y="25400"/>
                  </a:lnTo>
                  <a:lnTo>
                    <a:pt x="1651000" y="0"/>
                  </a:lnTo>
                  <a:close/>
                </a:path>
              </a:pathLst>
            </a:custGeom>
            <a:solidFill>
              <a:srgbClr val="EF52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988608" y="1524000"/>
            <a:ext cx="951865" cy="1129796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50"/>
              </a:spcBef>
            </a:pPr>
            <a:r>
              <a:rPr sz="3200" b="1" spc="-25" dirty="0">
                <a:solidFill>
                  <a:srgbClr val="EF524F"/>
                </a:solidFill>
                <a:latin typeface="Arial"/>
                <a:cs typeface="Arial"/>
              </a:rPr>
              <a:t>102</a:t>
            </a:r>
            <a:endParaRPr sz="32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1100" b="1" spc="-10" dirty="0">
                <a:solidFill>
                  <a:srgbClr val="E6F0FF"/>
                </a:solidFill>
                <a:latin typeface="Arial"/>
                <a:cs typeface="Arial"/>
              </a:rPr>
              <a:t>TERMINATED</a:t>
            </a:r>
            <a:endParaRPr sz="11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40"/>
              </a:spcBef>
            </a:pPr>
            <a:r>
              <a:rPr sz="1000" dirty="0">
                <a:solidFill>
                  <a:srgbClr val="8791AF"/>
                </a:solidFill>
                <a:latin typeface="Arial MT"/>
                <a:cs typeface="Arial MT"/>
              </a:rPr>
              <a:t>Withdrawn</a:t>
            </a:r>
            <a:r>
              <a:rPr sz="1000" spc="-2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8791AF"/>
                </a:solidFill>
                <a:latin typeface="Arial MT"/>
                <a:cs typeface="Arial MT"/>
              </a:rPr>
              <a:t>/</a:t>
            </a:r>
            <a:r>
              <a:rPr sz="1000" spc="-2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8791AF"/>
                </a:solidFill>
                <a:latin typeface="Arial MT"/>
                <a:cs typeface="Arial MT"/>
              </a:rPr>
              <a:t>rejected</a:t>
            </a:r>
            <a:endParaRPr sz="1000" dirty="0">
              <a:latin typeface="Arial MT"/>
              <a:cs typeface="Arial MT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57200" y="2870200"/>
            <a:ext cx="6858000" cy="0"/>
          </a:xfrm>
          <a:custGeom>
            <a:avLst/>
            <a:gdLst/>
            <a:ahLst/>
            <a:cxnLst/>
            <a:rect l="l" t="t" r="r" b="b"/>
            <a:pathLst>
              <a:path w="6858000">
                <a:moveTo>
                  <a:pt x="0" y="0"/>
                </a:moveTo>
                <a:lnTo>
                  <a:pt x="6858000" y="0"/>
                </a:lnTo>
              </a:path>
            </a:pathLst>
          </a:custGeom>
          <a:ln w="6350">
            <a:solidFill>
              <a:srgbClr val="1D3A5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444500" y="2971800"/>
            <a:ext cx="335534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E6F0FF"/>
                </a:solidFill>
                <a:latin typeface="Arial"/>
                <a:cs typeface="Arial"/>
              </a:rPr>
              <a:t>Data</a:t>
            </a:r>
            <a:r>
              <a:rPr sz="1400" b="1" spc="-35" dirty="0">
                <a:solidFill>
                  <a:srgbClr val="E6F0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E6F0FF"/>
                </a:solidFill>
                <a:latin typeface="Arial"/>
                <a:cs typeface="Arial"/>
              </a:rPr>
              <a:t>quality</a:t>
            </a:r>
            <a:r>
              <a:rPr sz="1400" b="1" spc="-40" dirty="0">
                <a:solidFill>
                  <a:srgbClr val="E6F0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E6F0FF"/>
                </a:solidFill>
                <a:latin typeface="Arial"/>
                <a:cs typeface="Arial"/>
              </a:rPr>
              <a:t>score</a:t>
            </a:r>
            <a:r>
              <a:rPr sz="1400" b="1" spc="-35" dirty="0">
                <a:solidFill>
                  <a:srgbClr val="E6F0F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E6F0FF"/>
                </a:solidFill>
                <a:latin typeface="Arial"/>
                <a:cs typeface="Arial"/>
              </a:rPr>
              <a:t>distribution</a:t>
            </a:r>
            <a:endParaRPr sz="1400" dirty="0">
              <a:latin typeface="Arial"/>
              <a:cs typeface="Arial"/>
            </a:endParaRPr>
          </a:p>
        </p:txBody>
      </p:sp>
      <p:graphicFrame>
        <p:nvGraphicFramePr>
          <p:cNvPr id="23" name="object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8012154"/>
              </p:ext>
            </p:extLst>
          </p:nvPr>
        </p:nvGraphicFramePr>
        <p:xfrm>
          <a:off x="425450" y="3304540"/>
          <a:ext cx="6889114" cy="3437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3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944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15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31750">
                        <a:lnSpc>
                          <a:spcPts val="2430"/>
                        </a:lnSpc>
                      </a:pPr>
                      <a:r>
                        <a:rPr sz="2200" b="1" spc="-25" dirty="0">
                          <a:solidFill>
                            <a:srgbClr val="66BA69"/>
                          </a:solidFill>
                          <a:latin typeface="Arial"/>
                          <a:cs typeface="Arial"/>
                        </a:rPr>
                        <a:t>755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200" dirty="0">
                          <a:solidFill>
                            <a:srgbClr val="8791AF"/>
                          </a:solidFill>
                          <a:latin typeface="Arial MT"/>
                          <a:cs typeface="Arial MT"/>
                        </a:rPr>
                        <a:t>Good</a:t>
                      </a:r>
                      <a:r>
                        <a:rPr sz="1200" spc="300" dirty="0">
                          <a:solidFill>
                            <a:srgbClr val="8791A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solidFill>
                            <a:srgbClr val="8791AF"/>
                          </a:solidFill>
                          <a:latin typeface="Arial MT"/>
                          <a:cs typeface="Arial MT"/>
                        </a:rPr>
                        <a:t>(score </a:t>
                      </a:r>
                      <a:r>
                        <a:rPr sz="1200" spc="-10" dirty="0">
                          <a:solidFill>
                            <a:srgbClr val="8791AF"/>
                          </a:solidFill>
                          <a:latin typeface="Arial MT"/>
                          <a:cs typeface="Arial MT"/>
                        </a:rPr>
                        <a:t>76–100)</a:t>
                      </a:r>
                      <a:endParaRPr sz="1200" dirty="0">
                        <a:latin typeface="Arial MT"/>
                        <a:cs typeface="Arial MT"/>
                      </a:endParaRPr>
                    </a:p>
                  </a:txBody>
                  <a:tcPr marL="0" marR="0" marT="8763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200" b="1" spc="-25" dirty="0">
                          <a:solidFill>
                            <a:srgbClr val="F9A824"/>
                          </a:solidFill>
                          <a:latin typeface="Arial"/>
                          <a:cs typeface="Arial"/>
                        </a:rPr>
                        <a:t>807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33020" marB="0"/>
                </a:tc>
                <a:tc gridSpan="2"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1160"/>
                        </a:spcBef>
                      </a:pPr>
                      <a:r>
                        <a:rPr sz="1200" dirty="0">
                          <a:solidFill>
                            <a:srgbClr val="8791AF"/>
                          </a:solidFill>
                          <a:latin typeface="Arial MT"/>
                          <a:cs typeface="Arial MT"/>
                        </a:rPr>
                        <a:t>Fair</a:t>
                      </a:r>
                      <a:r>
                        <a:rPr sz="1200" spc="285" dirty="0">
                          <a:solidFill>
                            <a:srgbClr val="8791A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solidFill>
                            <a:srgbClr val="8791AF"/>
                          </a:solidFill>
                          <a:latin typeface="Arial MT"/>
                          <a:cs typeface="Arial MT"/>
                        </a:rPr>
                        <a:t>(score</a:t>
                      </a:r>
                      <a:r>
                        <a:rPr sz="1200" spc="-5" dirty="0">
                          <a:solidFill>
                            <a:srgbClr val="8791A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solidFill>
                            <a:srgbClr val="8791AF"/>
                          </a:solidFill>
                          <a:latin typeface="Arial MT"/>
                          <a:cs typeface="Arial MT"/>
                        </a:rPr>
                        <a:t>51–75)</a:t>
                      </a:r>
                      <a:endParaRPr sz="1200" dirty="0">
                        <a:latin typeface="Arial MT"/>
                        <a:cs typeface="Arial MT"/>
                      </a:endParaRPr>
                    </a:p>
                  </a:txBody>
                  <a:tcPr marL="0" marR="0" marT="14732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182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200" b="1" spc="-25" dirty="0">
                          <a:solidFill>
                            <a:srgbClr val="EF524F"/>
                          </a:solidFill>
                          <a:latin typeface="Arial"/>
                          <a:cs typeface="Arial"/>
                        </a:rPr>
                        <a:t>138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33020" marB="0"/>
                </a:tc>
                <a:tc gridSpan="2"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1160"/>
                        </a:spcBef>
                      </a:pPr>
                      <a:r>
                        <a:rPr sz="1200" dirty="0">
                          <a:solidFill>
                            <a:srgbClr val="8791AF"/>
                          </a:solidFill>
                          <a:latin typeface="Arial MT"/>
                          <a:cs typeface="Arial MT"/>
                        </a:rPr>
                        <a:t>Poor</a:t>
                      </a:r>
                      <a:r>
                        <a:rPr sz="1200" spc="-15" dirty="0">
                          <a:solidFill>
                            <a:srgbClr val="8791A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solidFill>
                            <a:srgbClr val="8791AF"/>
                          </a:solidFill>
                          <a:latin typeface="Arial MT"/>
                          <a:cs typeface="Arial MT"/>
                        </a:rPr>
                        <a:t>/</a:t>
                      </a:r>
                      <a:r>
                        <a:rPr sz="1200" spc="-10" dirty="0">
                          <a:solidFill>
                            <a:srgbClr val="8791A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solidFill>
                            <a:srgbClr val="8791AF"/>
                          </a:solidFill>
                          <a:latin typeface="Arial MT"/>
                          <a:cs typeface="Arial MT"/>
                        </a:rPr>
                        <a:t>Critical</a:t>
                      </a:r>
                      <a:r>
                        <a:rPr sz="1200" spc="280" dirty="0">
                          <a:solidFill>
                            <a:srgbClr val="8791A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solidFill>
                            <a:srgbClr val="8791AF"/>
                          </a:solidFill>
                          <a:latin typeface="Arial MT"/>
                          <a:cs typeface="Arial MT"/>
                        </a:rPr>
                        <a:t>(score</a:t>
                      </a:r>
                      <a:r>
                        <a:rPr sz="1200" spc="-10" dirty="0">
                          <a:solidFill>
                            <a:srgbClr val="8791AF"/>
                          </a:solidFill>
                          <a:latin typeface="Arial MT"/>
                          <a:cs typeface="Arial MT"/>
                        </a:rPr>
                        <a:t> 0–50)</a:t>
                      </a:r>
                      <a:endParaRPr sz="1200" dirty="0">
                        <a:latin typeface="Arial MT"/>
                        <a:cs typeface="Arial MT"/>
                      </a:endParaRPr>
                    </a:p>
                  </a:txBody>
                  <a:tcPr marL="0" marR="0" marT="14732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 gridSpan="2">
                  <a:txBody>
                    <a:bodyPr/>
                    <a:lstStyle/>
                    <a:p>
                      <a:pPr marL="31750">
                        <a:lnSpc>
                          <a:spcPts val="1000"/>
                        </a:lnSpc>
                        <a:spcBef>
                          <a:spcPts val="700"/>
                        </a:spcBef>
                      </a:pPr>
                      <a:r>
                        <a:rPr sz="1200" b="1" dirty="0">
                          <a:solidFill>
                            <a:srgbClr val="E6F0FF"/>
                          </a:solidFill>
                          <a:latin typeface="Arial"/>
                          <a:cs typeface="Arial"/>
                        </a:rPr>
                        <a:t>Quality score (0–100): field completeness </a:t>
                      </a:r>
                      <a:r>
                        <a:rPr sz="1200" b="1" spc="-10" dirty="0">
                          <a:solidFill>
                            <a:srgbClr val="E6F0FF"/>
                          </a:solidFill>
                          <a:latin typeface="Arial"/>
                          <a:cs typeface="Arial"/>
                        </a:rPr>
                        <a:t>weights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8890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1D3A5E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5895">
                <a:tc gridSpan="2"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100" spc="-10" dirty="0">
                          <a:solidFill>
                            <a:srgbClr val="00D4AA"/>
                          </a:solidFill>
                          <a:latin typeface="Arial MT"/>
                          <a:cs typeface="Arial MT"/>
                        </a:rPr>
                        <a:t>Methodology</a:t>
                      </a:r>
                      <a:endParaRPr sz="1100" dirty="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solidFill>
                      <a:srgbClr val="0C1F3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954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100" b="1" dirty="0">
                          <a:solidFill>
                            <a:srgbClr val="00D4AA"/>
                          </a:solidFill>
                          <a:latin typeface="Arial"/>
                          <a:cs typeface="Arial"/>
                        </a:rPr>
                        <a:t>20 </a:t>
                      </a:r>
                      <a:r>
                        <a:rPr sz="1100" b="1" spc="-25" dirty="0">
                          <a:solidFill>
                            <a:srgbClr val="00D4AA"/>
                          </a:solidFill>
                          <a:latin typeface="Arial"/>
                          <a:cs typeface="Arial"/>
                        </a:rPr>
                        <a:t>pts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solidFill>
                      <a:srgbClr val="0C1F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 gridSpan="2"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100" dirty="0">
                          <a:solidFill>
                            <a:srgbClr val="00D4AA"/>
                          </a:solidFill>
                          <a:latin typeface="Arial MT"/>
                          <a:cs typeface="Arial MT"/>
                        </a:rPr>
                        <a:t>Registration </a:t>
                      </a:r>
                      <a:r>
                        <a:rPr sz="1100" spc="-20" dirty="0">
                          <a:solidFill>
                            <a:srgbClr val="00D4AA"/>
                          </a:solidFill>
                          <a:latin typeface="Arial MT"/>
                          <a:cs typeface="Arial MT"/>
                        </a:rPr>
                        <a:t>Date</a:t>
                      </a:r>
                      <a:endParaRPr sz="1100" dirty="0">
                        <a:latin typeface="Arial MT"/>
                        <a:cs typeface="Arial MT"/>
                      </a:endParaRPr>
                    </a:p>
                  </a:txBody>
                  <a:tcPr marL="0" marR="0" marT="13970" marB="0">
                    <a:solidFill>
                      <a:srgbClr val="1121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9545" algn="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100" b="1" dirty="0">
                          <a:solidFill>
                            <a:srgbClr val="00D4AA"/>
                          </a:solidFill>
                          <a:latin typeface="Arial"/>
                          <a:cs typeface="Arial"/>
                        </a:rPr>
                        <a:t>15 </a:t>
                      </a:r>
                      <a:r>
                        <a:rPr sz="1100" b="1" spc="-25" dirty="0">
                          <a:solidFill>
                            <a:srgbClr val="00D4AA"/>
                          </a:solidFill>
                          <a:latin typeface="Arial"/>
                          <a:cs typeface="Arial"/>
                        </a:rPr>
                        <a:t>pts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3970" marB="0">
                    <a:solidFill>
                      <a:srgbClr val="1121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7800">
                <a:tc gridSpan="2"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100" dirty="0">
                          <a:solidFill>
                            <a:srgbClr val="00D4AA"/>
                          </a:solidFill>
                          <a:latin typeface="Arial MT"/>
                          <a:cs typeface="Arial MT"/>
                        </a:rPr>
                        <a:t>Crediting Period Start </a:t>
                      </a:r>
                      <a:r>
                        <a:rPr sz="1100" spc="-20" dirty="0">
                          <a:solidFill>
                            <a:srgbClr val="00D4AA"/>
                          </a:solidFill>
                          <a:latin typeface="Arial MT"/>
                          <a:cs typeface="Arial MT"/>
                        </a:rPr>
                        <a:t>Date</a:t>
                      </a:r>
                      <a:endParaRPr sz="1100" dirty="0">
                        <a:latin typeface="Arial MT"/>
                        <a:cs typeface="Arial MT"/>
                      </a:endParaRPr>
                    </a:p>
                  </a:txBody>
                  <a:tcPr marL="0" marR="0" marT="13970" marB="0">
                    <a:solidFill>
                      <a:srgbClr val="0C1F3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9545" algn="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100" b="1" dirty="0">
                          <a:solidFill>
                            <a:srgbClr val="00D4AA"/>
                          </a:solidFill>
                          <a:latin typeface="Arial"/>
                          <a:cs typeface="Arial"/>
                        </a:rPr>
                        <a:t>15 </a:t>
                      </a:r>
                      <a:r>
                        <a:rPr sz="1100" b="1" spc="-25" dirty="0">
                          <a:solidFill>
                            <a:srgbClr val="00D4AA"/>
                          </a:solidFill>
                          <a:latin typeface="Arial"/>
                          <a:cs typeface="Arial"/>
                        </a:rPr>
                        <a:t>pts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3970" marB="0">
                    <a:solidFill>
                      <a:srgbClr val="0C1F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7800">
                <a:tc gridSpan="2"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100" dirty="0">
                          <a:solidFill>
                            <a:srgbClr val="00D4AA"/>
                          </a:solidFill>
                          <a:latin typeface="Arial MT"/>
                          <a:cs typeface="Arial MT"/>
                        </a:rPr>
                        <a:t>Crediting Period End </a:t>
                      </a:r>
                      <a:r>
                        <a:rPr sz="1100" spc="-20" dirty="0">
                          <a:solidFill>
                            <a:srgbClr val="00D4AA"/>
                          </a:solidFill>
                          <a:latin typeface="Arial MT"/>
                          <a:cs typeface="Arial MT"/>
                        </a:rPr>
                        <a:t>Date</a:t>
                      </a:r>
                      <a:endParaRPr sz="1100" dirty="0">
                        <a:latin typeface="Arial MT"/>
                        <a:cs typeface="Arial MT"/>
                      </a:endParaRPr>
                    </a:p>
                  </a:txBody>
                  <a:tcPr marL="0" marR="0" marT="13970" marB="0">
                    <a:solidFill>
                      <a:srgbClr val="1121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9545" algn="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100" b="1" dirty="0">
                          <a:solidFill>
                            <a:srgbClr val="00D4AA"/>
                          </a:solidFill>
                          <a:latin typeface="Arial"/>
                          <a:cs typeface="Arial"/>
                        </a:rPr>
                        <a:t>15 </a:t>
                      </a:r>
                      <a:r>
                        <a:rPr sz="1100" b="1" spc="-25" dirty="0">
                          <a:solidFill>
                            <a:srgbClr val="00D4AA"/>
                          </a:solidFill>
                          <a:latin typeface="Arial"/>
                          <a:cs typeface="Arial"/>
                        </a:rPr>
                        <a:t>pts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3970" marB="0">
                    <a:solidFill>
                      <a:srgbClr val="1121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7800">
                <a:tc gridSpan="2"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100" spc="-10" dirty="0">
                          <a:solidFill>
                            <a:srgbClr val="E6F0FF"/>
                          </a:solidFill>
                          <a:latin typeface="Arial MT"/>
                          <a:cs typeface="Arial MT"/>
                        </a:rPr>
                        <a:t>Region</a:t>
                      </a:r>
                      <a:endParaRPr sz="1100" dirty="0">
                        <a:latin typeface="Arial MT"/>
                        <a:cs typeface="Arial MT"/>
                      </a:endParaRPr>
                    </a:p>
                  </a:txBody>
                  <a:tcPr marL="0" marR="0" marT="13970" marB="0">
                    <a:solidFill>
                      <a:srgbClr val="0C1F3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9545" algn="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100" b="1" dirty="0">
                          <a:solidFill>
                            <a:srgbClr val="E6F0FF"/>
                          </a:solidFill>
                          <a:latin typeface="Arial"/>
                          <a:cs typeface="Arial"/>
                        </a:rPr>
                        <a:t>10 </a:t>
                      </a:r>
                      <a:r>
                        <a:rPr sz="1100" b="1" spc="-25" dirty="0">
                          <a:solidFill>
                            <a:srgbClr val="E6F0FF"/>
                          </a:solidFill>
                          <a:latin typeface="Arial"/>
                          <a:cs typeface="Arial"/>
                        </a:rPr>
                        <a:t>pts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3970" marB="0">
                    <a:solidFill>
                      <a:srgbClr val="0C1F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7800">
                <a:tc gridSpan="2"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100" dirty="0">
                          <a:solidFill>
                            <a:srgbClr val="E6F0FF"/>
                          </a:solidFill>
                          <a:latin typeface="Arial MT"/>
                          <a:cs typeface="Arial MT"/>
                        </a:rPr>
                        <a:t>Estimated </a:t>
                      </a:r>
                      <a:r>
                        <a:rPr sz="1100" spc="-10" dirty="0">
                          <a:solidFill>
                            <a:srgbClr val="E6F0FF"/>
                          </a:solidFill>
                          <a:latin typeface="Arial MT"/>
                          <a:cs typeface="Arial MT"/>
                        </a:rPr>
                        <a:t>Emissions</a:t>
                      </a:r>
                      <a:endParaRPr sz="1100" dirty="0">
                        <a:latin typeface="Arial MT"/>
                        <a:cs typeface="Arial MT"/>
                      </a:endParaRPr>
                    </a:p>
                  </a:txBody>
                  <a:tcPr marL="0" marR="0" marT="13970" marB="0">
                    <a:solidFill>
                      <a:srgbClr val="1121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9545" algn="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100" b="1" dirty="0">
                          <a:solidFill>
                            <a:srgbClr val="E6F0FF"/>
                          </a:solidFill>
                          <a:latin typeface="Arial"/>
                          <a:cs typeface="Arial"/>
                        </a:rPr>
                        <a:t>10 </a:t>
                      </a:r>
                      <a:r>
                        <a:rPr sz="1100" b="1" spc="-25" dirty="0">
                          <a:solidFill>
                            <a:srgbClr val="E6F0FF"/>
                          </a:solidFill>
                          <a:latin typeface="Arial"/>
                          <a:cs typeface="Arial"/>
                        </a:rPr>
                        <a:t>pts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3970" marB="0">
                    <a:solidFill>
                      <a:srgbClr val="1121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7800">
                <a:tc gridSpan="2"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100" dirty="0">
                          <a:solidFill>
                            <a:srgbClr val="E6F0FF"/>
                          </a:solidFill>
                          <a:latin typeface="Arial MT"/>
                          <a:cs typeface="Arial MT"/>
                        </a:rPr>
                        <a:t>Project </a:t>
                      </a:r>
                      <a:r>
                        <a:rPr sz="1100" spc="-20" dirty="0">
                          <a:solidFill>
                            <a:srgbClr val="E6F0FF"/>
                          </a:solidFill>
                          <a:latin typeface="Arial MT"/>
                          <a:cs typeface="Arial MT"/>
                        </a:rPr>
                        <a:t>Name</a:t>
                      </a:r>
                      <a:endParaRPr sz="1100" dirty="0">
                        <a:latin typeface="Arial MT"/>
                        <a:cs typeface="Arial MT"/>
                      </a:endParaRPr>
                    </a:p>
                  </a:txBody>
                  <a:tcPr marL="0" marR="0" marT="13970" marB="0">
                    <a:solidFill>
                      <a:srgbClr val="0C1F3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180" algn="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100" b="1" dirty="0">
                          <a:solidFill>
                            <a:srgbClr val="E6F0FF"/>
                          </a:solidFill>
                          <a:latin typeface="Arial"/>
                          <a:cs typeface="Arial"/>
                        </a:rPr>
                        <a:t>5 </a:t>
                      </a:r>
                      <a:r>
                        <a:rPr sz="1100" b="1" spc="-25" dirty="0">
                          <a:solidFill>
                            <a:srgbClr val="E6F0FF"/>
                          </a:solidFill>
                          <a:latin typeface="Arial"/>
                          <a:cs typeface="Arial"/>
                        </a:rPr>
                        <a:t>pts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3970" marB="0">
                    <a:solidFill>
                      <a:srgbClr val="0C1F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7800">
                <a:tc gridSpan="2"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100" spc="-10" dirty="0">
                          <a:solidFill>
                            <a:srgbClr val="E6F0FF"/>
                          </a:solidFill>
                          <a:latin typeface="Arial MT"/>
                          <a:cs typeface="Arial MT"/>
                        </a:rPr>
                        <a:t>Proponent</a:t>
                      </a:r>
                      <a:endParaRPr sz="1100" dirty="0">
                        <a:latin typeface="Arial MT"/>
                        <a:cs typeface="Arial MT"/>
                      </a:endParaRPr>
                    </a:p>
                  </a:txBody>
                  <a:tcPr marL="0" marR="0" marT="13970" marB="0">
                    <a:solidFill>
                      <a:srgbClr val="1121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180" algn="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100" b="1" dirty="0">
                          <a:solidFill>
                            <a:srgbClr val="E6F0FF"/>
                          </a:solidFill>
                          <a:latin typeface="Arial"/>
                          <a:cs typeface="Arial"/>
                        </a:rPr>
                        <a:t>5 </a:t>
                      </a:r>
                      <a:r>
                        <a:rPr sz="1100" b="1" spc="-25" dirty="0">
                          <a:solidFill>
                            <a:srgbClr val="E6F0FF"/>
                          </a:solidFill>
                          <a:latin typeface="Arial"/>
                          <a:cs typeface="Arial"/>
                        </a:rPr>
                        <a:t>pts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3970" marB="0">
                    <a:solidFill>
                      <a:srgbClr val="1121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9070">
                <a:tc gridSpan="2"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100" dirty="0">
                          <a:solidFill>
                            <a:srgbClr val="66BA69"/>
                          </a:solidFill>
                          <a:latin typeface="Arial MT"/>
                          <a:cs typeface="Arial MT"/>
                        </a:rPr>
                        <a:t>Valid Date Order </a:t>
                      </a:r>
                      <a:r>
                        <a:rPr sz="1100" spc="-10" dirty="0">
                          <a:solidFill>
                            <a:srgbClr val="66BA69"/>
                          </a:solidFill>
                          <a:latin typeface="Arial MT"/>
                          <a:cs typeface="Arial MT"/>
                        </a:rPr>
                        <a:t>(bonus)</a:t>
                      </a:r>
                      <a:endParaRPr sz="1100" dirty="0">
                        <a:latin typeface="Arial MT"/>
                        <a:cs typeface="Arial MT"/>
                      </a:endParaRPr>
                    </a:p>
                  </a:txBody>
                  <a:tcPr marL="0" marR="0" marT="13970" marB="0">
                    <a:solidFill>
                      <a:srgbClr val="0C1F3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180" algn="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100" b="1" dirty="0">
                          <a:solidFill>
                            <a:srgbClr val="66BA69"/>
                          </a:solidFill>
                          <a:latin typeface="Arial"/>
                          <a:cs typeface="Arial"/>
                        </a:rPr>
                        <a:t>+5 </a:t>
                      </a:r>
                      <a:r>
                        <a:rPr sz="1100" b="1" spc="-25" dirty="0">
                          <a:solidFill>
                            <a:srgbClr val="66BA69"/>
                          </a:solidFill>
                          <a:latin typeface="Arial"/>
                          <a:cs typeface="Arial"/>
                        </a:rPr>
                        <a:t>pts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3970" marB="0">
                    <a:solidFill>
                      <a:srgbClr val="0C1F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7800">
                <a:tc gridSpan="2"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100" b="1" dirty="0">
                          <a:solidFill>
                            <a:srgbClr val="00D4AA"/>
                          </a:solidFill>
                          <a:latin typeface="Arial"/>
                          <a:cs typeface="Arial"/>
                        </a:rPr>
                        <a:t>Maximum </a:t>
                      </a:r>
                      <a:r>
                        <a:rPr sz="1100" b="1" spc="-10" dirty="0">
                          <a:solidFill>
                            <a:srgbClr val="00D4AA"/>
                          </a:solidFill>
                          <a:latin typeface="Arial"/>
                          <a:cs typeface="Arial"/>
                        </a:rPr>
                        <a:t>score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solidFill>
                      <a:srgbClr val="1D3A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954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100" b="1" dirty="0">
                          <a:solidFill>
                            <a:srgbClr val="00D4AA"/>
                          </a:solidFill>
                          <a:latin typeface="Arial"/>
                          <a:cs typeface="Arial"/>
                        </a:rPr>
                        <a:t>100 </a:t>
                      </a:r>
                      <a:r>
                        <a:rPr sz="1100" b="1" spc="-25" dirty="0">
                          <a:solidFill>
                            <a:srgbClr val="00D4AA"/>
                          </a:solidFill>
                          <a:latin typeface="Arial"/>
                          <a:cs typeface="Arial"/>
                        </a:rPr>
                        <a:t>pts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solidFill>
                      <a:srgbClr val="1D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pSp>
        <p:nvGrpSpPr>
          <p:cNvPr id="24" name="object 24"/>
          <p:cNvGrpSpPr/>
          <p:nvPr/>
        </p:nvGrpSpPr>
        <p:grpSpPr>
          <a:xfrm>
            <a:off x="1193800" y="3581400"/>
            <a:ext cx="5867400" cy="76200"/>
            <a:chOff x="1193800" y="3479800"/>
            <a:chExt cx="5867400" cy="76200"/>
          </a:xfrm>
        </p:grpSpPr>
        <p:sp>
          <p:nvSpPr>
            <p:cNvPr id="25" name="object 25"/>
            <p:cNvSpPr/>
            <p:nvPr/>
          </p:nvSpPr>
          <p:spPr>
            <a:xfrm>
              <a:off x="1193800" y="3479800"/>
              <a:ext cx="5867400" cy="76200"/>
            </a:xfrm>
            <a:custGeom>
              <a:avLst/>
              <a:gdLst/>
              <a:ahLst/>
              <a:cxnLst/>
              <a:rect l="l" t="t" r="r" b="b"/>
              <a:pathLst>
                <a:path w="5867400" h="76200">
                  <a:moveTo>
                    <a:pt x="5829300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2991" y="52938"/>
                  </a:lnTo>
                  <a:lnTo>
                    <a:pt x="11151" y="65048"/>
                  </a:lnTo>
                  <a:lnTo>
                    <a:pt x="23261" y="73208"/>
                  </a:lnTo>
                  <a:lnTo>
                    <a:pt x="38100" y="76200"/>
                  </a:lnTo>
                  <a:lnTo>
                    <a:pt x="5829300" y="76200"/>
                  </a:lnTo>
                  <a:lnTo>
                    <a:pt x="5844138" y="73208"/>
                  </a:lnTo>
                  <a:lnTo>
                    <a:pt x="5856248" y="65048"/>
                  </a:lnTo>
                  <a:lnTo>
                    <a:pt x="5864408" y="52938"/>
                  </a:lnTo>
                  <a:lnTo>
                    <a:pt x="5867400" y="38100"/>
                  </a:lnTo>
                  <a:lnTo>
                    <a:pt x="5864408" y="23261"/>
                  </a:lnTo>
                  <a:lnTo>
                    <a:pt x="5856248" y="11151"/>
                  </a:lnTo>
                  <a:lnTo>
                    <a:pt x="5844138" y="2991"/>
                  </a:lnTo>
                  <a:lnTo>
                    <a:pt x="5829300" y="0"/>
                  </a:lnTo>
                  <a:close/>
                </a:path>
              </a:pathLst>
            </a:custGeom>
            <a:solidFill>
              <a:srgbClr val="1D3A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193800" y="3479800"/>
              <a:ext cx="2606040" cy="76200"/>
            </a:xfrm>
            <a:custGeom>
              <a:avLst/>
              <a:gdLst/>
              <a:ahLst/>
              <a:cxnLst/>
              <a:rect l="l" t="t" r="r" b="b"/>
              <a:pathLst>
                <a:path w="2606040" h="76200">
                  <a:moveTo>
                    <a:pt x="2567716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2991" y="52938"/>
                  </a:lnTo>
                  <a:lnTo>
                    <a:pt x="11151" y="65048"/>
                  </a:lnTo>
                  <a:lnTo>
                    <a:pt x="23261" y="73208"/>
                  </a:lnTo>
                  <a:lnTo>
                    <a:pt x="38100" y="76200"/>
                  </a:lnTo>
                  <a:lnTo>
                    <a:pt x="2567716" y="76200"/>
                  </a:lnTo>
                  <a:lnTo>
                    <a:pt x="2582555" y="73208"/>
                  </a:lnTo>
                  <a:lnTo>
                    <a:pt x="2594664" y="65048"/>
                  </a:lnTo>
                  <a:lnTo>
                    <a:pt x="2602825" y="52938"/>
                  </a:lnTo>
                  <a:lnTo>
                    <a:pt x="2605816" y="38100"/>
                  </a:lnTo>
                  <a:lnTo>
                    <a:pt x="2602825" y="23261"/>
                  </a:lnTo>
                  <a:lnTo>
                    <a:pt x="2594664" y="11151"/>
                  </a:lnTo>
                  <a:lnTo>
                    <a:pt x="2582555" y="2991"/>
                  </a:lnTo>
                  <a:lnTo>
                    <a:pt x="2567716" y="0"/>
                  </a:lnTo>
                  <a:close/>
                </a:path>
              </a:pathLst>
            </a:custGeom>
            <a:solidFill>
              <a:srgbClr val="66BA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1193800" y="4013200"/>
            <a:ext cx="5867400" cy="76200"/>
            <a:chOff x="1193800" y="3911600"/>
            <a:chExt cx="5867400" cy="76200"/>
          </a:xfrm>
        </p:grpSpPr>
        <p:sp>
          <p:nvSpPr>
            <p:cNvPr id="28" name="object 28"/>
            <p:cNvSpPr/>
            <p:nvPr/>
          </p:nvSpPr>
          <p:spPr>
            <a:xfrm>
              <a:off x="1193800" y="3911600"/>
              <a:ext cx="5867400" cy="76200"/>
            </a:xfrm>
            <a:custGeom>
              <a:avLst/>
              <a:gdLst/>
              <a:ahLst/>
              <a:cxnLst/>
              <a:rect l="l" t="t" r="r" b="b"/>
              <a:pathLst>
                <a:path w="5867400" h="76200">
                  <a:moveTo>
                    <a:pt x="5829300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2991" y="52938"/>
                  </a:lnTo>
                  <a:lnTo>
                    <a:pt x="11151" y="65048"/>
                  </a:lnTo>
                  <a:lnTo>
                    <a:pt x="23261" y="73208"/>
                  </a:lnTo>
                  <a:lnTo>
                    <a:pt x="38100" y="76200"/>
                  </a:lnTo>
                  <a:lnTo>
                    <a:pt x="5829300" y="76200"/>
                  </a:lnTo>
                  <a:lnTo>
                    <a:pt x="5844138" y="73208"/>
                  </a:lnTo>
                  <a:lnTo>
                    <a:pt x="5856248" y="65048"/>
                  </a:lnTo>
                  <a:lnTo>
                    <a:pt x="5864408" y="52938"/>
                  </a:lnTo>
                  <a:lnTo>
                    <a:pt x="5867400" y="38100"/>
                  </a:lnTo>
                  <a:lnTo>
                    <a:pt x="5864408" y="23261"/>
                  </a:lnTo>
                  <a:lnTo>
                    <a:pt x="5856248" y="11151"/>
                  </a:lnTo>
                  <a:lnTo>
                    <a:pt x="5844138" y="2991"/>
                  </a:lnTo>
                  <a:lnTo>
                    <a:pt x="5829300" y="0"/>
                  </a:lnTo>
                  <a:close/>
                </a:path>
              </a:pathLst>
            </a:custGeom>
            <a:solidFill>
              <a:srgbClr val="1D3A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193800" y="3911600"/>
              <a:ext cx="2785745" cy="76200"/>
            </a:xfrm>
            <a:custGeom>
              <a:avLst/>
              <a:gdLst/>
              <a:ahLst/>
              <a:cxnLst/>
              <a:rect l="l" t="t" r="r" b="b"/>
              <a:pathLst>
                <a:path w="2785745" h="76200">
                  <a:moveTo>
                    <a:pt x="274718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2991" y="52938"/>
                  </a:lnTo>
                  <a:lnTo>
                    <a:pt x="11151" y="65048"/>
                  </a:lnTo>
                  <a:lnTo>
                    <a:pt x="23261" y="73208"/>
                  </a:lnTo>
                  <a:lnTo>
                    <a:pt x="38100" y="76200"/>
                  </a:lnTo>
                  <a:lnTo>
                    <a:pt x="2747189" y="76200"/>
                  </a:lnTo>
                  <a:lnTo>
                    <a:pt x="2762027" y="73208"/>
                  </a:lnTo>
                  <a:lnTo>
                    <a:pt x="2774137" y="65048"/>
                  </a:lnTo>
                  <a:lnTo>
                    <a:pt x="2782297" y="52938"/>
                  </a:lnTo>
                  <a:lnTo>
                    <a:pt x="2785289" y="38100"/>
                  </a:lnTo>
                  <a:lnTo>
                    <a:pt x="2782297" y="23261"/>
                  </a:lnTo>
                  <a:lnTo>
                    <a:pt x="2774137" y="11151"/>
                  </a:lnTo>
                  <a:lnTo>
                    <a:pt x="2762027" y="2991"/>
                  </a:lnTo>
                  <a:lnTo>
                    <a:pt x="2747189" y="0"/>
                  </a:lnTo>
                  <a:close/>
                </a:path>
              </a:pathLst>
            </a:custGeom>
            <a:solidFill>
              <a:srgbClr val="F9A8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1193800" y="4445000"/>
            <a:ext cx="5867400" cy="76200"/>
            <a:chOff x="1193800" y="4343400"/>
            <a:chExt cx="5867400" cy="76200"/>
          </a:xfrm>
        </p:grpSpPr>
        <p:sp>
          <p:nvSpPr>
            <p:cNvPr id="31" name="object 31"/>
            <p:cNvSpPr/>
            <p:nvPr/>
          </p:nvSpPr>
          <p:spPr>
            <a:xfrm>
              <a:off x="1193800" y="4343400"/>
              <a:ext cx="5867400" cy="76200"/>
            </a:xfrm>
            <a:custGeom>
              <a:avLst/>
              <a:gdLst/>
              <a:ahLst/>
              <a:cxnLst/>
              <a:rect l="l" t="t" r="r" b="b"/>
              <a:pathLst>
                <a:path w="5867400" h="76200">
                  <a:moveTo>
                    <a:pt x="5829300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2991" y="52938"/>
                  </a:lnTo>
                  <a:lnTo>
                    <a:pt x="11151" y="65048"/>
                  </a:lnTo>
                  <a:lnTo>
                    <a:pt x="23261" y="73208"/>
                  </a:lnTo>
                  <a:lnTo>
                    <a:pt x="38100" y="76200"/>
                  </a:lnTo>
                  <a:lnTo>
                    <a:pt x="5829300" y="76200"/>
                  </a:lnTo>
                  <a:lnTo>
                    <a:pt x="5844138" y="73208"/>
                  </a:lnTo>
                  <a:lnTo>
                    <a:pt x="5856248" y="65048"/>
                  </a:lnTo>
                  <a:lnTo>
                    <a:pt x="5864408" y="52938"/>
                  </a:lnTo>
                  <a:lnTo>
                    <a:pt x="5867400" y="38100"/>
                  </a:lnTo>
                  <a:lnTo>
                    <a:pt x="5864408" y="23261"/>
                  </a:lnTo>
                  <a:lnTo>
                    <a:pt x="5856248" y="11151"/>
                  </a:lnTo>
                  <a:lnTo>
                    <a:pt x="5844138" y="2991"/>
                  </a:lnTo>
                  <a:lnTo>
                    <a:pt x="5829300" y="0"/>
                  </a:lnTo>
                  <a:close/>
                </a:path>
              </a:pathLst>
            </a:custGeom>
            <a:solidFill>
              <a:srgbClr val="1D3A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193800" y="4343400"/>
              <a:ext cx="476884" cy="76200"/>
            </a:xfrm>
            <a:custGeom>
              <a:avLst/>
              <a:gdLst/>
              <a:ahLst/>
              <a:cxnLst/>
              <a:rect l="l" t="t" r="r" b="b"/>
              <a:pathLst>
                <a:path w="476885" h="76200">
                  <a:moveTo>
                    <a:pt x="438194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2991" y="52938"/>
                  </a:lnTo>
                  <a:lnTo>
                    <a:pt x="11151" y="65048"/>
                  </a:lnTo>
                  <a:lnTo>
                    <a:pt x="23261" y="73208"/>
                  </a:lnTo>
                  <a:lnTo>
                    <a:pt x="38100" y="76200"/>
                  </a:lnTo>
                  <a:lnTo>
                    <a:pt x="438194" y="76200"/>
                  </a:lnTo>
                  <a:lnTo>
                    <a:pt x="453032" y="73208"/>
                  </a:lnTo>
                  <a:lnTo>
                    <a:pt x="465142" y="65048"/>
                  </a:lnTo>
                  <a:lnTo>
                    <a:pt x="473303" y="52938"/>
                  </a:lnTo>
                  <a:lnTo>
                    <a:pt x="476294" y="38100"/>
                  </a:lnTo>
                  <a:lnTo>
                    <a:pt x="473303" y="23261"/>
                  </a:lnTo>
                  <a:lnTo>
                    <a:pt x="465142" y="11151"/>
                  </a:lnTo>
                  <a:lnTo>
                    <a:pt x="453032" y="2991"/>
                  </a:lnTo>
                  <a:lnTo>
                    <a:pt x="438194" y="0"/>
                  </a:lnTo>
                  <a:close/>
                </a:path>
              </a:pathLst>
            </a:custGeom>
            <a:solidFill>
              <a:srgbClr val="EF52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/>
          <p:nvPr/>
        </p:nvSpPr>
        <p:spPr>
          <a:xfrm>
            <a:off x="0" y="7620000"/>
            <a:ext cx="7772400" cy="50800"/>
          </a:xfrm>
          <a:custGeom>
            <a:avLst/>
            <a:gdLst/>
            <a:ahLst/>
            <a:cxnLst/>
            <a:rect l="l" t="t" r="r" b="b"/>
            <a:pathLst>
              <a:path w="7772400" h="50800">
                <a:moveTo>
                  <a:pt x="7772400" y="0"/>
                </a:moveTo>
                <a:lnTo>
                  <a:pt x="0" y="0"/>
                </a:lnTo>
                <a:lnTo>
                  <a:pt x="0" y="50800"/>
                </a:lnTo>
                <a:lnTo>
                  <a:pt x="7772400" y="50800"/>
                </a:lnTo>
                <a:lnTo>
                  <a:pt x="7772400" y="0"/>
                </a:lnTo>
                <a:close/>
              </a:path>
            </a:pathLst>
          </a:custGeom>
          <a:solidFill>
            <a:srgbClr val="00D4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/>
              <a:t>4</a:t>
            </a:fld>
            <a:r>
              <a:rPr dirty="0"/>
              <a:t> / </a:t>
            </a:r>
            <a:r>
              <a:rPr spc="-25" dirty="0"/>
              <a:t>10</a:t>
            </a: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406400"/>
            <a:ext cx="1066800" cy="309500"/>
          </a:xfrm>
          <a:custGeom>
            <a:avLst/>
            <a:gdLst/>
            <a:ahLst/>
            <a:cxnLst/>
            <a:rect l="l" t="t" r="r" b="b"/>
            <a:pathLst>
              <a:path w="762635" h="203200">
                <a:moveTo>
                  <a:pt x="711301" y="0"/>
                </a:moveTo>
                <a:lnTo>
                  <a:pt x="50800" y="0"/>
                </a:lnTo>
                <a:lnTo>
                  <a:pt x="31015" y="3988"/>
                </a:lnTo>
                <a:lnTo>
                  <a:pt x="14869" y="14869"/>
                </a:lnTo>
                <a:lnTo>
                  <a:pt x="3988" y="31015"/>
                </a:lnTo>
                <a:lnTo>
                  <a:pt x="0" y="50800"/>
                </a:lnTo>
                <a:lnTo>
                  <a:pt x="0" y="152400"/>
                </a:lnTo>
                <a:lnTo>
                  <a:pt x="3988" y="172184"/>
                </a:lnTo>
                <a:lnTo>
                  <a:pt x="14869" y="188330"/>
                </a:lnTo>
                <a:lnTo>
                  <a:pt x="31015" y="199211"/>
                </a:lnTo>
                <a:lnTo>
                  <a:pt x="50800" y="203200"/>
                </a:lnTo>
                <a:lnTo>
                  <a:pt x="711301" y="203200"/>
                </a:lnTo>
                <a:lnTo>
                  <a:pt x="731086" y="199211"/>
                </a:lnTo>
                <a:lnTo>
                  <a:pt x="747232" y="188330"/>
                </a:lnTo>
                <a:lnTo>
                  <a:pt x="758113" y="172184"/>
                </a:lnTo>
                <a:lnTo>
                  <a:pt x="762101" y="152400"/>
                </a:lnTo>
                <a:lnTo>
                  <a:pt x="762101" y="50800"/>
                </a:lnTo>
                <a:lnTo>
                  <a:pt x="758113" y="31015"/>
                </a:lnTo>
                <a:lnTo>
                  <a:pt x="747232" y="14869"/>
                </a:lnTo>
                <a:lnTo>
                  <a:pt x="731086" y="3988"/>
                </a:lnTo>
                <a:lnTo>
                  <a:pt x="711301" y="0"/>
                </a:lnTo>
                <a:close/>
              </a:path>
            </a:pathLst>
          </a:custGeom>
          <a:solidFill>
            <a:srgbClr val="F9A8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46100" y="431800"/>
            <a:ext cx="12827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A182F"/>
                </a:solidFill>
                <a:latin typeface="Arial"/>
                <a:cs typeface="Arial"/>
              </a:rPr>
              <a:t>FINDING </a:t>
            </a:r>
            <a:r>
              <a:rPr sz="1200" b="1" spc="-25" dirty="0">
                <a:solidFill>
                  <a:srgbClr val="0A182F"/>
                </a:solidFill>
                <a:latin typeface="Arial"/>
                <a:cs typeface="Arial"/>
              </a:rPr>
              <a:t>#1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44500" y="762000"/>
            <a:ext cx="4007485" cy="687368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2400" dirty="0"/>
              <a:t>The Zombie </a:t>
            </a:r>
            <a:r>
              <a:rPr sz="2400" spc="-10" dirty="0"/>
              <a:t>Registry</a:t>
            </a:r>
            <a:endParaRPr lang="en-US" sz="2400" dirty="0"/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lang="en-US" sz="1200" b="0" dirty="0">
                <a:solidFill>
                  <a:srgbClr val="8791AF"/>
                </a:solidFill>
                <a:latin typeface="Arial MT"/>
                <a:cs typeface="Arial MT"/>
              </a:rPr>
              <a:t>One status stands out among the 17 tracked in this </a:t>
            </a:r>
            <a:r>
              <a:rPr lang="en-US" sz="1200" b="0" spc="-10" dirty="0">
                <a:solidFill>
                  <a:srgbClr val="8791AF"/>
                </a:solidFill>
                <a:latin typeface="Arial MT"/>
                <a:cs typeface="Arial MT"/>
              </a:rPr>
              <a:t>dataset</a:t>
            </a:r>
            <a:endParaRPr lang="en-US" sz="1200" dirty="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4500" y="1725043"/>
            <a:ext cx="6508470" cy="808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300"/>
              </a:lnSpc>
              <a:spcBef>
                <a:spcPts val="100"/>
              </a:spcBef>
            </a:pP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The Verra VCS dataset tracks 17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distinct project statuses — from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Under </a:t>
            </a:r>
            <a:r>
              <a:rPr sz="1200" spc="-10" dirty="0">
                <a:solidFill>
                  <a:srgbClr val="8791AF"/>
                </a:solidFill>
                <a:latin typeface="Arial MT"/>
                <a:cs typeface="Arial MT"/>
              </a:rPr>
              <a:t>Development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through Registered, Crediting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Period Renewal, and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Withdrawn. Among all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8791AF"/>
                </a:solidFill>
                <a:latin typeface="Arial MT"/>
                <a:cs typeface="Arial MT"/>
              </a:rPr>
              <a:t>statuses,</a:t>
            </a:r>
            <a:r>
              <a:rPr lang="en-US" sz="1200" spc="-1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lang="en-US" sz="1200" dirty="0">
                <a:solidFill>
                  <a:srgbClr val="8791AF"/>
                </a:solidFill>
                <a:latin typeface="Arial MT"/>
                <a:cs typeface="Arial MT"/>
              </a:rPr>
              <a:t>one</a:t>
            </a:r>
            <a:r>
              <a:rPr lang="en-US"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lang="en-US" sz="1200" dirty="0">
                <a:solidFill>
                  <a:srgbClr val="8791AF"/>
                </a:solidFill>
                <a:latin typeface="Arial MT"/>
                <a:cs typeface="Arial MT"/>
              </a:rPr>
              <a:t>stands</a:t>
            </a:r>
            <a:r>
              <a:rPr lang="en-US" sz="1200" spc="1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lang="en-US" sz="1200" dirty="0">
                <a:solidFill>
                  <a:srgbClr val="8791AF"/>
                </a:solidFill>
                <a:latin typeface="Arial MT"/>
                <a:cs typeface="Arial MT"/>
              </a:rPr>
              <a:t>out</a:t>
            </a:r>
            <a:r>
              <a:rPr lang="en-US" sz="1200" spc="1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lang="en-US" sz="1200" dirty="0">
                <a:solidFill>
                  <a:srgbClr val="8791AF"/>
                </a:solidFill>
                <a:latin typeface="Arial MT"/>
                <a:cs typeface="Arial MT"/>
              </a:rPr>
              <a:t>in</a:t>
            </a:r>
            <a:r>
              <a:rPr lang="en-US"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lang="en-US" sz="1200" dirty="0">
                <a:solidFill>
                  <a:srgbClr val="8791AF"/>
                </a:solidFill>
                <a:latin typeface="Arial MT"/>
                <a:cs typeface="Arial MT"/>
              </a:rPr>
              <a:t>both</a:t>
            </a:r>
            <a:r>
              <a:rPr lang="en-US" sz="1200" spc="1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lang="en-US" sz="1200" dirty="0">
                <a:solidFill>
                  <a:srgbClr val="8791AF"/>
                </a:solidFill>
                <a:latin typeface="Arial MT"/>
                <a:cs typeface="Arial MT"/>
              </a:rPr>
              <a:t>volume</a:t>
            </a:r>
            <a:r>
              <a:rPr lang="en-US" sz="1200" spc="1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lang="en-US" sz="1200" dirty="0">
                <a:solidFill>
                  <a:srgbClr val="8791AF"/>
                </a:solidFill>
                <a:latin typeface="Arial MT"/>
                <a:cs typeface="Arial MT"/>
              </a:rPr>
              <a:t>and</a:t>
            </a:r>
            <a:r>
              <a:rPr lang="en-US"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lang="en-US" sz="1200" dirty="0">
                <a:solidFill>
                  <a:srgbClr val="8791AF"/>
                </a:solidFill>
                <a:latin typeface="Arial MT"/>
                <a:cs typeface="Arial MT"/>
              </a:rPr>
              <a:t>data</a:t>
            </a:r>
            <a:r>
              <a:rPr lang="en-US" sz="1200" spc="1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lang="en-US" sz="1200" dirty="0">
                <a:solidFill>
                  <a:srgbClr val="8791AF"/>
                </a:solidFill>
                <a:latin typeface="Arial MT"/>
                <a:cs typeface="Arial MT"/>
              </a:rPr>
              <a:t>pattern:</a:t>
            </a:r>
            <a:r>
              <a:rPr lang="en-US" sz="1200" spc="1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lang="en-US" sz="1200" dirty="0">
                <a:solidFill>
                  <a:srgbClr val="8791AF"/>
                </a:solidFill>
                <a:latin typeface="Arial MT"/>
                <a:cs typeface="Arial MT"/>
              </a:rPr>
              <a:t>“Late</a:t>
            </a:r>
            <a:r>
              <a:rPr lang="en-US" sz="1200" spc="1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lang="en-US" sz="1200" dirty="0">
                <a:solidFill>
                  <a:srgbClr val="8791AF"/>
                </a:solidFill>
                <a:latin typeface="Arial MT"/>
                <a:cs typeface="Arial MT"/>
              </a:rPr>
              <a:t>to</a:t>
            </a:r>
            <a:r>
              <a:rPr lang="en-US"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lang="en-US" sz="1200" spc="-10" dirty="0">
                <a:solidFill>
                  <a:srgbClr val="8791AF"/>
                </a:solidFill>
                <a:latin typeface="Arial MT"/>
                <a:cs typeface="Arial MT"/>
              </a:rPr>
              <a:t>Verify.”</a:t>
            </a:r>
            <a:endParaRPr lang="en-US" sz="1200" dirty="0">
              <a:latin typeface="Arial MT"/>
              <a:cs typeface="Arial MT"/>
            </a:endParaRPr>
          </a:p>
          <a:p>
            <a:pPr marL="12700" marR="5080">
              <a:lnSpc>
                <a:spcPct val="108300"/>
              </a:lnSpc>
              <a:spcBef>
                <a:spcPts val="100"/>
              </a:spcBef>
            </a:pPr>
            <a:endParaRPr sz="1200" dirty="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37328" y="3913372"/>
            <a:ext cx="6858000" cy="224123"/>
            <a:chOff x="457200" y="3454400"/>
            <a:chExt cx="6858000" cy="127000"/>
          </a:xfrm>
        </p:grpSpPr>
        <p:sp>
          <p:nvSpPr>
            <p:cNvPr id="9" name="object 9"/>
            <p:cNvSpPr/>
            <p:nvPr/>
          </p:nvSpPr>
          <p:spPr>
            <a:xfrm>
              <a:off x="457200" y="3454400"/>
              <a:ext cx="6858000" cy="127000"/>
            </a:xfrm>
            <a:custGeom>
              <a:avLst/>
              <a:gdLst/>
              <a:ahLst/>
              <a:cxnLst/>
              <a:rect l="l" t="t" r="r" b="b"/>
              <a:pathLst>
                <a:path w="6858000" h="127000">
                  <a:moveTo>
                    <a:pt x="679450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4985" y="88230"/>
                  </a:lnTo>
                  <a:lnTo>
                    <a:pt x="18586" y="108413"/>
                  </a:lnTo>
                  <a:lnTo>
                    <a:pt x="38769" y="122014"/>
                  </a:lnTo>
                  <a:lnTo>
                    <a:pt x="63500" y="127000"/>
                  </a:lnTo>
                  <a:lnTo>
                    <a:pt x="6794500" y="127000"/>
                  </a:lnTo>
                  <a:lnTo>
                    <a:pt x="6819230" y="122014"/>
                  </a:lnTo>
                  <a:lnTo>
                    <a:pt x="6839413" y="108413"/>
                  </a:lnTo>
                  <a:lnTo>
                    <a:pt x="6853014" y="88230"/>
                  </a:lnTo>
                  <a:lnTo>
                    <a:pt x="6858000" y="63500"/>
                  </a:lnTo>
                  <a:lnTo>
                    <a:pt x="6853014" y="38769"/>
                  </a:lnTo>
                  <a:lnTo>
                    <a:pt x="6839413" y="18586"/>
                  </a:lnTo>
                  <a:lnTo>
                    <a:pt x="6819230" y="4985"/>
                  </a:lnTo>
                  <a:lnTo>
                    <a:pt x="6794500" y="0"/>
                  </a:lnTo>
                  <a:close/>
                </a:path>
              </a:pathLst>
            </a:custGeom>
            <a:solidFill>
              <a:srgbClr val="1D3A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7200" y="3454400"/>
              <a:ext cx="2400300" cy="127000"/>
            </a:xfrm>
            <a:custGeom>
              <a:avLst/>
              <a:gdLst/>
              <a:ahLst/>
              <a:cxnLst/>
              <a:rect l="l" t="t" r="r" b="b"/>
              <a:pathLst>
                <a:path w="2400300" h="127000">
                  <a:moveTo>
                    <a:pt x="233680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4985" y="88230"/>
                  </a:lnTo>
                  <a:lnTo>
                    <a:pt x="18586" y="108413"/>
                  </a:lnTo>
                  <a:lnTo>
                    <a:pt x="38769" y="122014"/>
                  </a:lnTo>
                  <a:lnTo>
                    <a:pt x="63500" y="127000"/>
                  </a:lnTo>
                  <a:lnTo>
                    <a:pt x="2336800" y="127000"/>
                  </a:lnTo>
                  <a:lnTo>
                    <a:pt x="2361530" y="122014"/>
                  </a:lnTo>
                  <a:lnTo>
                    <a:pt x="2381713" y="108413"/>
                  </a:lnTo>
                  <a:lnTo>
                    <a:pt x="2395314" y="88230"/>
                  </a:lnTo>
                  <a:lnTo>
                    <a:pt x="2400300" y="63500"/>
                  </a:lnTo>
                  <a:lnTo>
                    <a:pt x="2395314" y="38769"/>
                  </a:lnTo>
                  <a:lnTo>
                    <a:pt x="2381713" y="18586"/>
                  </a:lnTo>
                  <a:lnTo>
                    <a:pt x="2361530" y="4985"/>
                  </a:lnTo>
                  <a:lnTo>
                    <a:pt x="2336800" y="0"/>
                  </a:lnTo>
                  <a:close/>
                </a:path>
              </a:pathLst>
            </a:custGeom>
            <a:solidFill>
              <a:srgbClr val="F9A8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44500" y="2240280"/>
            <a:ext cx="3752850" cy="18825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450"/>
              </a:lnSpc>
              <a:spcBef>
                <a:spcPts val="100"/>
              </a:spcBef>
            </a:pPr>
            <a:r>
              <a:rPr sz="8000" b="1" spc="-25" dirty="0">
                <a:solidFill>
                  <a:srgbClr val="F9A824"/>
                </a:solidFill>
                <a:latin typeface="Arial"/>
                <a:cs typeface="Arial"/>
              </a:rPr>
              <a:t>597</a:t>
            </a:r>
            <a:endParaRPr sz="8000" dirty="0">
              <a:latin typeface="Arial"/>
              <a:cs typeface="Arial"/>
            </a:endParaRPr>
          </a:p>
          <a:p>
            <a:pPr marL="12700">
              <a:lnSpc>
                <a:spcPts val="1410"/>
              </a:lnSpc>
            </a:pPr>
            <a:r>
              <a:rPr sz="1300" b="1" dirty="0">
                <a:solidFill>
                  <a:srgbClr val="E6F0FF"/>
                </a:solidFill>
                <a:latin typeface="Arial"/>
                <a:cs typeface="Arial"/>
              </a:rPr>
              <a:t>projects</a:t>
            </a:r>
            <a:r>
              <a:rPr sz="1300" b="1" spc="-20" dirty="0">
                <a:solidFill>
                  <a:srgbClr val="E6F0FF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E6F0FF"/>
                </a:solidFill>
                <a:latin typeface="Arial"/>
                <a:cs typeface="Arial"/>
              </a:rPr>
              <a:t>carry</a:t>
            </a:r>
            <a:r>
              <a:rPr sz="1300" b="1" spc="-15" dirty="0">
                <a:solidFill>
                  <a:srgbClr val="E6F0FF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E6F0FF"/>
                </a:solidFill>
                <a:latin typeface="Arial"/>
                <a:cs typeface="Arial"/>
              </a:rPr>
              <a:t>a</a:t>
            </a:r>
            <a:r>
              <a:rPr sz="1300" b="1" spc="-20" dirty="0">
                <a:solidFill>
                  <a:srgbClr val="E6F0FF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E6F0FF"/>
                </a:solidFill>
                <a:latin typeface="Arial"/>
                <a:cs typeface="Arial"/>
              </a:rPr>
              <a:t>“Late</a:t>
            </a:r>
            <a:r>
              <a:rPr sz="1300" b="1" spc="-15" dirty="0">
                <a:solidFill>
                  <a:srgbClr val="E6F0FF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E6F0FF"/>
                </a:solidFill>
                <a:latin typeface="Arial"/>
                <a:cs typeface="Arial"/>
              </a:rPr>
              <a:t>to</a:t>
            </a:r>
            <a:r>
              <a:rPr sz="1300" b="1" spc="-20" dirty="0">
                <a:solidFill>
                  <a:srgbClr val="E6F0FF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E6F0FF"/>
                </a:solidFill>
                <a:latin typeface="Arial"/>
                <a:cs typeface="Arial"/>
              </a:rPr>
              <a:t>Verify”</a:t>
            </a:r>
            <a:r>
              <a:rPr sz="1300" b="1" spc="-15" dirty="0">
                <a:solidFill>
                  <a:srgbClr val="E6F0FF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E6F0FF"/>
                </a:solidFill>
                <a:latin typeface="Arial"/>
                <a:cs typeface="Arial"/>
              </a:rPr>
              <a:t>status</a:t>
            </a:r>
            <a:endParaRPr sz="13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That’s</a:t>
            </a:r>
            <a:r>
              <a:rPr sz="1200" spc="-1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35.1%</a:t>
            </a:r>
            <a:r>
              <a:rPr sz="1200" spc="-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of</a:t>
            </a:r>
            <a:r>
              <a:rPr sz="1200" spc="-1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the</a:t>
            </a:r>
            <a:r>
              <a:rPr sz="1200" spc="-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1,700</a:t>
            </a:r>
            <a:r>
              <a:rPr sz="1200" spc="-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projects</a:t>
            </a:r>
            <a:r>
              <a:rPr sz="1200" spc="-1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in</a:t>
            </a:r>
            <a:r>
              <a:rPr sz="1200" spc="-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this</a:t>
            </a:r>
            <a:r>
              <a:rPr sz="1200" spc="-10" dirty="0">
                <a:solidFill>
                  <a:srgbClr val="8791AF"/>
                </a:solidFill>
                <a:latin typeface="Arial MT"/>
                <a:cs typeface="Arial MT"/>
              </a:rPr>
              <a:t> dataset</a:t>
            </a:r>
            <a:endParaRPr sz="1200" dirty="0">
              <a:latin typeface="Arial MT"/>
              <a:cs typeface="Arial MT"/>
            </a:endParaRPr>
          </a:p>
          <a:p>
            <a:pPr marR="260985" algn="r">
              <a:lnSpc>
                <a:spcPct val="100000"/>
              </a:lnSpc>
              <a:spcBef>
                <a:spcPts val="580"/>
              </a:spcBef>
            </a:pPr>
            <a:r>
              <a:rPr sz="1100" b="1" spc="-10" dirty="0">
                <a:solidFill>
                  <a:srgbClr val="F9A824"/>
                </a:solidFill>
                <a:latin typeface="Arial"/>
                <a:cs typeface="Arial"/>
              </a:rPr>
              <a:t>35.1%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867400" y="3900673"/>
            <a:ext cx="1441161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8791AF"/>
                </a:solidFill>
                <a:latin typeface="Arial"/>
                <a:cs typeface="Arial"/>
              </a:rPr>
              <a:t>64.9%</a:t>
            </a:r>
            <a:r>
              <a:rPr sz="1100" b="1" spc="204" dirty="0">
                <a:solidFill>
                  <a:srgbClr val="8791A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8791AF"/>
                </a:solidFill>
                <a:latin typeface="Arial"/>
                <a:cs typeface="Arial"/>
              </a:rPr>
              <a:t>other</a:t>
            </a:r>
            <a:r>
              <a:rPr sz="1100" b="1" spc="-5" dirty="0">
                <a:solidFill>
                  <a:srgbClr val="8791A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8791AF"/>
                </a:solidFill>
                <a:latin typeface="Arial"/>
                <a:cs typeface="Arial"/>
              </a:rPr>
              <a:t>statuses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44500" y="4410075"/>
            <a:ext cx="4508500" cy="141160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1300" b="1" dirty="0">
                <a:solidFill>
                  <a:srgbClr val="E6F0FF"/>
                </a:solidFill>
                <a:latin typeface="Arial"/>
                <a:cs typeface="Arial"/>
              </a:rPr>
              <a:t>What</a:t>
            </a:r>
            <a:r>
              <a:rPr sz="1300" b="1" spc="-10" dirty="0">
                <a:solidFill>
                  <a:srgbClr val="E6F0FF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E6F0FF"/>
                </a:solidFill>
                <a:latin typeface="Arial"/>
                <a:cs typeface="Arial"/>
              </a:rPr>
              <a:t>does</a:t>
            </a:r>
            <a:r>
              <a:rPr sz="1300" b="1" spc="-5" dirty="0">
                <a:solidFill>
                  <a:srgbClr val="E6F0FF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E6F0FF"/>
                </a:solidFill>
                <a:latin typeface="Arial"/>
                <a:cs typeface="Arial"/>
              </a:rPr>
              <a:t>“Late</a:t>
            </a:r>
            <a:r>
              <a:rPr sz="1300" b="1" spc="-5" dirty="0">
                <a:solidFill>
                  <a:srgbClr val="E6F0FF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E6F0FF"/>
                </a:solidFill>
                <a:latin typeface="Arial"/>
                <a:cs typeface="Arial"/>
              </a:rPr>
              <a:t>to</a:t>
            </a:r>
            <a:r>
              <a:rPr sz="1300" b="1" spc="-10" dirty="0">
                <a:solidFill>
                  <a:srgbClr val="E6F0FF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E6F0FF"/>
                </a:solidFill>
                <a:latin typeface="Arial"/>
                <a:cs typeface="Arial"/>
              </a:rPr>
              <a:t>Verify”</a:t>
            </a:r>
            <a:r>
              <a:rPr sz="1300" b="1" spc="-5" dirty="0">
                <a:solidFill>
                  <a:srgbClr val="E6F0FF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E6F0FF"/>
                </a:solidFill>
                <a:latin typeface="Arial"/>
                <a:cs typeface="Arial"/>
              </a:rPr>
              <a:t>mean</a:t>
            </a:r>
            <a:r>
              <a:rPr sz="1300" b="1" spc="-5" dirty="0">
                <a:solidFill>
                  <a:srgbClr val="E6F0FF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E6F0FF"/>
                </a:solidFill>
                <a:latin typeface="Arial"/>
                <a:cs typeface="Arial"/>
              </a:rPr>
              <a:t>in</a:t>
            </a:r>
            <a:r>
              <a:rPr sz="1300" b="1" spc="-10" dirty="0">
                <a:solidFill>
                  <a:srgbClr val="E6F0FF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E6F0FF"/>
                </a:solidFill>
                <a:latin typeface="Arial"/>
                <a:cs typeface="Arial"/>
              </a:rPr>
              <a:t>the</a:t>
            </a:r>
            <a:r>
              <a:rPr sz="1300" b="1" spc="-5" dirty="0">
                <a:solidFill>
                  <a:srgbClr val="E6F0FF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E6F0FF"/>
                </a:solidFill>
                <a:latin typeface="Arial"/>
                <a:cs typeface="Arial"/>
              </a:rPr>
              <a:t>data?</a:t>
            </a:r>
            <a:endParaRPr sz="1300" dirty="0">
              <a:latin typeface="Arial"/>
              <a:cs typeface="Arial"/>
            </a:endParaRPr>
          </a:p>
          <a:p>
            <a:pPr marL="12700" marR="5080">
              <a:lnSpc>
                <a:spcPct val="116700"/>
              </a:lnSpc>
              <a:spcBef>
                <a:spcPts val="360"/>
              </a:spcBef>
            </a:pP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A project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registered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with Verra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that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has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not recorded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a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8791AF"/>
                </a:solidFill>
                <a:latin typeface="Arial MT"/>
                <a:cs typeface="Arial MT"/>
              </a:rPr>
              <a:t>completed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verification</a:t>
            </a:r>
            <a:r>
              <a:rPr sz="1200" spc="-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cycle</a:t>
            </a:r>
            <a:r>
              <a:rPr sz="1200" spc="-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within</a:t>
            </a:r>
            <a:r>
              <a:rPr sz="1200" spc="-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the</a:t>
            </a:r>
            <a:r>
              <a:rPr sz="1200" spc="-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5-year</a:t>
            </a:r>
            <a:r>
              <a:rPr sz="1200" spc="-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maximum</a:t>
            </a:r>
            <a:r>
              <a:rPr sz="1200" spc="-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monitoring </a:t>
            </a:r>
            <a:r>
              <a:rPr sz="1200" spc="-10" dirty="0">
                <a:solidFill>
                  <a:srgbClr val="8791AF"/>
                </a:solidFill>
                <a:latin typeface="Arial MT"/>
                <a:cs typeface="Arial MT"/>
              </a:rPr>
              <a:t>window.</a:t>
            </a:r>
            <a:r>
              <a:rPr sz="1200" spc="50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In the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dataset: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these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records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remain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active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in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the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registry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but </a:t>
            </a:r>
            <a:r>
              <a:rPr sz="1200" spc="-10" dirty="0">
                <a:solidFill>
                  <a:srgbClr val="8791AF"/>
                </a:solidFill>
                <a:latin typeface="Arial MT"/>
                <a:cs typeface="Arial MT"/>
              </a:rPr>
              <a:t>carry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no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verification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outcomes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—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they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are,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in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data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terms,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open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8791AF"/>
                </a:solidFill>
                <a:latin typeface="Arial MT"/>
                <a:cs typeface="Arial MT"/>
              </a:rPr>
              <a:t>records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without a documented closure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8791AF"/>
                </a:solidFill>
                <a:latin typeface="Arial MT"/>
                <a:cs typeface="Arial MT"/>
              </a:rPr>
              <a:t>event.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0" y="7620000"/>
            <a:ext cx="7772400" cy="50800"/>
          </a:xfrm>
          <a:custGeom>
            <a:avLst/>
            <a:gdLst/>
            <a:ahLst/>
            <a:cxnLst/>
            <a:rect l="l" t="t" r="r" b="b"/>
            <a:pathLst>
              <a:path w="7772400" h="50800">
                <a:moveTo>
                  <a:pt x="7772400" y="0"/>
                </a:moveTo>
                <a:lnTo>
                  <a:pt x="0" y="0"/>
                </a:lnTo>
                <a:lnTo>
                  <a:pt x="0" y="50800"/>
                </a:lnTo>
                <a:lnTo>
                  <a:pt x="7772400" y="50800"/>
                </a:lnTo>
                <a:lnTo>
                  <a:pt x="7772400" y="0"/>
                </a:lnTo>
                <a:close/>
              </a:path>
            </a:pathLst>
          </a:custGeom>
          <a:solidFill>
            <a:srgbClr val="F9A8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/>
              <a:t>5</a:t>
            </a:fld>
            <a:r>
              <a:rPr dirty="0"/>
              <a:t> / </a:t>
            </a:r>
            <a:r>
              <a:rPr spc="-25" dirty="0"/>
              <a:t>10</a:t>
            </a: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406400"/>
            <a:ext cx="1066800" cy="294570"/>
          </a:xfrm>
          <a:custGeom>
            <a:avLst/>
            <a:gdLst/>
            <a:ahLst/>
            <a:cxnLst/>
            <a:rect l="l" t="t" r="r" b="b"/>
            <a:pathLst>
              <a:path w="762635" h="203200">
                <a:moveTo>
                  <a:pt x="711301" y="0"/>
                </a:moveTo>
                <a:lnTo>
                  <a:pt x="50800" y="0"/>
                </a:lnTo>
                <a:lnTo>
                  <a:pt x="31015" y="3988"/>
                </a:lnTo>
                <a:lnTo>
                  <a:pt x="14869" y="14869"/>
                </a:lnTo>
                <a:lnTo>
                  <a:pt x="3988" y="31015"/>
                </a:lnTo>
                <a:lnTo>
                  <a:pt x="0" y="50800"/>
                </a:lnTo>
                <a:lnTo>
                  <a:pt x="0" y="152400"/>
                </a:lnTo>
                <a:lnTo>
                  <a:pt x="3988" y="172184"/>
                </a:lnTo>
                <a:lnTo>
                  <a:pt x="14869" y="188330"/>
                </a:lnTo>
                <a:lnTo>
                  <a:pt x="31015" y="199211"/>
                </a:lnTo>
                <a:lnTo>
                  <a:pt x="50800" y="203200"/>
                </a:lnTo>
                <a:lnTo>
                  <a:pt x="711301" y="203200"/>
                </a:lnTo>
                <a:lnTo>
                  <a:pt x="731086" y="199211"/>
                </a:lnTo>
                <a:lnTo>
                  <a:pt x="747232" y="188330"/>
                </a:lnTo>
                <a:lnTo>
                  <a:pt x="758113" y="172184"/>
                </a:lnTo>
                <a:lnTo>
                  <a:pt x="762101" y="152400"/>
                </a:lnTo>
                <a:lnTo>
                  <a:pt x="762101" y="50800"/>
                </a:lnTo>
                <a:lnTo>
                  <a:pt x="758113" y="31015"/>
                </a:lnTo>
                <a:lnTo>
                  <a:pt x="747232" y="14869"/>
                </a:lnTo>
                <a:lnTo>
                  <a:pt x="731086" y="3988"/>
                </a:lnTo>
                <a:lnTo>
                  <a:pt x="711301" y="0"/>
                </a:lnTo>
                <a:close/>
              </a:path>
            </a:pathLst>
          </a:custGeom>
          <a:solidFill>
            <a:srgbClr val="00D4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46100" y="431800"/>
            <a:ext cx="12827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A182F"/>
                </a:solidFill>
                <a:latin typeface="Arial"/>
                <a:cs typeface="Arial"/>
              </a:rPr>
              <a:t>FINDING </a:t>
            </a:r>
            <a:r>
              <a:rPr sz="1200" b="1" spc="-25" dirty="0">
                <a:solidFill>
                  <a:srgbClr val="0A182F"/>
                </a:solidFill>
                <a:latin typeface="Arial"/>
                <a:cs typeface="Arial"/>
              </a:rPr>
              <a:t>#2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44500" y="904240"/>
            <a:ext cx="4513580" cy="69596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2400" dirty="0"/>
              <a:t>The</a:t>
            </a:r>
            <a:r>
              <a:rPr sz="2400" spc="-30" dirty="0"/>
              <a:t> </a:t>
            </a:r>
            <a:r>
              <a:rPr sz="2400" dirty="0"/>
              <a:t>2020</a:t>
            </a:r>
            <a:r>
              <a:rPr sz="2400" spc="-25" dirty="0"/>
              <a:t> </a:t>
            </a:r>
            <a:r>
              <a:rPr sz="2400" dirty="0"/>
              <a:t>CDM</a:t>
            </a:r>
            <a:r>
              <a:rPr sz="2400" spc="-30" dirty="0"/>
              <a:t> </a:t>
            </a:r>
            <a:r>
              <a:rPr sz="2400" dirty="0"/>
              <a:t>Migration</a:t>
            </a:r>
            <a:r>
              <a:rPr sz="2400" spc="-25" dirty="0"/>
              <a:t> </a:t>
            </a:r>
            <a:r>
              <a:rPr sz="2400" spc="-10" dirty="0"/>
              <a:t>Surge</a:t>
            </a:r>
            <a:endParaRPr sz="2400" dirty="0"/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1200" b="0" dirty="0">
                <a:solidFill>
                  <a:srgbClr val="8791AF"/>
                </a:solidFill>
                <a:latin typeface="Arial MT"/>
                <a:cs typeface="Arial MT"/>
              </a:rPr>
              <a:t>A registration year anomaly that shapes the entire </a:t>
            </a:r>
            <a:r>
              <a:rPr sz="1200" b="0" spc="-10" dirty="0">
                <a:solidFill>
                  <a:srgbClr val="8791AF"/>
                </a:solidFill>
                <a:latin typeface="Arial MT"/>
                <a:cs typeface="Arial MT"/>
              </a:rPr>
              <a:t>dataset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4500" y="1752600"/>
            <a:ext cx="3060700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0" b="1" spc="-10" dirty="0">
                <a:solidFill>
                  <a:srgbClr val="00D4AA"/>
                </a:solidFill>
                <a:latin typeface="Arial"/>
                <a:cs typeface="Arial"/>
              </a:rPr>
              <a:t>58.5%</a:t>
            </a:r>
            <a:endParaRPr sz="7000" dirty="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54025" y="5102225"/>
            <a:ext cx="6864350" cy="1657350"/>
            <a:chOff x="454025" y="5102225"/>
            <a:chExt cx="6864350" cy="1657350"/>
          </a:xfrm>
        </p:grpSpPr>
        <p:sp>
          <p:nvSpPr>
            <p:cNvPr id="8" name="object 8"/>
            <p:cNvSpPr/>
            <p:nvPr/>
          </p:nvSpPr>
          <p:spPr>
            <a:xfrm>
              <a:off x="457200" y="5105400"/>
              <a:ext cx="6858000" cy="1651000"/>
            </a:xfrm>
            <a:custGeom>
              <a:avLst/>
              <a:gdLst/>
              <a:ahLst/>
              <a:cxnLst/>
              <a:rect l="l" t="t" r="r" b="b"/>
              <a:pathLst>
                <a:path w="6858000" h="1651000">
                  <a:moveTo>
                    <a:pt x="0" y="1651000"/>
                  </a:moveTo>
                  <a:lnTo>
                    <a:pt x="0" y="0"/>
                  </a:lnTo>
                </a:path>
                <a:path w="6858000" h="1651000">
                  <a:moveTo>
                    <a:pt x="0" y="1651000"/>
                  </a:moveTo>
                  <a:lnTo>
                    <a:pt x="6858000" y="1651000"/>
                  </a:lnTo>
                </a:path>
              </a:pathLst>
            </a:custGeom>
            <a:ln w="6350">
              <a:solidFill>
                <a:srgbClr val="1D3A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7200" y="6536905"/>
              <a:ext cx="4722495" cy="219710"/>
            </a:xfrm>
            <a:custGeom>
              <a:avLst/>
              <a:gdLst/>
              <a:ahLst/>
              <a:cxnLst/>
              <a:rect l="l" t="t" r="r" b="b"/>
              <a:pathLst>
                <a:path w="4722495" h="219709">
                  <a:moveTo>
                    <a:pt x="502132" y="16878"/>
                  </a:moveTo>
                  <a:lnTo>
                    <a:pt x="0" y="16878"/>
                  </a:lnTo>
                  <a:lnTo>
                    <a:pt x="0" y="219494"/>
                  </a:lnTo>
                  <a:lnTo>
                    <a:pt x="502132" y="219494"/>
                  </a:lnTo>
                  <a:lnTo>
                    <a:pt x="502132" y="16878"/>
                  </a:lnTo>
                  <a:close/>
                </a:path>
                <a:path w="4722495" h="219709">
                  <a:moveTo>
                    <a:pt x="1029665" y="0"/>
                  </a:moveTo>
                  <a:lnTo>
                    <a:pt x="527532" y="0"/>
                  </a:lnTo>
                  <a:lnTo>
                    <a:pt x="527532" y="219494"/>
                  </a:lnTo>
                  <a:lnTo>
                    <a:pt x="1029665" y="219494"/>
                  </a:lnTo>
                  <a:lnTo>
                    <a:pt x="1029665" y="0"/>
                  </a:lnTo>
                  <a:close/>
                </a:path>
                <a:path w="4722495" h="219709">
                  <a:moveTo>
                    <a:pt x="1557210" y="109753"/>
                  </a:moveTo>
                  <a:lnTo>
                    <a:pt x="1055065" y="109753"/>
                  </a:lnTo>
                  <a:lnTo>
                    <a:pt x="1055065" y="219494"/>
                  </a:lnTo>
                  <a:lnTo>
                    <a:pt x="1557210" y="219494"/>
                  </a:lnTo>
                  <a:lnTo>
                    <a:pt x="1557210" y="109753"/>
                  </a:lnTo>
                  <a:close/>
                </a:path>
                <a:path w="4722495" h="219709">
                  <a:moveTo>
                    <a:pt x="2084743" y="109753"/>
                  </a:moveTo>
                  <a:lnTo>
                    <a:pt x="1582610" y="109753"/>
                  </a:lnTo>
                  <a:lnTo>
                    <a:pt x="1582610" y="219494"/>
                  </a:lnTo>
                  <a:lnTo>
                    <a:pt x="2084743" y="219494"/>
                  </a:lnTo>
                  <a:lnTo>
                    <a:pt x="2084743" y="109753"/>
                  </a:lnTo>
                  <a:close/>
                </a:path>
                <a:path w="4722495" h="219709">
                  <a:moveTo>
                    <a:pt x="2612288" y="101307"/>
                  </a:moveTo>
                  <a:lnTo>
                    <a:pt x="2110143" y="101307"/>
                  </a:lnTo>
                  <a:lnTo>
                    <a:pt x="2110143" y="219494"/>
                  </a:lnTo>
                  <a:lnTo>
                    <a:pt x="2612288" y="219494"/>
                  </a:lnTo>
                  <a:lnTo>
                    <a:pt x="2612288" y="101307"/>
                  </a:lnTo>
                  <a:close/>
                </a:path>
                <a:path w="4722495" h="219709">
                  <a:moveTo>
                    <a:pt x="3139821" y="160401"/>
                  </a:moveTo>
                  <a:lnTo>
                    <a:pt x="2637688" y="160401"/>
                  </a:lnTo>
                  <a:lnTo>
                    <a:pt x="2637688" y="219494"/>
                  </a:lnTo>
                  <a:lnTo>
                    <a:pt x="3139821" y="219494"/>
                  </a:lnTo>
                  <a:lnTo>
                    <a:pt x="3139821" y="160401"/>
                  </a:lnTo>
                  <a:close/>
                </a:path>
                <a:path w="4722495" h="219709">
                  <a:moveTo>
                    <a:pt x="3667366" y="139293"/>
                  </a:moveTo>
                  <a:lnTo>
                    <a:pt x="3165221" y="139293"/>
                  </a:lnTo>
                  <a:lnTo>
                    <a:pt x="3165221" y="219494"/>
                  </a:lnTo>
                  <a:lnTo>
                    <a:pt x="3667366" y="219494"/>
                  </a:lnTo>
                  <a:lnTo>
                    <a:pt x="3667366" y="139293"/>
                  </a:lnTo>
                  <a:close/>
                </a:path>
                <a:path w="4722495" h="219709">
                  <a:moveTo>
                    <a:pt x="4194899" y="211061"/>
                  </a:moveTo>
                  <a:lnTo>
                    <a:pt x="3692766" y="211061"/>
                  </a:lnTo>
                  <a:lnTo>
                    <a:pt x="3692766" y="219494"/>
                  </a:lnTo>
                  <a:lnTo>
                    <a:pt x="4194899" y="219494"/>
                  </a:lnTo>
                  <a:lnTo>
                    <a:pt x="4194899" y="211061"/>
                  </a:lnTo>
                  <a:close/>
                </a:path>
                <a:path w="4722495" h="219709">
                  <a:moveTo>
                    <a:pt x="4722444" y="198399"/>
                  </a:moveTo>
                  <a:lnTo>
                    <a:pt x="4220299" y="198399"/>
                  </a:lnTo>
                  <a:lnTo>
                    <a:pt x="4220299" y="219494"/>
                  </a:lnTo>
                  <a:lnTo>
                    <a:pt x="4722444" y="219494"/>
                  </a:lnTo>
                  <a:lnTo>
                    <a:pt x="4722444" y="198399"/>
                  </a:lnTo>
                  <a:close/>
                </a:path>
              </a:pathLst>
            </a:custGeom>
            <a:solidFill>
              <a:srgbClr val="1D49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866448" y="6781800"/>
            <a:ext cx="238952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8791AF"/>
                </a:solidFill>
                <a:latin typeface="Arial MT"/>
                <a:cs typeface="Arial MT"/>
              </a:rPr>
              <a:t>17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205046" y="6731072"/>
            <a:ext cx="502284" cy="25400"/>
          </a:xfrm>
          <a:custGeom>
            <a:avLst/>
            <a:gdLst/>
            <a:ahLst/>
            <a:cxnLst/>
            <a:rect l="l" t="t" r="r" b="b"/>
            <a:pathLst>
              <a:path w="502285" h="25400">
                <a:moveTo>
                  <a:pt x="502138" y="0"/>
                </a:moveTo>
                <a:lnTo>
                  <a:pt x="0" y="0"/>
                </a:lnTo>
                <a:lnTo>
                  <a:pt x="0" y="25327"/>
                </a:lnTo>
                <a:lnTo>
                  <a:pt x="502138" y="25327"/>
                </a:lnTo>
                <a:lnTo>
                  <a:pt x="502138" y="0"/>
                </a:lnTo>
                <a:close/>
              </a:path>
            </a:pathLst>
          </a:custGeom>
          <a:solidFill>
            <a:srgbClr val="1D49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393987" y="6781800"/>
            <a:ext cx="238952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8791AF"/>
                </a:solidFill>
                <a:latin typeface="Arial MT"/>
                <a:cs typeface="Arial MT"/>
              </a:rPr>
              <a:t>18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732584" y="6705745"/>
            <a:ext cx="502284" cy="50800"/>
          </a:xfrm>
          <a:custGeom>
            <a:avLst/>
            <a:gdLst/>
            <a:ahLst/>
            <a:cxnLst/>
            <a:rect l="l" t="t" r="r" b="b"/>
            <a:pathLst>
              <a:path w="502285" h="50800">
                <a:moveTo>
                  <a:pt x="502138" y="0"/>
                </a:moveTo>
                <a:lnTo>
                  <a:pt x="0" y="0"/>
                </a:lnTo>
                <a:lnTo>
                  <a:pt x="0" y="50654"/>
                </a:lnTo>
                <a:lnTo>
                  <a:pt x="502138" y="50654"/>
                </a:lnTo>
                <a:lnTo>
                  <a:pt x="502138" y="0"/>
                </a:lnTo>
                <a:close/>
              </a:path>
            </a:pathLst>
          </a:custGeom>
          <a:solidFill>
            <a:srgbClr val="1D49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921524" y="6781800"/>
            <a:ext cx="238952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8791AF"/>
                </a:solidFill>
                <a:latin typeface="Arial MT"/>
                <a:cs typeface="Arial MT"/>
              </a:rPr>
              <a:t>19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260123" y="5283200"/>
            <a:ext cx="502284" cy="1473200"/>
          </a:xfrm>
          <a:custGeom>
            <a:avLst/>
            <a:gdLst/>
            <a:ahLst/>
            <a:cxnLst/>
            <a:rect l="l" t="t" r="r" b="b"/>
            <a:pathLst>
              <a:path w="502284" h="1473200">
                <a:moveTo>
                  <a:pt x="502138" y="0"/>
                </a:moveTo>
                <a:lnTo>
                  <a:pt x="0" y="0"/>
                </a:lnTo>
                <a:lnTo>
                  <a:pt x="0" y="1473200"/>
                </a:lnTo>
                <a:lnTo>
                  <a:pt x="502138" y="1473200"/>
                </a:lnTo>
                <a:lnTo>
                  <a:pt x="502138" y="0"/>
                </a:lnTo>
                <a:close/>
              </a:path>
            </a:pathLst>
          </a:custGeom>
          <a:solidFill>
            <a:srgbClr val="F9A8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449063" y="6781800"/>
            <a:ext cx="238952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8791AF"/>
                </a:solidFill>
                <a:latin typeface="Arial MT"/>
                <a:cs typeface="Arial MT"/>
              </a:rPr>
              <a:t>20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346359" y="5105400"/>
            <a:ext cx="359241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5" dirty="0">
                <a:solidFill>
                  <a:srgbClr val="F9A824"/>
                </a:solidFill>
                <a:latin typeface="Arial"/>
                <a:cs typeface="Arial"/>
              </a:rPr>
              <a:t>349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787660" y="6714187"/>
            <a:ext cx="502284" cy="42545"/>
          </a:xfrm>
          <a:custGeom>
            <a:avLst/>
            <a:gdLst/>
            <a:ahLst/>
            <a:cxnLst/>
            <a:rect l="l" t="t" r="r" b="b"/>
            <a:pathLst>
              <a:path w="502284" h="42545">
                <a:moveTo>
                  <a:pt x="502138" y="0"/>
                </a:moveTo>
                <a:lnTo>
                  <a:pt x="0" y="0"/>
                </a:lnTo>
                <a:lnTo>
                  <a:pt x="0" y="42212"/>
                </a:lnTo>
                <a:lnTo>
                  <a:pt x="502138" y="42212"/>
                </a:lnTo>
                <a:lnTo>
                  <a:pt x="502138" y="0"/>
                </a:lnTo>
                <a:close/>
              </a:path>
            </a:pathLst>
          </a:custGeom>
          <a:solidFill>
            <a:srgbClr val="1D49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976602" y="6781800"/>
            <a:ext cx="238952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8791AF"/>
                </a:solidFill>
                <a:latin typeface="Arial MT"/>
                <a:cs typeface="Arial MT"/>
              </a:rPr>
              <a:t>21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44500" y="6765995"/>
            <a:ext cx="4151629" cy="331501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213995">
              <a:lnSpc>
                <a:spcPct val="100000"/>
              </a:lnSpc>
              <a:spcBef>
                <a:spcPts val="225"/>
              </a:spcBef>
              <a:tabLst>
                <a:tab pos="741680" algn="l"/>
                <a:tab pos="1268730" algn="l"/>
                <a:tab pos="1796414" algn="l"/>
                <a:tab pos="2324100" algn="l"/>
                <a:tab pos="2851785" algn="l"/>
                <a:tab pos="3379470" algn="l"/>
                <a:tab pos="3906520" algn="l"/>
              </a:tabLst>
            </a:pPr>
            <a:r>
              <a:rPr sz="900" spc="-25" dirty="0">
                <a:solidFill>
                  <a:srgbClr val="8791AF"/>
                </a:solidFill>
                <a:latin typeface="Arial MT"/>
                <a:cs typeface="Arial MT"/>
              </a:rPr>
              <a:t>09</a:t>
            </a:r>
            <a:r>
              <a:rPr sz="900" dirty="0">
                <a:solidFill>
                  <a:srgbClr val="8791AF"/>
                </a:solidFill>
                <a:latin typeface="Arial MT"/>
                <a:cs typeface="Arial MT"/>
              </a:rPr>
              <a:t>	</a:t>
            </a:r>
            <a:r>
              <a:rPr sz="900" spc="-25" dirty="0">
                <a:solidFill>
                  <a:srgbClr val="8791AF"/>
                </a:solidFill>
                <a:latin typeface="Arial MT"/>
                <a:cs typeface="Arial MT"/>
              </a:rPr>
              <a:t>10</a:t>
            </a:r>
            <a:r>
              <a:rPr sz="900" dirty="0">
                <a:solidFill>
                  <a:srgbClr val="8791AF"/>
                </a:solidFill>
                <a:latin typeface="Arial MT"/>
                <a:cs typeface="Arial MT"/>
              </a:rPr>
              <a:t>	</a:t>
            </a:r>
            <a:r>
              <a:rPr sz="900" spc="-25" dirty="0">
                <a:solidFill>
                  <a:srgbClr val="8791AF"/>
                </a:solidFill>
                <a:latin typeface="Arial MT"/>
                <a:cs typeface="Arial MT"/>
              </a:rPr>
              <a:t>11</a:t>
            </a:r>
            <a:r>
              <a:rPr sz="900" dirty="0">
                <a:solidFill>
                  <a:srgbClr val="8791AF"/>
                </a:solidFill>
                <a:latin typeface="Arial MT"/>
                <a:cs typeface="Arial MT"/>
              </a:rPr>
              <a:t>	</a:t>
            </a:r>
            <a:r>
              <a:rPr sz="900" spc="-25" dirty="0">
                <a:solidFill>
                  <a:srgbClr val="8791AF"/>
                </a:solidFill>
                <a:latin typeface="Arial MT"/>
                <a:cs typeface="Arial MT"/>
              </a:rPr>
              <a:t>12</a:t>
            </a:r>
            <a:r>
              <a:rPr sz="900" dirty="0">
                <a:solidFill>
                  <a:srgbClr val="8791AF"/>
                </a:solidFill>
                <a:latin typeface="Arial MT"/>
                <a:cs typeface="Arial MT"/>
              </a:rPr>
              <a:t>	</a:t>
            </a:r>
            <a:r>
              <a:rPr sz="900" spc="-25" dirty="0">
                <a:solidFill>
                  <a:srgbClr val="8791AF"/>
                </a:solidFill>
                <a:latin typeface="Arial MT"/>
                <a:cs typeface="Arial MT"/>
              </a:rPr>
              <a:t>13</a:t>
            </a:r>
            <a:r>
              <a:rPr sz="900" dirty="0">
                <a:solidFill>
                  <a:srgbClr val="8791AF"/>
                </a:solidFill>
                <a:latin typeface="Arial MT"/>
                <a:cs typeface="Arial MT"/>
              </a:rPr>
              <a:t>	</a:t>
            </a:r>
            <a:r>
              <a:rPr sz="900" spc="-25" dirty="0">
                <a:solidFill>
                  <a:srgbClr val="8791AF"/>
                </a:solidFill>
                <a:latin typeface="Arial MT"/>
                <a:cs typeface="Arial MT"/>
              </a:rPr>
              <a:t>14</a:t>
            </a:r>
            <a:r>
              <a:rPr sz="900" dirty="0">
                <a:solidFill>
                  <a:srgbClr val="8791AF"/>
                </a:solidFill>
                <a:latin typeface="Arial MT"/>
                <a:cs typeface="Arial MT"/>
              </a:rPr>
              <a:t>	</a:t>
            </a:r>
            <a:r>
              <a:rPr sz="900" spc="-25" dirty="0">
                <a:solidFill>
                  <a:srgbClr val="8791AF"/>
                </a:solidFill>
                <a:latin typeface="Arial MT"/>
                <a:cs typeface="Arial MT"/>
              </a:rPr>
              <a:t>15</a:t>
            </a:r>
            <a:r>
              <a:rPr sz="900" dirty="0">
                <a:solidFill>
                  <a:srgbClr val="8791AF"/>
                </a:solidFill>
                <a:latin typeface="Arial MT"/>
                <a:cs typeface="Arial MT"/>
              </a:rPr>
              <a:t>	</a:t>
            </a:r>
            <a:r>
              <a:rPr sz="900" spc="-25" dirty="0">
                <a:solidFill>
                  <a:srgbClr val="8791AF"/>
                </a:solidFill>
                <a:latin typeface="Arial MT"/>
                <a:cs typeface="Arial MT"/>
              </a:rPr>
              <a:t>16</a:t>
            </a:r>
            <a:endParaRPr sz="9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900" dirty="0">
                <a:solidFill>
                  <a:srgbClr val="8791AF"/>
                </a:solidFill>
                <a:latin typeface="Arial MT"/>
                <a:cs typeface="Arial MT"/>
              </a:rPr>
              <a:t>Late</a:t>
            </a:r>
            <a:r>
              <a:rPr sz="900" spc="-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791AF"/>
                </a:solidFill>
                <a:latin typeface="Arial MT"/>
                <a:cs typeface="Arial MT"/>
              </a:rPr>
              <a:t>to Verify projects by registration year</a:t>
            </a:r>
            <a:r>
              <a:rPr sz="900" spc="25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791AF"/>
                </a:solidFill>
                <a:latin typeface="Arial MT"/>
                <a:cs typeface="Arial MT"/>
              </a:rPr>
              <a:t>·</a:t>
            </a:r>
            <a:r>
              <a:rPr sz="900" spc="25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791AF"/>
                </a:solidFill>
                <a:latin typeface="Arial MT"/>
                <a:cs typeface="Arial MT"/>
              </a:rPr>
              <a:t>2020 spike = CDM-to-VCS </a:t>
            </a:r>
            <a:r>
              <a:rPr sz="900" spc="-10" dirty="0">
                <a:solidFill>
                  <a:srgbClr val="8791AF"/>
                </a:solidFill>
                <a:latin typeface="Arial MT"/>
                <a:cs typeface="Arial MT"/>
              </a:rPr>
              <a:t>migration</a:t>
            </a:r>
            <a:endParaRPr sz="900" dirty="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44500" y="2743200"/>
            <a:ext cx="4759960" cy="17405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E6F0FF"/>
                </a:solidFill>
                <a:latin typeface="Arial"/>
                <a:cs typeface="Arial"/>
              </a:rPr>
              <a:t>of</a:t>
            </a:r>
            <a:r>
              <a:rPr sz="1300" b="1" spc="-30" dirty="0">
                <a:solidFill>
                  <a:srgbClr val="E6F0FF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E6F0FF"/>
                </a:solidFill>
                <a:latin typeface="Arial"/>
                <a:cs typeface="Arial"/>
              </a:rPr>
              <a:t>all</a:t>
            </a:r>
            <a:r>
              <a:rPr sz="1300" b="1" spc="-25" dirty="0">
                <a:solidFill>
                  <a:srgbClr val="E6F0FF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E6F0FF"/>
                </a:solidFill>
                <a:latin typeface="Arial"/>
                <a:cs typeface="Arial"/>
              </a:rPr>
              <a:t>Late-to-</a:t>
            </a:r>
            <a:r>
              <a:rPr sz="1300" b="1" dirty="0">
                <a:solidFill>
                  <a:srgbClr val="E6F0FF"/>
                </a:solidFill>
                <a:latin typeface="Arial"/>
                <a:cs typeface="Arial"/>
              </a:rPr>
              <a:t>Verify</a:t>
            </a:r>
            <a:r>
              <a:rPr sz="1300" b="1" spc="-25" dirty="0">
                <a:solidFill>
                  <a:srgbClr val="E6F0FF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E6F0FF"/>
                </a:solidFill>
                <a:latin typeface="Arial"/>
                <a:cs typeface="Arial"/>
              </a:rPr>
              <a:t>projects</a:t>
            </a:r>
            <a:r>
              <a:rPr sz="1300" b="1" spc="-25" dirty="0">
                <a:solidFill>
                  <a:srgbClr val="E6F0FF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E6F0FF"/>
                </a:solidFill>
                <a:latin typeface="Arial"/>
                <a:cs typeface="Arial"/>
              </a:rPr>
              <a:t>registered</a:t>
            </a:r>
            <a:r>
              <a:rPr sz="1300" b="1" spc="-25" dirty="0">
                <a:solidFill>
                  <a:srgbClr val="E6F0FF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E6F0FF"/>
                </a:solidFill>
                <a:latin typeface="Arial"/>
                <a:cs typeface="Arial"/>
              </a:rPr>
              <a:t>in</a:t>
            </a:r>
            <a:r>
              <a:rPr sz="1300" b="1" spc="-25" dirty="0">
                <a:solidFill>
                  <a:srgbClr val="E6F0FF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E6F0FF"/>
                </a:solidFill>
                <a:latin typeface="Arial"/>
                <a:cs typeface="Arial"/>
              </a:rPr>
              <a:t>a</a:t>
            </a:r>
            <a:r>
              <a:rPr sz="1300" b="1" spc="-30" dirty="0">
                <a:solidFill>
                  <a:srgbClr val="E6F0FF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E6F0FF"/>
                </a:solidFill>
                <a:latin typeface="Arial"/>
                <a:cs typeface="Arial"/>
              </a:rPr>
              <a:t>single</a:t>
            </a:r>
            <a:r>
              <a:rPr sz="1300" b="1" spc="-25" dirty="0">
                <a:solidFill>
                  <a:srgbClr val="E6F0FF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E6F0FF"/>
                </a:solidFill>
                <a:latin typeface="Arial"/>
                <a:cs typeface="Arial"/>
              </a:rPr>
              <a:t>year:</a:t>
            </a:r>
            <a:r>
              <a:rPr sz="1300" b="1" spc="-25" dirty="0">
                <a:solidFill>
                  <a:srgbClr val="E6F0FF"/>
                </a:solidFill>
                <a:latin typeface="Arial"/>
                <a:cs typeface="Arial"/>
              </a:rPr>
              <a:t> </a:t>
            </a:r>
            <a:r>
              <a:rPr sz="1300" b="1" spc="-20" dirty="0">
                <a:solidFill>
                  <a:srgbClr val="E6F0FF"/>
                </a:solidFill>
                <a:latin typeface="Arial"/>
                <a:cs typeface="Arial"/>
              </a:rPr>
              <a:t>2020</a:t>
            </a:r>
            <a:endParaRPr sz="13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endParaRPr lang="en-US" sz="1300" b="1" dirty="0">
              <a:solidFill>
                <a:srgbClr val="E6F0FF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sz="1300" b="1" dirty="0">
                <a:solidFill>
                  <a:srgbClr val="E6F0FF"/>
                </a:solidFill>
                <a:latin typeface="Arial"/>
                <a:cs typeface="Arial"/>
              </a:rPr>
              <a:t>What</a:t>
            </a:r>
            <a:r>
              <a:rPr sz="1300" b="1" spc="-5" dirty="0">
                <a:solidFill>
                  <a:srgbClr val="E6F0FF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E6F0FF"/>
                </a:solidFill>
                <a:latin typeface="Arial"/>
                <a:cs typeface="Arial"/>
              </a:rPr>
              <a:t>explains the 2020 </a:t>
            </a:r>
            <a:r>
              <a:rPr sz="1300" b="1" spc="-10" dirty="0">
                <a:solidFill>
                  <a:srgbClr val="E6F0FF"/>
                </a:solidFill>
                <a:latin typeface="Arial"/>
                <a:cs typeface="Arial"/>
              </a:rPr>
              <a:t>spike?</a:t>
            </a:r>
            <a:endParaRPr sz="1300" dirty="0">
              <a:latin typeface="Arial"/>
              <a:cs typeface="Arial"/>
            </a:endParaRPr>
          </a:p>
          <a:p>
            <a:pPr marL="12700" marR="45085">
              <a:lnSpc>
                <a:spcPct val="116700"/>
              </a:lnSpc>
            </a:pP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The</a:t>
            </a:r>
            <a:r>
              <a:rPr sz="1200" spc="-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pattern is consistent</a:t>
            </a:r>
            <a:r>
              <a:rPr sz="1200" spc="-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with the sunsetting of</a:t>
            </a:r>
            <a:r>
              <a:rPr sz="1200" spc="-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the UN’s CDM (Clean</a:t>
            </a:r>
            <a:r>
              <a:rPr sz="1200" spc="-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8791AF"/>
                </a:solidFill>
                <a:latin typeface="Arial MT"/>
                <a:cs typeface="Arial MT"/>
              </a:rPr>
              <a:t>Development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Mechanism), which prompted migration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of legacy projects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to VCS standards.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8791AF"/>
                </a:solidFill>
                <a:latin typeface="Arial MT"/>
                <a:cs typeface="Arial MT"/>
              </a:rPr>
              <a:t>These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349 projects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show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data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quality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patterns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typical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of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legacy record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8791AF"/>
                </a:solidFill>
                <a:latin typeface="Arial MT"/>
                <a:cs typeface="Arial MT"/>
              </a:rPr>
              <a:t>transfers.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0" y="7620000"/>
            <a:ext cx="7772400" cy="50800"/>
          </a:xfrm>
          <a:custGeom>
            <a:avLst/>
            <a:gdLst/>
            <a:ahLst/>
            <a:cxnLst/>
            <a:rect l="l" t="t" r="r" b="b"/>
            <a:pathLst>
              <a:path w="7772400" h="50800">
                <a:moveTo>
                  <a:pt x="7772400" y="0"/>
                </a:moveTo>
                <a:lnTo>
                  <a:pt x="0" y="0"/>
                </a:lnTo>
                <a:lnTo>
                  <a:pt x="0" y="50800"/>
                </a:lnTo>
                <a:lnTo>
                  <a:pt x="7772400" y="50800"/>
                </a:lnTo>
                <a:lnTo>
                  <a:pt x="7772400" y="0"/>
                </a:lnTo>
                <a:close/>
              </a:path>
            </a:pathLst>
          </a:custGeom>
          <a:solidFill>
            <a:srgbClr val="00D4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/>
              <a:t>6</a:t>
            </a:fld>
            <a:r>
              <a:rPr dirty="0"/>
              <a:t> / </a:t>
            </a:r>
            <a:r>
              <a:rPr spc="-25" dirty="0"/>
              <a:t>10</a:t>
            </a: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406400"/>
            <a:ext cx="1130300" cy="243840"/>
          </a:xfrm>
          <a:custGeom>
            <a:avLst/>
            <a:gdLst/>
            <a:ahLst/>
            <a:cxnLst/>
            <a:rect l="l" t="t" r="r" b="b"/>
            <a:pathLst>
              <a:path w="762635" h="203200">
                <a:moveTo>
                  <a:pt x="711301" y="0"/>
                </a:moveTo>
                <a:lnTo>
                  <a:pt x="50800" y="0"/>
                </a:lnTo>
                <a:lnTo>
                  <a:pt x="31015" y="3988"/>
                </a:lnTo>
                <a:lnTo>
                  <a:pt x="14869" y="14869"/>
                </a:lnTo>
                <a:lnTo>
                  <a:pt x="3988" y="31015"/>
                </a:lnTo>
                <a:lnTo>
                  <a:pt x="0" y="50800"/>
                </a:lnTo>
                <a:lnTo>
                  <a:pt x="0" y="152400"/>
                </a:lnTo>
                <a:lnTo>
                  <a:pt x="3988" y="172184"/>
                </a:lnTo>
                <a:lnTo>
                  <a:pt x="14869" y="188330"/>
                </a:lnTo>
                <a:lnTo>
                  <a:pt x="31015" y="199211"/>
                </a:lnTo>
                <a:lnTo>
                  <a:pt x="50800" y="203200"/>
                </a:lnTo>
                <a:lnTo>
                  <a:pt x="711301" y="203200"/>
                </a:lnTo>
                <a:lnTo>
                  <a:pt x="731086" y="199211"/>
                </a:lnTo>
                <a:lnTo>
                  <a:pt x="747232" y="188330"/>
                </a:lnTo>
                <a:lnTo>
                  <a:pt x="758113" y="172184"/>
                </a:lnTo>
                <a:lnTo>
                  <a:pt x="762101" y="152400"/>
                </a:lnTo>
                <a:lnTo>
                  <a:pt x="762101" y="50800"/>
                </a:lnTo>
                <a:lnTo>
                  <a:pt x="758113" y="31015"/>
                </a:lnTo>
                <a:lnTo>
                  <a:pt x="747232" y="14869"/>
                </a:lnTo>
                <a:lnTo>
                  <a:pt x="731086" y="3988"/>
                </a:lnTo>
                <a:lnTo>
                  <a:pt x="711301" y="0"/>
                </a:lnTo>
                <a:close/>
              </a:path>
            </a:pathLst>
          </a:custGeom>
          <a:solidFill>
            <a:srgbClr val="EF52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46100" y="431800"/>
            <a:ext cx="11303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E6F0FF"/>
                </a:solidFill>
                <a:latin typeface="Arial"/>
                <a:cs typeface="Arial"/>
              </a:rPr>
              <a:t>FINDING </a:t>
            </a:r>
            <a:r>
              <a:rPr sz="1200" b="1" spc="-25" dirty="0">
                <a:solidFill>
                  <a:srgbClr val="E6F0FF"/>
                </a:solidFill>
                <a:latin typeface="Arial"/>
                <a:cs typeface="Arial"/>
              </a:rPr>
              <a:t>#3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44500" y="751840"/>
            <a:ext cx="3667760" cy="69596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2400" dirty="0"/>
              <a:t>Data</a:t>
            </a:r>
            <a:r>
              <a:rPr sz="2400" spc="-30" dirty="0"/>
              <a:t> </a:t>
            </a:r>
            <a:r>
              <a:rPr sz="2400" dirty="0"/>
              <a:t>Quality</a:t>
            </a:r>
            <a:r>
              <a:rPr sz="2400" spc="-25" dirty="0"/>
              <a:t> </a:t>
            </a:r>
            <a:r>
              <a:rPr sz="2400" spc="-10" dirty="0"/>
              <a:t>Failures</a:t>
            </a:r>
            <a:endParaRPr sz="2400" dirty="0"/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1200" b="0" dirty="0">
                <a:solidFill>
                  <a:srgbClr val="8791AF"/>
                </a:solidFill>
                <a:latin typeface="Arial MT"/>
                <a:cs typeface="Arial MT"/>
              </a:rPr>
              <a:t>Systematic gaps that undermine registry </a:t>
            </a:r>
            <a:r>
              <a:rPr sz="1200" b="0" spc="-10" dirty="0">
                <a:solidFill>
                  <a:srgbClr val="8791AF"/>
                </a:solidFill>
                <a:latin typeface="Arial MT"/>
                <a:cs typeface="Arial MT"/>
              </a:rPr>
              <a:t>transparency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4500" y="1778000"/>
            <a:ext cx="27559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E6F0FF"/>
                </a:solidFill>
                <a:latin typeface="Arial"/>
                <a:cs typeface="Arial"/>
              </a:rPr>
              <a:t>Most</a:t>
            </a:r>
            <a:r>
              <a:rPr sz="1200" b="1" spc="-20" dirty="0">
                <a:solidFill>
                  <a:srgbClr val="E6F0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E6F0FF"/>
                </a:solidFill>
                <a:latin typeface="Arial"/>
                <a:cs typeface="Arial"/>
              </a:rPr>
              <a:t>common</a:t>
            </a:r>
            <a:r>
              <a:rPr sz="1200" b="1" spc="-15" dirty="0">
                <a:solidFill>
                  <a:srgbClr val="E6F0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E6F0FF"/>
                </a:solidFill>
                <a:latin typeface="Arial"/>
                <a:cs typeface="Arial"/>
              </a:rPr>
              <a:t>missing</a:t>
            </a:r>
            <a:r>
              <a:rPr sz="1200" b="1" spc="-15" dirty="0">
                <a:solidFill>
                  <a:srgbClr val="E6F0FF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E6F0FF"/>
                </a:solidFill>
                <a:latin typeface="Arial"/>
                <a:cs typeface="Arial"/>
              </a:rPr>
              <a:t>fields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4500" y="1993900"/>
            <a:ext cx="478790" cy="2744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25" dirty="0">
                <a:solidFill>
                  <a:srgbClr val="EF524F"/>
                </a:solidFill>
                <a:latin typeface="Arial"/>
                <a:cs typeface="Arial"/>
              </a:rPr>
              <a:t>937</a:t>
            </a:r>
            <a:endParaRPr sz="17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55700" y="2044700"/>
            <a:ext cx="158750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E6F0FF"/>
                </a:solidFill>
                <a:latin typeface="Arial MT"/>
                <a:cs typeface="Arial MT"/>
              </a:rPr>
              <a:t>Crediting Period </a:t>
            </a:r>
            <a:r>
              <a:rPr sz="1100" spc="-10" dirty="0">
                <a:solidFill>
                  <a:srgbClr val="E6F0FF"/>
                </a:solidFill>
                <a:latin typeface="Arial MT"/>
                <a:cs typeface="Arial MT"/>
              </a:rPr>
              <a:t>Dates</a:t>
            </a:r>
            <a:endParaRPr sz="1100" dirty="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57200" y="2273300"/>
            <a:ext cx="3048000" cy="88900"/>
            <a:chOff x="457200" y="2070100"/>
            <a:chExt cx="3048000" cy="88900"/>
          </a:xfrm>
        </p:grpSpPr>
        <p:sp>
          <p:nvSpPr>
            <p:cNvPr id="10" name="object 10"/>
            <p:cNvSpPr/>
            <p:nvPr/>
          </p:nvSpPr>
          <p:spPr>
            <a:xfrm>
              <a:off x="457200" y="2070100"/>
              <a:ext cx="3048000" cy="88900"/>
            </a:xfrm>
            <a:custGeom>
              <a:avLst/>
              <a:gdLst/>
              <a:ahLst/>
              <a:cxnLst/>
              <a:rect l="l" t="t" r="r" b="b"/>
              <a:pathLst>
                <a:path w="3048000" h="88900">
                  <a:moveTo>
                    <a:pt x="3009900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0800"/>
                  </a:lnTo>
                  <a:lnTo>
                    <a:pt x="2991" y="65638"/>
                  </a:lnTo>
                  <a:lnTo>
                    <a:pt x="11151" y="77748"/>
                  </a:lnTo>
                  <a:lnTo>
                    <a:pt x="23261" y="85908"/>
                  </a:lnTo>
                  <a:lnTo>
                    <a:pt x="38100" y="88900"/>
                  </a:lnTo>
                  <a:lnTo>
                    <a:pt x="3009900" y="88900"/>
                  </a:lnTo>
                  <a:lnTo>
                    <a:pt x="3024738" y="85908"/>
                  </a:lnTo>
                  <a:lnTo>
                    <a:pt x="3036848" y="77748"/>
                  </a:lnTo>
                  <a:lnTo>
                    <a:pt x="3045008" y="65638"/>
                  </a:lnTo>
                  <a:lnTo>
                    <a:pt x="3048000" y="50800"/>
                  </a:lnTo>
                  <a:lnTo>
                    <a:pt x="3048000" y="38100"/>
                  </a:lnTo>
                  <a:lnTo>
                    <a:pt x="3045008" y="23261"/>
                  </a:lnTo>
                  <a:lnTo>
                    <a:pt x="3036848" y="11151"/>
                  </a:lnTo>
                  <a:lnTo>
                    <a:pt x="3024738" y="2991"/>
                  </a:lnTo>
                  <a:lnTo>
                    <a:pt x="3009900" y="0"/>
                  </a:lnTo>
                  <a:close/>
                </a:path>
              </a:pathLst>
            </a:custGeom>
            <a:solidFill>
              <a:srgbClr val="1D3A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7200" y="2070100"/>
              <a:ext cx="1680210" cy="88900"/>
            </a:xfrm>
            <a:custGeom>
              <a:avLst/>
              <a:gdLst/>
              <a:ahLst/>
              <a:cxnLst/>
              <a:rect l="l" t="t" r="r" b="b"/>
              <a:pathLst>
                <a:path w="1680210" h="88900">
                  <a:moveTo>
                    <a:pt x="1641886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0800"/>
                  </a:lnTo>
                  <a:lnTo>
                    <a:pt x="2991" y="65638"/>
                  </a:lnTo>
                  <a:lnTo>
                    <a:pt x="11151" y="77748"/>
                  </a:lnTo>
                  <a:lnTo>
                    <a:pt x="23261" y="85908"/>
                  </a:lnTo>
                  <a:lnTo>
                    <a:pt x="38100" y="88900"/>
                  </a:lnTo>
                  <a:lnTo>
                    <a:pt x="1641886" y="88900"/>
                  </a:lnTo>
                  <a:lnTo>
                    <a:pt x="1656725" y="85908"/>
                  </a:lnTo>
                  <a:lnTo>
                    <a:pt x="1668834" y="77748"/>
                  </a:lnTo>
                  <a:lnTo>
                    <a:pt x="1676995" y="65638"/>
                  </a:lnTo>
                  <a:lnTo>
                    <a:pt x="1679986" y="50800"/>
                  </a:lnTo>
                  <a:lnTo>
                    <a:pt x="1679986" y="38100"/>
                  </a:lnTo>
                  <a:lnTo>
                    <a:pt x="1676995" y="23261"/>
                  </a:lnTo>
                  <a:lnTo>
                    <a:pt x="1668834" y="11151"/>
                  </a:lnTo>
                  <a:lnTo>
                    <a:pt x="1656725" y="2991"/>
                  </a:lnTo>
                  <a:lnTo>
                    <a:pt x="1641886" y="0"/>
                  </a:lnTo>
                  <a:close/>
                </a:path>
              </a:pathLst>
            </a:custGeom>
            <a:solidFill>
              <a:srgbClr val="EF52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568700" y="2209800"/>
            <a:ext cx="138430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8791AF"/>
                </a:solidFill>
                <a:latin typeface="Arial MT"/>
                <a:cs typeface="Arial MT"/>
              </a:rPr>
              <a:t>55% of </a:t>
            </a:r>
            <a:r>
              <a:rPr sz="1100" spc="-10" dirty="0">
                <a:solidFill>
                  <a:srgbClr val="8791AF"/>
                </a:solidFill>
                <a:latin typeface="Arial MT"/>
                <a:cs typeface="Arial MT"/>
              </a:rPr>
              <a:t>projects</a:t>
            </a:r>
            <a:endParaRPr sz="1100" dirty="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4500" y="2552700"/>
            <a:ext cx="478790" cy="2744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25" dirty="0">
                <a:solidFill>
                  <a:srgbClr val="F9A824"/>
                </a:solidFill>
                <a:latin typeface="Arial"/>
                <a:cs typeface="Arial"/>
              </a:rPr>
              <a:t>286</a:t>
            </a:r>
            <a:endParaRPr sz="170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55700" y="2603500"/>
            <a:ext cx="135890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E6F0FF"/>
                </a:solidFill>
                <a:latin typeface="Arial MT"/>
                <a:cs typeface="Arial MT"/>
              </a:rPr>
              <a:t>Registration </a:t>
            </a:r>
            <a:r>
              <a:rPr sz="1100" spc="-20" dirty="0">
                <a:solidFill>
                  <a:srgbClr val="E6F0FF"/>
                </a:solidFill>
                <a:latin typeface="Arial MT"/>
                <a:cs typeface="Arial MT"/>
              </a:rPr>
              <a:t>Date</a:t>
            </a:r>
            <a:endParaRPr sz="1100" dirty="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57200" y="2832100"/>
            <a:ext cx="3048000" cy="88900"/>
            <a:chOff x="457200" y="2628900"/>
            <a:chExt cx="3048000" cy="88900"/>
          </a:xfrm>
        </p:grpSpPr>
        <p:sp>
          <p:nvSpPr>
            <p:cNvPr id="16" name="object 16"/>
            <p:cNvSpPr/>
            <p:nvPr/>
          </p:nvSpPr>
          <p:spPr>
            <a:xfrm>
              <a:off x="457200" y="2628900"/>
              <a:ext cx="3048000" cy="88900"/>
            </a:xfrm>
            <a:custGeom>
              <a:avLst/>
              <a:gdLst/>
              <a:ahLst/>
              <a:cxnLst/>
              <a:rect l="l" t="t" r="r" b="b"/>
              <a:pathLst>
                <a:path w="3048000" h="88900">
                  <a:moveTo>
                    <a:pt x="3009900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0800"/>
                  </a:lnTo>
                  <a:lnTo>
                    <a:pt x="2991" y="65638"/>
                  </a:lnTo>
                  <a:lnTo>
                    <a:pt x="11151" y="77748"/>
                  </a:lnTo>
                  <a:lnTo>
                    <a:pt x="23261" y="85908"/>
                  </a:lnTo>
                  <a:lnTo>
                    <a:pt x="38100" y="88900"/>
                  </a:lnTo>
                  <a:lnTo>
                    <a:pt x="3009900" y="88900"/>
                  </a:lnTo>
                  <a:lnTo>
                    <a:pt x="3024738" y="85908"/>
                  </a:lnTo>
                  <a:lnTo>
                    <a:pt x="3036848" y="77748"/>
                  </a:lnTo>
                  <a:lnTo>
                    <a:pt x="3045008" y="65638"/>
                  </a:lnTo>
                  <a:lnTo>
                    <a:pt x="3048000" y="50800"/>
                  </a:lnTo>
                  <a:lnTo>
                    <a:pt x="3048000" y="38100"/>
                  </a:lnTo>
                  <a:lnTo>
                    <a:pt x="3045008" y="23261"/>
                  </a:lnTo>
                  <a:lnTo>
                    <a:pt x="3036848" y="11151"/>
                  </a:lnTo>
                  <a:lnTo>
                    <a:pt x="3024738" y="2991"/>
                  </a:lnTo>
                  <a:lnTo>
                    <a:pt x="3009900" y="0"/>
                  </a:lnTo>
                  <a:close/>
                </a:path>
              </a:pathLst>
            </a:custGeom>
            <a:solidFill>
              <a:srgbClr val="1D3A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57200" y="2628900"/>
              <a:ext cx="513080" cy="88900"/>
            </a:xfrm>
            <a:custGeom>
              <a:avLst/>
              <a:gdLst/>
              <a:ahLst/>
              <a:cxnLst/>
              <a:rect l="l" t="t" r="r" b="b"/>
              <a:pathLst>
                <a:path w="513080" h="88900">
                  <a:moveTo>
                    <a:pt x="474681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0800"/>
                  </a:lnTo>
                  <a:lnTo>
                    <a:pt x="2991" y="65638"/>
                  </a:lnTo>
                  <a:lnTo>
                    <a:pt x="11151" y="77748"/>
                  </a:lnTo>
                  <a:lnTo>
                    <a:pt x="23261" y="85908"/>
                  </a:lnTo>
                  <a:lnTo>
                    <a:pt x="38100" y="88900"/>
                  </a:lnTo>
                  <a:lnTo>
                    <a:pt x="474681" y="88900"/>
                  </a:lnTo>
                  <a:lnTo>
                    <a:pt x="489519" y="85908"/>
                  </a:lnTo>
                  <a:lnTo>
                    <a:pt x="501629" y="77748"/>
                  </a:lnTo>
                  <a:lnTo>
                    <a:pt x="509789" y="65638"/>
                  </a:lnTo>
                  <a:lnTo>
                    <a:pt x="512781" y="50800"/>
                  </a:lnTo>
                  <a:lnTo>
                    <a:pt x="512781" y="38100"/>
                  </a:lnTo>
                  <a:lnTo>
                    <a:pt x="509789" y="23261"/>
                  </a:lnTo>
                  <a:lnTo>
                    <a:pt x="501629" y="11151"/>
                  </a:lnTo>
                  <a:lnTo>
                    <a:pt x="489519" y="2991"/>
                  </a:lnTo>
                  <a:lnTo>
                    <a:pt x="474681" y="0"/>
                  </a:lnTo>
                  <a:close/>
                </a:path>
              </a:pathLst>
            </a:custGeom>
            <a:solidFill>
              <a:srgbClr val="F9A8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568700" y="2768600"/>
            <a:ext cx="123190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8791AF"/>
                </a:solidFill>
                <a:latin typeface="Arial MT"/>
                <a:cs typeface="Arial MT"/>
              </a:rPr>
              <a:t>17% of </a:t>
            </a:r>
            <a:r>
              <a:rPr sz="1100" spc="-10" dirty="0">
                <a:solidFill>
                  <a:srgbClr val="8791AF"/>
                </a:solidFill>
                <a:latin typeface="Arial MT"/>
                <a:cs typeface="Arial MT"/>
              </a:rPr>
              <a:t>projects</a:t>
            </a:r>
            <a:endParaRPr sz="1100" dirty="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44500" y="3111500"/>
            <a:ext cx="616584" cy="2744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25" dirty="0">
                <a:solidFill>
                  <a:srgbClr val="F9A824"/>
                </a:solidFill>
                <a:latin typeface="Arial"/>
                <a:cs typeface="Arial"/>
              </a:rPr>
              <a:t>132</a:t>
            </a:r>
            <a:endParaRPr sz="1700" dirty="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55700" y="3162300"/>
            <a:ext cx="166370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E6F0FF"/>
                </a:solidFill>
                <a:latin typeface="Arial MT"/>
                <a:cs typeface="Arial MT"/>
              </a:rPr>
              <a:t>Region </a:t>
            </a:r>
            <a:r>
              <a:rPr sz="1100" spc="-10" dirty="0">
                <a:solidFill>
                  <a:srgbClr val="E6F0FF"/>
                </a:solidFill>
                <a:latin typeface="Arial MT"/>
                <a:cs typeface="Arial MT"/>
              </a:rPr>
              <a:t>Classification</a:t>
            </a:r>
            <a:endParaRPr sz="1100" dirty="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57200" y="3390900"/>
            <a:ext cx="3048000" cy="88900"/>
            <a:chOff x="457200" y="3187700"/>
            <a:chExt cx="3048000" cy="88900"/>
          </a:xfrm>
        </p:grpSpPr>
        <p:sp>
          <p:nvSpPr>
            <p:cNvPr id="22" name="object 22"/>
            <p:cNvSpPr/>
            <p:nvPr/>
          </p:nvSpPr>
          <p:spPr>
            <a:xfrm>
              <a:off x="457200" y="3187700"/>
              <a:ext cx="3048000" cy="88900"/>
            </a:xfrm>
            <a:custGeom>
              <a:avLst/>
              <a:gdLst/>
              <a:ahLst/>
              <a:cxnLst/>
              <a:rect l="l" t="t" r="r" b="b"/>
              <a:pathLst>
                <a:path w="3048000" h="88900">
                  <a:moveTo>
                    <a:pt x="3009900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0800"/>
                  </a:lnTo>
                  <a:lnTo>
                    <a:pt x="2991" y="65638"/>
                  </a:lnTo>
                  <a:lnTo>
                    <a:pt x="11151" y="77748"/>
                  </a:lnTo>
                  <a:lnTo>
                    <a:pt x="23261" y="85908"/>
                  </a:lnTo>
                  <a:lnTo>
                    <a:pt x="38100" y="88900"/>
                  </a:lnTo>
                  <a:lnTo>
                    <a:pt x="3009900" y="88900"/>
                  </a:lnTo>
                  <a:lnTo>
                    <a:pt x="3024738" y="85908"/>
                  </a:lnTo>
                  <a:lnTo>
                    <a:pt x="3036848" y="77748"/>
                  </a:lnTo>
                  <a:lnTo>
                    <a:pt x="3045008" y="65638"/>
                  </a:lnTo>
                  <a:lnTo>
                    <a:pt x="3048000" y="50800"/>
                  </a:lnTo>
                  <a:lnTo>
                    <a:pt x="3048000" y="38100"/>
                  </a:lnTo>
                  <a:lnTo>
                    <a:pt x="3045008" y="23261"/>
                  </a:lnTo>
                  <a:lnTo>
                    <a:pt x="3036848" y="11151"/>
                  </a:lnTo>
                  <a:lnTo>
                    <a:pt x="3024738" y="2991"/>
                  </a:lnTo>
                  <a:lnTo>
                    <a:pt x="3009900" y="0"/>
                  </a:lnTo>
                  <a:close/>
                </a:path>
              </a:pathLst>
            </a:custGeom>
            <a:solidFill>
              <a:srgbClr val="1D3A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3187700"/>
              <a:ext cx="236668" cy="88900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444500" y="3327400"/>
            <a:ext cx="3874135" cy="6873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8791AF"/>
                </a:solidFill>
                <a:latin typeface="Arial MT"/>
                <a:cs typeface="Arial MT"/>
              </a:rPr>
              <a:t>8% of </a:t>
            </a:r>
            <a:r>
              <a:rPr sz="1100" spc="-10" dirty="0">
                <a:solidFill>
                  <a:srgbClr val="8791AF"/>
                </a:solidFill>
                <a:latin typeface="Arial MT"/>
                <a:cs typeface="Arial MT"/>
              </a:rPr>
              <a:t>projects</a:t>
            </a:r>
            <a:endParaRPr sz="11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solidFill>
                  <a:srgbClr val="E6F0FF"/>
                </a:solidFill>
                <a:latin typeface="Arial"/>
                <a:cs typeface="Arial"/>
              </a:rPr>
              <a:t>Risk</a:t>
            </a:r>
            <a:r>
              <a:rPr sz="1200" b="1" spc="-10" dirty="0">
                <a:solidFill>
                  <a:srgbClr val="E6F0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E6F0FF"/>
                </a:solidFill>
                <a:latin typeface="Arial"/>
                <a:cs typeface="Arial"/>
              </a:rPr>
              <a:t>level</a:t>
            </a:r>
            <a:r>
              <a:rPr sz="1200" b="1" spc="-5" dirty="0">
                <a:solidFill>
                  <a:srgbClr val="E6F0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E6F0FF"/>
                </a:solidFill>
                <a:latin typeface="Arial"/>
                <a:cs typeface="Arial"/>
              </a:rPr>
              <a:t>distribution</a:t>
            </a:r>
            <a:r>
              <a:rPr sz="1200" b="1" spc="-5" dirty="0">
                <a:solidFill>
                  <a:srgbClr val="E6F0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E6F0FF"/>
                </a:solidFill>
                <a:latin typeface="Arial"/>
                <a:cs typeface="Arial"/>
              </a:rPr>
              <a:t>&amp;</a:t>
            </a:r>
            <a:r>
              <a:rPr sz="1200" b="1" spc="-5" dirty="0">
                <a:solidFill>
                  <a:srgbClr val="E6F0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E6F0FF"/>
                </a:solidFill>
                <a:latin typeface="Arial"/>
                <a:cs typeface="Arial"/>
              </a:rPr>
              <a:t>classification</a:t>
            </a:r>
            <a:r>
              <a:rPr sz="1200" b="1" spc="-10" dirty="0">
                <a:solidFill>
                  <a:srgbClr val="E6F0FF"/>
                </a:solidFill>
                <a:latin typeface="Arial"/>
                <a:cs typeface="Arial"/>
              </a:rPr>
              <a:t> rules</a:t>
            </a:r>
            <a:endParaRPr sz="1200" dirty="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57200" y="4114800"/>
            <a:ext cx="6858000" cy="533400"/>
            <a:chOff x="457200" y="3911600"/>
            <a:chExt cx="6858000" cy="533400"/>
          </a:xfrm>
        </p:grpSpPr>
        <p:sp>
          <p:nvSpPr>
            <p:cNvPr id="27" name="object 27"/>
            <p:cNvSpPr/>
            <p:nvPr/>
          </p:nvSpPr>
          <p:spPr>
            <a:xfrm>
              <a:off x="457200" y="3911600"/>
              <a:ext cx="6858000" cy="533400"/>
            </a:xfrm>
            <a:custGeom>
              <a:avLst/>
              <a:gdLst/>
              <a:ahLst/>
              <a:cxnLst/>
              <a:rect l="l" t="t" r="r" b="b"/>
              <a:pathLst>
                <a:path w="6858000" h="533400">
                  <a:moveTo>
                    <a:pt x="6756400" y="0"/>
                  </a:moveTo>
                  <a:lnTo>
                    <a:pt x="101600" y="0"/>
                  </a:lnTo>
                  <a:lnTo>
                    <a:pt x="62030" y="7976"/>
                  </a:lnTo>
                  <a:lnTo>
                    <a:pt x="29738" y="29738"/>
                  </a:lnTo>
                  <a:lnTo>
                    <a:pt x="7976" y="62030"/>
                  </a:lnTo>
                  <a:lnTo>
                    <a:pt x="0" y="101600"/>
                  </a:lnTo>
                  <a:lnTo>
                    <a:pt x="0" y="431800"/>
                  </a:lnTo>
                  <a:lnTo>
                    <a:pt x="7976" y="471369"/>
                  </a:lnTo>
                  <a:lnTo>
                    <a:pt x="29738" y="503661"/>
                  </a:lnTo>
                  <a:lnTo>
                    <a:pt x="62030" y="525423"/>
                  </a:lnTo>
                  <a:lnTo>
                    <a:pt x="101600" y="533400"/>
                  </a:lnTo>
                  <a:lnTo>
                    <a:pt x="6756400" y="533400"/>
                  </a:lnTo>
                  <a:lnTo>
                    <a:pt x="6795969" y="525423"/>
                  </a:lnTo>
                  <a:lnTo>
                    <a:pt x="6828261" y="503661"/>
                  </a:lnTo>
                  <a:lnTo>
                    <a:pt x="6850023" y="471369"/>
                  </a:lnTo>
                  <a:lnTo>
                    <a:pt x="6858000" y="431800"/>
                  </a:lnTo>
                  <a:lnTo>
                    <a:pt x="6858000" y="101600"/>
                  </a:lnTo>
                  <a:lnTo>
                    <a:pt x="6850023" y="62030"/>
                  </a:lnTo>
                  <a:lnTo>
                    <a:pt x="6828261" y="29738"/>
                  </a:lnTo>
                  <a:lnTo>
                    <a:pt x="6795969" y="7976"/>
                  </a:lnTo>
                  <a:lnTo>
                    <a:pt x="6756400" y="0"/>
                  </a:lnTo>
                  <a:close/>
                </a:path>
              </a:pathLst>
            </a:custGeom>
            <a:solidFill>
              <a:srgbClr val="1121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57200" y="3911600"/>
              <a:ext cx="63500" cy="533400"/>
            </a:xfrm>
            <a:custGeom>
              <a:avLst/>
              <a:gdLst/>
              <a:ahLst/>
              <a:cxnLst/>
              <a:rect l="l" t="t" r="r" b="b"/>
              <a:pathLst>
                <a:path w="63500" h="533400">
                  <a:moveTo>
                    <a:pt x="635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63500" y="533400"/>
                  </a:lnTo>
                  <a:lnTo>
                    <a:pt x="63500" y="0"/>
                  </a:lnTo>
                  <a:close/>
                </a:path>
              </a:pathLst>
            </a:custGeom>
            <a:solidFill>
              <a:srgbClr val="EF52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22300" y="4091158"/>
            <a:ext cx="438784" cy="40588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000" b="1" spc="-20" dirty="0">
                <a:solidFill>
                  <a:srgbClr val="EF524F"/>
                </a:solidFill>
                <a:latin typeface="Arial"/>
                <a:cs typeface="Arial"/>
              </a:rPr>
              <a:t>HIGH</a:t>
            </a:r>
            <a:endParaRPr sz="1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00" b="1" spc="-25" dirty="0">
                <a:solidFill>
                  <a:srgbClr val="EF524F"/>
                </a:solidFill>
                <a:latin typeface="Arial"/>
                <a:cs typeface="Arial"/>
              </a:rPr>
              <a:t>103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460500" y="4062984"/>
            <a:ext cx="2501900" cy="459741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200" b="1" dirty="0">
                <a:solidFill>
                  <a:srgbClr val="E6F0FF"/>
                </a:solidFill>
                <a:latin typeface="Arial"/>
                <a:cs typeface="Arial"/>
              </a:rPr>
              <a:t>Score</a:t>
            </a:r>
            <a:r>
              <a:rPr sz="1200" b="1" spc="-20" dirty="0">
                <a:solidFill>
                  <a:srgbClr val="E6F0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E6F0FF"/>
                </a:solidFill>
                <a:latin typeface="Arial"/>
                <a:cs typeface="Arial"/>
              </a:rPr>
              <a:t>&lt;</a:t>
            </a:r>
            <a:r>
              <a:rPr sz="1200" b="1" spc="-15" dirty="0">
                <a:solidFill>
                  <a:srgbClr val="E6F0FF"/>
                </a:solidFill>
                <a:latin typeface="Arial"/>
                <a:cs typeface="Arial"/>
              </a:rPr>
              <a:t> </a:t>
            </a:r>
            <a:r>
              <a:rPr sz="1200" b="1" spc="-25" dirty="0">
                <a:solidFill>
                  <a:srgbClr val="E6F0FF"/>
                </a:solidFill>
                <a:latin typeface="Arial"/>
                <a:cs typeface="Arial"/>
              </a:rPr>
              <a:t>50</a:t>
            </a:r>
            <a:endParaRPr sz="1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OR score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&lt;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75 with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2+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data </a:t>
            </a:r>
            <a:r>
              <a:rPr sz="1200" spc="-10" dirty="0">
                <a:solidFill>
                  <a:srgbClr val="8791AF"/>
                </a:solidFill>
                <a:latin typeface="Arial MT"/>
                <a:cs typeface="Arial MT"/>
              </a:rPr>
              <a:t>flags</a:t>
            </a:r>
            <a:endParaRPr sz="1200" dirty="0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375400" y="4343400"/>
            <a:ext cx="965200" cy="76200"/>
            <a:chOff x="6375400" y="4140200"/>
            <a:chExt cx="965200" cy="76200"/>
          </a:xfrm>
        </p:grpSpPr>
        <p:sp>
          <p:nvSpPr>
            <p:cNvPr id="32" name="object 32"/>
            <p:cNvSpPr/>
            <p:nvPr/>
          </p:nvSpPr>
          <p:spPr>
            <a:xfrm>
              <a:off x="6375400" y="4140200"/>
              <a:ext cx="965200" cy="76200"/>
            </a:xfrm>
            <a:custGeom>
              <a:avLst/>
              <a:gdLst/>
              <a:ahLst/>
              <a:cxnLst/>
              <a:rect l="l" t="t" r="r" b="b"/>
              <a:pathLst>
                <a:path w="965200" h="76200">
                  <a:moveTo>
                    <a:pt x="927100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2991" y="52938"/>
                  </a:lnTo>
                  <a:lnTo>
                    <a:pt x="11151" y="65048"/>
                  </a:lnTo>
                  <a:lnTo>
                    <a:pt x="23261" y="73208"/>
                  </a:lnTo>
                  <a:lnTo>
                    <a:pt x="38100" y="76200"/>
                  </a:lnTo>
                  <a:lnTo>
                    <a:pt x="927100" y="76200"/>
                  </a:lnTo>
                  <a:lnTo>
                    <a:pt x="941938" y="73208"/>
                  </a:lnTo>
                  <a:lnTo>
                    <a:pt x="954048" y="65048"/>
                  </a:lnTo>
                  <a:lnTo>
                    <a:pt x="962208" y="52938"/>
                  </a:lnTo>
                  <a:lnTo>
                    <a:pt x="965200" y="38100"/>
                  </a:lnTo>
                  <a:lnTo>
                    <a:pt x="962208" y="23261"/>
                  </a:lnTo>
                  <a:lnTo>
                    <a:pt x="954048" y="11151"/>
                  </a:lnTo>
                  <a:lnTo>
                    <a:pt x="941938" y="2991"/>
                  </a:lnTo>
                  <a:lnTo>
                    <a:pt x="927100" y="0"/>
                  </a:lnTo>
                  <a:close/>
                </a:path>
              </a:pathLst>
            </a:custGeom>
            <a:solidFill>
              <a:srgbClr val="1D3A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375400" y="4140200"/>
              <a:ext cx="59055" cy="76200"/>
            </a:xfrm>
            <a:custGeom>
              <a:avLst/>
              <a:gdLst/>
              <a:ahLst/>
              <a:cxnLst/>
              <a:rect l="l" t="t" r="r" b="b"/>
              <a:pathLst>
                <a:path w="59054" h="76200">
                  <a:moveTo>
                    <a:pt x="29239" y="74413"/>
                  </a:moveTo>
                  <a:lnTo>
                    <a:pt x="20379" y="76200"/>
                  </a:lnTo>
                  <a:lnTo>
                    <a:pt x="38100" y="76200"/>
                  </a:lnTo>
                  <a:lnTo>
                    <a:pt x="29239" y="74413"/>
                  </a:lnTo>
                  <a:close/>
                </a:path>
                <a:path w="59054" h="76200">
                  <a:moveTo>
                    <a:pt x="29239" y="1786"/>
                  </a:move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2991" y="52938"/>
                  </a:lnTo>
                  <a:lnTo>
                    <a:pt x="11151" y="65048"/>
                  </a:lnTo>
                  <a:lnTo>
                    <a:pt x="23261" y="73208"/>
                  </a:lnTo>
                  <a:lnTo>
                    <a:pt x="29239" y="74413"/>
                  </a:lnTo>
                  <a:lnTo>
                    <a:pt x="35218" y="73208"/>
                  </a:lnTo>
                  <a:lnTo>
                    <a:pt x="47327" y="65048"/>
                  </a:lnTo>
                  <a:lnTo>
                    <a:pt x="55488" y="52938"/>
                  </a:lnTo>
                  <a:lnTo>
                    <a:pt x="58479" y="38100"/>
                  </a:lnTo>
                  <a:lnTo>
                    <a:pt x="55488" y="23261"/>
                  </a:lnTo>
                  <a:lnTo>
                    <a:pt x="47327" y="11151"/>
                  </a:lnTo>
                  <a:lnTo>
                    <a:pt x="35218" y="2991"/>
                  </a:lnTo>
                  <a:lnTo>
                    <a:pt x="29239" y="1786"/>
                  </a:lnTo>
                  <a:close/>
                </a:path>
                <a:path w="59054" h="76200">
                  <a:moveTo>
                    <a:pt x="38100" y="0"/>
                  </a:moveTo>
                  <a:lnTo>
                    <a:pt x="20379" y="0"/>
                  </a:lnTo>
                  <a:lnTo>
                    <a:pt x="29239" y="1786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EF52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457200" y="4724400"/>
            <a:ext cx="6858000" cy="533400"/>
            <a:chOff x="457200" y="4521200"/>
            <a:chExt cx="6858000" cy="533400"/>
          </a:xfrm>
        </p:grpSpPr>
        <p:sp>
          <p:nvSpPr>
            <p:cNvPr id="35" name="object 35"/>
            <p:cNvSpPr/>
            <p:nvPr/>
          </p:nvSpPr>
          <p:spPr>
            <a:xfrm>
              <a:off x="457200" y="4521200"/>
              <a:ext cx="6858000" cy="533400"/>
            </a:xfrm>
            <a:custGeom>
              <a:avLst/>
              <a:gdLst/>
              <a:ahLst/>
              <a:cxnLst/>
              <a:rect l="l" t="t" r="r" b="b"/>
              <a:pathLst>
                <a:path w="6858000" h="533400">
                  <a:moveTo>
                    <a:pt x="6756400" y="0"/>
                  </a:moveTo>
                  <a:lnTo>
                    <a:pt x="101600" y="0"/>
                  </a:lnTo>
                  <a:lnTo>
                    <a:pt x="62030" y="7976"/>
                  </a:lnTo>
                  <a:lnTo>
                    <a:pt x="29738" y="29738"/>
                  </a:lnTo>
                  <a:lnTo>
                    <a:pt x="7976" y="62030"/>
                  </a:lnTo>
                  <a:lnTo>
                    <a:pt x="0" y="101600"/>
                  </a:lnTo>
                  <a:lnTo>
                    <a:pt x="0" y="431800"/>
                  </a:lnTo>
                  <a:lnTo>
                    <a:pt x="7976" y="471369"/>
                  </a:lnTo>
                  <a:lnTo>
                    <a:pt x="29738" y="503661"/>
                  </a:lnTo>
                  <a:lnTo>
                    <a:pt x="62030" y="525423"/>
                  </a:lnTo>
                  <a:lnTo>
                    <a:pt x="101600" y="533400"/>
                  </a:lnTo>
                  <a:lnTo>
                    <a:pt x="6756400" y="533400"/>
                  </a:lnTo>
                  <a:lnTo>
                    <a:pt x="6795969" y="525423"/>
                  </a:lnTo>
                  <a:lnTo>
                    <a:pt x="6828261" y="503661"/>
                  </a:lnTo>
                  <a:lnTo>
                    <a:pt x="6850023" y="471369"/>
                  </a:lnTo>
                  <a:lnTo>
                    <a:pt x="6858000" y="431800"/>
                  </a:lnTo>
                  <a:lnTo>
                    <a:pt x="6858000" y="101600"/>
                  </a:lnTo>
                  <a:lnTo>
                    <a:pt x="6850023" y="62030"/>
                  </a:lnTo>
                  <a:lnTo>
                    <a:pt x="6828261" y="29738"/>
                  </a:lnTo>
                  <a:lnTo>
                    <a:pt x="6795969" y="7976"/>
                  </a:lnTo>
                  <a:lnTo>
                    <a:pt x="6756400" y="0"/>
                  </a:lnTo>
                  <a:close/>
                </a:path>
              </a:pathLst>
            </a:custGeom>
            <a:solidFill>
              <a:srgbClr val="1121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57200" y="4521200"/>
              <a:ext cx="63500" cy="533400"/>
            </a:xfrm>
            <a:custGeom>
              <a:avLst/>
              <a:gdLst/>
              <a:ahLst/>
              <a:cxnLst/>
              <a:rect l="l" t="t" r="r" b="b"/>
              <a:pathLst>
                <a:path w="63500" h="533400">
                  <a:moveTo>
                    <a:pt x="635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63500" y="533400"/>
                  </a:lnTo>
                  <a:lnTo>
                    <a:pt x="63500" y="0"/>
                  </a:lnTo>
                  <a:close/>
                </a:path>
              </a:pathLst>
            </a:custGeom>
            <a:solidFill>
              <a:srgbClr val="F9A8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633058" y="4700758"/>
            <a:ext cx="522642" cy="40588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000" b="1" spc="-25" dirty="0">
                <a:solidFill>
                  <a:srgbClr val="F9A824"/>
                </a:solidFill>
                <a:latin typeface="Arial"/>
                <a:cs typeface="Arial"/>
              </a:rPr>
              <a:t>MED</a:t>
            </a:r>
            <a:endParaRPr sz="1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00" b="1" spc="-10" dirty="0">
                <a:solidFill>
                  <a:srgbClr val="F9A824"/>
                </a:solidFill>
                <a:latin typeface="Arial"/>
                <a:cs typeface="Arial"/>
              </a:rPr>
              <a:t>1,046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460500" y="4672584"/>
            <a:ext cx="4374516" cy="459741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200" b="1" dirty="0">
                <a:solidFill>
                  <a:srgbClr val="E6F0FF"/>
                </a:solidFill>
                <a:latin typeface="Arial"/>
                <a:cs typeface="Arial"/>
              </a:rPr>
              <a:t>Score</a:t>
            </a:r>
            <a:r>
              <a:rPr sz="1200" b="1" spc="-20" dirty="0">
                <a:solidFill>
                  <a:srgbClr val="E6F0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E6F0FF"/>
                </a:solidFill>
                <a:latin typeface="Arial"/>
                <a:cs typeface="Arial"/>
              </a:rPr>
              <a:t>&lt;</a:t>
            </a:r>
            <a:r>
              <a:rPr sz="1200" b="1" spc="-15" dirty="0">
                <a:solidFill>
                  <a:srgbClr val="E6F0FF"/>
                </a:solidFill>
                <a:latin typeface="Arial"/>
                <a:cs typeface="Arial"/>
              </a:rPr>
              <a:t> </a:t>
            </a:r>
            <a:r>
              <a:rPr sz="1200" b="1" spc="-25" dirty="0">
                <a:solidFill>
                  <a:srgbClr val="E6F0FF"/>
                </a:solidFill>
                <a:latin typeface="Arial"/>
                <a:cs typeface="Arial"/>
              </a:rPr>
              <a:t>75</a:t>
            </a:r>
            <a:endParaRPr sz="1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OR Late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to Verify</a:t>
            </a:r>
            <a:r>
              <a:rPr sz="1200" spc="28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OR</a:t>
            </a:r>
            <a:r>
              <a:rPr sz="1200" spc="28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missing C</a:t>
            </a:r>
            <a:r>
              <a:rPr lang="en-US" sz="1200" dirty="0">
                <a:solidFill>
                  <a:srgbClr val="8791AF"/>
                </a:solidFill>
                <a:latin typeface="Arial MT"/>
                <a:cs typeface="Arial MT"/>
              </a:rPr>
              <a:t>rediting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P</a:t>
            </a:r>
            <a:r>
              <a:rPr lang="en-US" sz="1200" dirty="0">
                <a:solidFill>
                  <a:srgbClr val="8791AF"/>
                </a:solidFill>
                <a:latin typeface="Arial MT"/>
                <a:cs typeface="Arial MT"/>
              </a:rPr>
              <a:t>eriod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8791AF"/>
                </a:solidFill>
                <a:latin typeface="Arial MT"/>
                <a:cs typeface="Arial MT"/>
              </a:rPr>
              <a:t>dates</a:t>
            </a:r>
            <a:endParaRPr sz="1200" dirty="0">
              <a:latin typeface="Arial MT"/>
              <a:cs typeface="Arial MT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6375400" y="4953000"/>
            <a:ext cx="965200" cy="76200"/>
            <a:chOff x="6375400" y="4749800"/>
            <a:chExt cx="965200" cy="76200"/>
          </a:xfrm>
        </p:grpSpPr>
        <p:sp>
          <p:nvSpPr>
            <p:cNvPr id="40" name="object 40"/>
            <p:cNvSpPr/>
            <p:nvPr/>
          </p:nvSpPr>
          <p:spPr>
            <a:xfrm>
              <a:off x="6375400" y="4749800"/>
              <a:ext cx="965200" cy="76200"/>
            </a:xfrm>
            <a:custGeom>
              <a:avLst/>
              <a:gdLst/>
              <a:ahLst/>
              <a:cxnLst/>
              <a:rect l="l" t="t" r="r" b="b"/>
              <a:pathLst>
                <a:path w="965200" h="76200">
                  <a:moveTo>
                    <a:pt x="927100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2991" y="52938"/>
                  </a:lnTo>
                  <a:lnTo>
                    <a:pt x="11151" y="65048"/>
                  </a:lnTo>
                  <a:lnTo>
                    <a:pt x="23261" y="73208"/>
                  </a:lnTo>
                  <a:lnTo>
                    <a:pt x="38100" y="76200"/>
                  </a:lnTo>
                  <a:lnTo>
                    <a:pt x="927100" y="76200"/>
                  </a:lnTo>
                  <a:lnTo>
                    <a:pt x="941938" y="73208"/>
                  </a:lnTo>
                  <a:lnTo>
                    <a:pt x="954048" y="65048"/>
                  </a:lnTo>
                  <a:lnTo>
                    <a:pt x="962208" y="52938"/>
                  </a:lnTo>
                  <a:lnTo>
                    <a:pt x="965200" y="38100"/>
                  </a:lnTo>
                  <a:lnTo>
                    <a:pt x="962208" y="23261"/>
                  </a:lnTo>
                  <a:lnTo>
                    <a:pt x="954048" y="11151"/>
                  </a:lnTo>
                  <a:lnTo>
                    <a:pt x="941938" y="2991"/>
                  </a:lnTo>
                  <a:lnTo>
                    <a:pt x="927100" y="0"/>
                  </a:lnTo>
                  <a:close/>
                </a:path>
              </a:pathLst>
            </a:custGeom>
            <a:solidFill>
              <a:srgbClr val="1D3A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375400" y="4749800"/>
              <a:ext cx="594360" cy="76200"/>
            </a:xfrm>
            <a:custGeom>
              <a:avLst/>
              <a:gdLst/>
              <a:ahLst/>
              <a:cxnLst/>
              <a:rect l="l" t="t" r="r" b="b"/>
              <a:pathLst>
                <a:path w="594359" h="76200">
                  <a:moveTo>
                    <a:pt x="555782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2991" y="52938"/>
                  </a:lnTo>
                  <a:lnTo>
                    <a:pt x="11151" y="65048"/>
                  </a:lnTo>
                  <a:lnTo>
                    <a:pt x="23261" y="73208"/>
                  </a:lnTo>
                  <a:lnTo>
                    <a:pt x="38100" y="76200"/>
                  </a:lnTo>
                  <a:lnTo>
                    <a:pt x="555782" y="76200"/>
                  </a:lnTo>
                  <a:lnTo>
                    <a:pt x="570621" y="73208"/>
                  </a:lnTo>
                  <a:lnTo>
                    <a:pt x="582730" y="65048"/>
                  </a:lnTo>
                  <a:lnTo>
                    <a:pt x="590891" y="52938"/>
                  </a:lnTo>
                  <a:lnTo>
                    <a:pt x="593882" y="38100"/>
                  </a:lnTo>
                  <a:lnTo>
                    <a:pt x="590891" y="23261"/>
                  </a:lnTo>
                  <a:lnTo>
                    <a:pt x="582730" y="11151"/>
                  </a:lnTo>
                  <a:lnTo>
                    <a:pt x="570621" y="2991"/>
                  </a:lnTo>
                  <a:lnTo>
                    <a:pt x="555782" y="0"/>
                  </a:lnTo>
                  <a:close/>
                </a:path>
              </a:pathLst>
            </a:custGeom>
            <a:solidFill>
              <a:srgbClr val="F9A8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2" name="object 42"/>
          <p:cNvGrpSpPr/>
          <p:nvPr/>
        </p:nvGrpSpPr>
        <p:grpSpPr>
          <a:xfrm>
            <a:off x="457200" y="5334000"/>
            <a:ext cx="6858000" cy="533400"/>
            <a:chOff x="457200" y="5130800"/>
            <a:chExt cx="6858000" cy="533400"/>
          </a:xfrm>
        </p:grpSpPr>
        <p:sp>
          <p:nvSpPr>
            <p:cNvPr id="43" name="object 43"/>
            <p:cNvSpPr/>
            <p:nvPr/>
          </p:nvSpPr>
          <p:spPr>
            <a:xfrm>
              <a:off x="457200" y="5130800"/>
              <a:ext cx="6858000" cy="533400"/>
            </a:xfrm>
            <a:custGeom>
              <a:avLst/>
              <a:gdLst/>
              <a:ahLst/>
              <a:cxnLst/>
              <a:rect l="l" t="t" r="r" b="b"/>
              <a:pathLst>
                <a:path w="6858000" h="533400">
                  <a:moveTo>
                    <a:pt x="6756400" y="0"/>
                  </a:moveTo>
                  <a:lnTo>
                    <a:pt x="101600" y="0"/>
                  </a:lnTo>
                  <a:lnTo>
                    <a:pt x="62030" y="7976"/>
                  </a:lnTo>
                  <a:lnTo>
                    <a:pt x="29738" y="29738"/>
                  </a:lnTo>
                  <a:lnTo>
                    <a:pt x="7976" y="62030"/>
                  </a:lnTo>
                  <a:lnTo>
                    <a:pt x="0" y="101600"/>
                  </a:lnTo>
                  <a:lnTo>
                    <a:pt x="0" y="431800"/>
                  </a:lnTo>
                  <a:lnTo>
                    <a:pt x="7976" y="471369"/>
                  </a:lnTo>
                  <a:lnTo>
                    <a:pt x="29738" y="503661"/>
                  </a:lnTo>
                  <a:lnTo>
                    <a:pt x="62030" y="525423"/>
                  </a:lnTo>
                  <a:lnTo>
                    <a:pt x="101600" y="533400"/>
                  </a:lnTo>
                  <a:lnTo>
                    <a:pt x="6756400" y="533400"/>
                  </a:lnTo>
                  <a:lnTo>
                    <a:pt x="6795969" y="525423"/>
                  </a:lnTo>
                  <a:lnTo>
                    <a:pt x="6828261" y="503661"/>
                  </a:lnTo>
                  <a:lnTo>
                    <a:pt x="6850023" y="471369"/>
                  </a:lnTo>
                  <a:lnTo>
                    <a:pt x="6858000" y="431800"/>
                  </a:lnTo>
                  <a:lnTo>
                    <a:pt x="6858000" y="101600"/>
                  </a:lnTo>
                  <a:lnTo>
                    <a:pt x="6850023" y="62030"/>
                  </a:lnTo>
                  <a:lnTo>
                    <a:pt x="6828261" y="29738"/>
                  </a:lnTo>
                  <a:lnTo>
                    <a:pt x="6795969" y="7976"/>
                  </a:lnTo>
                  <a:lnTo>
                    <a:pt x="6756400" y="0"/>
                  </a:lnTo>
                  <a:close/>
                </a:path>
              </a:pathLst>
            </a:custGeom>
            <a:solidFill>
              <a:srgbClr val="1121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57200" y="5130800"/>
              <a:ext cx="63500" cy="533400"/>
            </a:xfrm>
            <a:custGeom>
              <a:avLst/>
              <a:gdLst/>
              <a:ahLst/>
              <a:cxnLst/>
              <a:rect l="l" t="t" r="r" b="b"/>
              <a:pathLst>
                <a:path w="63500" h="533400">
                  <a:moveTo>
                    <a:pt x="635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63500" y="533400"/>
                  </a:lnTo>
                  <a:lnTo>
                    <a:pt x="63500" y="0"/>
                  </a:lnTo>
                  <a:close/>
                </a:path>
              </a:pathLst>
            </a:custGeom>
            <a:solidFill>
              <a:srgbClr val="66BA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622300" y="5310358"/>
            <a:ext cx="300990" cy="40588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000" b="1" spc="-25" dirty="0">
                <a:solidFill>
                  <a:srgbClr val="66BA69"/>
                </a:solidFill>
                <a:latin typeface="Arial"/>
                <a:cs typeface="Arial"/>
              </a:rPr>
              <a:t>LOW</a:t>
            </a:r>
            <a:endParaRPr sz="1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00" b="1" spc="-25" dirty="0">
                <a:solidFill>
                  <a:srgbClr val="66BA69"/>
                </a:solidFill>
                <a:latin typeface="Arial"/>
                <a:cs typeface="Arial"/>
              </a:rPr>
              <a:t>551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460500" y="5282184"/>
            <a:ext cx="1282700" cy="459741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200" b="1" dirty="0">
                <a:solidFill>
                  <a:srgbClr val="E6F0FF"/>
                </a:solidFill>
                <a:latin typeface="Arial"/>
                <a:cs typeface="Arial"/>
              </a:rPr>
              <a:t>Score</a:t>
            </a:r>
            <a:r>
              <a:rPr sz="1200" b="1" spc="-20" dirty="0">
                <a:solidFill>
                  <a:srgbClr val="E6F0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E6F0FF"/>
                </a:solidFill>
                <a:latin typeface="Symbol"/>
                <a:cs typeface="Symbol"/>
              </a:rPr>
              <a:t></a:t>
            </a:r>
            <a:r>
              <a:rPr sz="1200" spc="15" dirty="0">
                <a:solidFill>
                  <a:srgbClr val="E6F0FF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6F0FF"/>
                </a:solidFill>
                <a:latin typeface="Arial"/>
                <a:cs typeface="Arial"/>
              </a:rPr>
              <a:t>75</a:t>
            </a:r>
            <a:endParaRPr sz="1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No</a:t>
            </a:r>
            <a:r>
              <a:rPr sz="1200" spc="-1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critical</a:t>
            </a:r>
            <a:r>
              <a:rPr sz="1200" spc="-1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8791AF"/>
                </a:solidFill>
                <a:latin typeface="Arial MT"/>
                <a:cs typeface="Arial MT"/>
              </a:rPr>
              <a:t>flags</a:t>
            </a:r>
            <a:endParaRPr sz="1200" dirty="0">
              <a:latin typeface="Arial MT"/>
              <a:cs typeface="Arial MT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6375400" y="5562600"/>
            <a:ext cx="965200" cy="76200"/>
            <a:chOff x="6375400" y="5359400"/>
            <a:chExt cx="965200" cy="76200"/>
          </a:xfrm>
        </p:grpSpPr>
        <p:sp>
          <p:nvSpPr>
            <p:cNvPr id="48" name="object 48"/>
            <p:cNvSpPr/>
            <p:nvPr/>
          </p:nvSpPr>
          <p:spPr>
            <a:xfrm>
              <a:off x="6375400" y="5359400"/>
              <a:ext cx="965200" cy="76200"/>
            </a:xfrm>
            <a:custGeom>
              <a:avLst/>
              <a:gdLst/>
              <a:ahLst/>
              <a:cxnLst/>
              <a:rect l="l" t="t" r="r" b="b"/>
              <a:pathLst>
                <a:path w="965200" h="76200">
                  <a:moveTo>
                    <a:pt x="927100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2991" y="52938"/>
                  </a:lnTo>
                  <a:lnTo>
                    <a:pt x="11151" y="65048"/>
                  </a:lnTo>
                  <a:lnTo>
                    <a:pt x="23261" y="73208"/>
                  </a:lnTo>
                  <a:lnTo>
                    <a:pt x="38100" y="76200"/>
                  </a:lnTo>
                  <a:lnTo>
                    <a:pt x="927100" y="76200"/>
                  </a:lnTo>
                  <a:lnTo>
                    <a:pt x="941938" y="73208"/>
                  </a:lnTo>
                  <a:lnTo>
                    <a:pt x="954048" y="65048"/>
                  </a:lnTo>
                  <a:lnTo>
                    <a:pt x="962208" y="52938"/>
                  </a:lnTo>
                  <a:lnTo>
                    <a:pt x="965200" y="38100"/>
                  </a:lnTo>
                  <a:lnTo>
                    <a:pt x="962208" y="23261"/>
                  </a:lnTo>
                  <a:lnTo>
                    <a:pt x="954048" y="11151"/>
                  </a:lnTo>
                  <a:lnTo>
                    <a:pt x="941938" y="2991"/>
                  </a:lnTo>
                  <a:lnTo>
                    <a:pt x="927100" y="0"/>
                  </a:lnTo>
                  <a:close/>
                </a:path>
              </a:pathLst>
            </a:custGeom>
            <a:solidFill>
              <a:srgbClr val="1D3A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375400" y="5359400"/>
              <a:ext cx="313055" cy="76200"/>
            </a:xfrm>
            <a:custGeom>
              <a:avLst/>
              <a:gdLst/>
              <a:ahLst/>
              <a:cxnLst/>
              <a:rect l="l" t="t" r="r" b="b"/>
              <a:pathLst>
                <a:path w="313054" h="76200">
                  <a:moveTo>
                    <a:pt x="274737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2991" y="52938"/>
                  </a:lnTo>
                  <a:lnTo>
                    <a:pt x="11151" y="65048"/>
                  </a:lnTo>
                  <a:lnTo>
                    <a:pt x="23261" y="73208"/>
                  </a:lnTo>
                  <a:lnTo>
                    <a:pt x="38100" y="76200"/>
                  </a:lnTo>
                  <a:lnTo>
                    <a:pt x="274737" y="76200"/>
                  </a:lnTo>
                  <a:lnTo>
                    <a:pt x="289576" y="73208"/>
                  </a:lnTo>
                  <a:lnTo>
                    <a:pt x="301685" y="65048"/>
                  </a:lnTo>
                  <a:lnTo>
                    <a:pt x="309846" y="52938"/>
                  </a:lnTo>
                  <a:lnTo>
                    <a:pt x="312837" y="38100"/>
                  </a:lnTo>
                  <a:lnTo>
                    <a:pt x="309846" y="23261"/>
                  </a:lnTo>
                  <a:lnTo>
                    <a:pt x="301685" y="11151"/>
                  </a:lnTo>
                  <a:lnTo>
                    <a:pt x="289576" y="2991"/>
                  </a:lnTo>
                  <a:lnTo>
                    <a:pt x="274737" y="0"/>
                  </a:lnTo>
                  <a:close/>
                </a:path>
              </a:pathLst>
            </a:custGeom>
            <a:solidFill>
              <a:srgbClr val="66BA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/>
          <p:nvPr/>
        </p:nvSpPr>
        <p:spPr>
          <a:xfrm>
            <a:off x="0" y="7620000"/>
            <a:ext cx="7772400" cy="50800"/>
          </a:xfrm>
          <a:custGeom>
            <a:avLst/>
            <a:gdLst/>
            <a:ahLst/>
            <a:cxnLst/>
            <a:rect l="l" t="t" r="r" b="b"/>
            <a:pathLst>
              <a:path w="7772400" h="50800">
                <a:moveTo>
                  <a:pt x="7772400" y="0"/>
                </a:moveTo>
                <a:lnTo>
                  <a:pt x="0" y="0"/>
                </a:lnTo>
                <a:lnTo>
                  <a:pt x="0" y="50800"/>
                </a:lnTo>
                <a:lnTo>
                  <a:pt x="7772400" y="50800"/>
                </a:lnTo>
                <a:lnTo>
                  <a:pt x="7772400" y="0"/>
                </a:lnTo>
                <a:close/>
              </a:path>
            </a:pathLst>
          </a:custGeom>
          <a:solidFill>
            <a:srgbClr val="EF52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/>
              <a:t>7</a:t>
            </a:fld>
            <a:r>
              <a:rPr dirty="0"/>
              <a:t> / </a:t>
            </a:r>
            <a:r>
              <a:rPr spc="-25" dirty="0"/>
              <a:t>10</a:t>
            </a: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355600"/>
            <a:ext cx="25273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GEOGRAPHIC </a:t>
            </a:r>
            <a:r>
              <a:rPr sz="1200" spc="-10" dirty="0">
                <a:solidFill>
                  <a:srgbClr val="8791AF"/>
                </a:solidFill>
                <a:latin typeface="Arial MT"/>
                <a:cs typeface="Arial MT"/>
              </a:rPr>
              <a:t>DISTRIBUTION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16521" y="7366000"/>
            <a:ext cx="3117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8791AF"/>
                </a:solidFill>
                <a:latin typeface="Arial MT"/>
                <a:cs typeface="Arial MT"/>
              </a:rPr>
              <a:t>8 / </a:t>
            </a:r>
            <a:r>
              <a:rPr sz="900" spc="-25" dirty="0">
                <a:solidFill>
                  <a:srgbClr val="8791AF"/>
                </a:solidFill>
                <a:latin typeface="Arial MT"/>
                <a:cs typeface="Arial MT"/>
              </a:rPr>
              <a:t>10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44500" y="751841"/>
            <a:ext cx="5648960" cy="3911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Where</a:t>
            </a:r>
            <a:r>
              <a:rPr sz="2400" spc="-50" dirty="0"/>
              <a:t> </a:t>
            </a:r>
            <a:r>
              <a:rPr sz="2400" dirty="0"/>
              <a:t>are</a:t>
            </a:r>
            <a:r>
              <a:rPr sz="2400" spc="-45" dirty="0"/>
              <a:t> </a:t>
            </a:r>
            <a:r>
              <a:rPr sz="2400" dirty="0"/>
              <a:t>the</a:t>
            </a:r>
            <a:r>
              <a:rPr sz="2400" spc="-45" dirty="0"/>
              <a:t> </a:t>
            </a:r>
            <a:r>
              <a:rPr sz="2400" dirty="0"/>
              <a:t>projects</a:t>
            </a:r>
            <a:r>
              <a:rPr sz="2400" spc="-50" dirty="0"/>
              <a:t> </a:t>
            </a:r>
            <a:r>
              <a:rPr sz="2400" spc="-10" dirty="0"/>
              <a:t>located?</a:t>
            </a:r>
          </a:p>
        </p:txBody>
      </p:sp>
      <p:sp>
        <p:nvSpPr>
          <p:cNvPr id="5" name="object 5"/>
          <p:cNvSpPr/>
          <p:nvPr/>
        </p:nvSpPr>
        <p:spPr>
          <a:xfrm>
            <a:off x="457200" y="1092200"/>
            <a:ext cx="6858000" cy="0"/>
          </a:xfrm>
          <a:custGeom>
            <a:avLst/>
            <a:gdLst/>
            <a:ahLst/>
            <a:cxnLst/>
            <a:rect l="l" t="t" r="r" b="b"/>
            <a:pathLst>
              <a:path w="6858000">
                <a:moveTo>
                  <a:pt x="0" y="0"/>
                </a:moveTo>
                <a:lnTo>
                  <a:pt x="6858000" y="0"/>
                </a:lnTo>
              </a:path>
            </a:pathLst>
          </a:custGeom>
          <a:ln w="6350">
            <a:solidFill>
              <a:srgbClr val="1D3A5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3048000" y="2123440"/>
            <a:ext cx="965200" cy="101600"/>
            <a:chOff x="3048000" y="1828800"/>
            <a:chExt cx="965200" cy="101600"/>
          </a:xfrm>
        </p:grpSpPr>
        <p:sp>
          <p:nvSpPr>
            <p:cNvPr id="8" name="object 8"/>
            <p:cNvSpPr/>
            <p:nvPr/>
          </p:nvSpPr>
          <p:spPr>
            <a:xfrm>
              <a:off x="3048000" y="1828800"/>
              <a:ext cx="965200" cy="101600"/>
            </a:xfrm>
            <a:custGeom>
              <a:avLst/>
              <a:gdLst/>
              <a:ahLst/>
              <a:cxnLst/>
              <a:rect l="l" t="t" r="r" b="b"/>
              <a:pathLst>
                <a:path w="965200" h="101600">
                  <a:moveTo>
                    <a:pt x="914400" y="0"/>
                  </a:moveTo>
                  <a:lnTo>
                    <a:pt x="50800" y="0"/>
                  </a:lnTo>
                  <a:lnTo>
                    <a:pt x="31015" y="3988"/>
                  </a:lnTo>
                  <a:lnTo>
                    <a:pt x="14869" y="14869"/>
                  </a:lnTo>
                  <a:lnTo>
                    <a:pt x="3988" y="31015"/>
                  </a:lnTo>
                  <a:lnTo>
                    <a:pt x="0" y="50800"/>
                  </a:lnTo>
                  <a:lnTo>
                    <a:pt x="3988" y="70584"/>
                  </a:lnTo>
                  <a:lnTo>
                    <a:pt x="14869" y="86730"/>
                  </a:lnTo>
                  <a:lnTo>
                    <a:pt x="31015" y="97611"/>
                  </a:lnTo>
                  <a:lnTo>
                    <a:pt x="50800" y="101600"/>
                  </a:lnTo>
                  <a:lnTo>
                    <a:pt x="914400" y="101600"/>
                  </a:lnTo>
                  <a:lnTo>
                    <a:pt x="934184" y="97611"/>
                  </a:lnTo>
                  <a:lnTo>
                    <a:pt x="950330" y="86730"/>
                  </a:lnTo>
                  <a:lnTo>
                    <a:pt x="961211" y="70584"/>
                  </a:lnTo>
                  <a:lnTo>
                    <a:pt x="965200" y="50800"/>
                  </a:lnTo>
                  <a:lnTo>
                    <a:pt x="961211" y="31015"/>
                  </a:lnTo>
                  <a:lnTo>
                    <a:pt x="950330" y="14869"/>
                  </a:lnTo>
                  <a:lnTo>
                    <a:pt x="934184" y="3988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1D3A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48000" y="1828800"/>
              <a:ext cx="965200" cy="101600"/>
            </a:xfrm>
            <a:custGeom>
              <a:avLst/>
              <a:gdLst/>
              <a:ahLst/>
              <a:cxnLst/>
              <a:rect l="l" t="t" r="r" b="b"/>
              <a:pathLst>
                <a:path w="965200" h="101600">
                  <a:moveTo>
                    <a:pt x="914400" y="0"/>
                  </a:moveTo>
                  <a:lnTo>
                    <a:pt x="50800" y="0"/>
                  </a:lnTo>
                  <a:lnTo>
                    <a:pt x="31015" y="3988"/>
                  </a:lnTo>
                  <a:lnTo>
                    <a:pt x="14869" y="14869"/>
                  </a:lnTo>
                  <a:lnTo>
                    <a:pt x="3988" y="31015"/>
                  </a:lnTo>
                  <a:lnTo>
                    <a:pt x="0" y="50800"/>
                  </a:lnTo>
                  <a:lnTo>
                    <a:pt x="3988" y="70584"/>
                  </a:lnTo>
                  <a:lnTo>
                    <a:pt x="14869" y="86730"/>
                  </a:lnTo>
                  <a:lnTo>
                    <a:pt x="31015" y="97611"/>
                  </a:lnTo>
                  <a:lnTo>
                    <a:pt x="50800" y="101600"/>
                  </a:lnTo>
                  <a:lnTo>
                    <a:pt x="914400" y="101600"/>
                  </a:lnTo>
                  <a:lnTo>
                    <a:pt x="934184" y="97611"/>
                  </a:lnTo>
                  <a:lnTo>
                    <a:pt x="950330" y="86730"/>
                  </a:lnTo>
                  <a:lnTo>
                    <a:pt x="961211" y="70584"/>
                  </a:lnTo>
                  <a:lnTo>
                    <a:pt x="965200" y="50800"/>
                  </a:lnTo>
                  <a:lnTo>
                    <a:pt x="961211" y="31015"/>
                  </a:lnTo>
                  <a:lnTo>
                    <a:pt x="950330" y="14869"/>
                  </a:lnTo>
                  <a:lnTo>
                    <a:pt x="934184" y="3988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00D4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44500" y="1371600"/>
            <a:ext cx="6664960" cy="8976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Three</a:t>
            </a:r>
            <a:r>
              <a:rPr sz="1200" spc="-1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countries</a:t>
            </a:r>
            <a:r>
              <a:rPr sz="1200" spc="-1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hold</a:t>
            </a:r>
            <a:r>
              <a:rPr sz="1200" spc="-1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74%</a:t>
            </a:r>
            <a:r>
              <a:rPr sz="1200" spc="-1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of</a:t>
            </a:r>
            <a:r>
              <a:rPr sz="1200" spc="-1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all</a:t>
            </a:r>
            <a:r>
              <a:rPr sz="1200" spc="-1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VCS</a:t>
            </a:r>
            <a:r>
              <a:rPr sz="1200" spc="-1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energy</a:t>
            </a:r>
            <a:r>
              <a:rPr sz="1200" spc="-1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projects.</a:t>
            </a:r>
            <a:r>
              <a:rPr sz="1200" spc="-10" dirty="0">
                <a:solidFill>
                  <a:srgbClr val="8791AF"/>
                </a:solidFill>
                <a:latin typeface="Arial MT"/>
                <a:cs typeface="Arial MT"/>
              </a:rPr>
              <a:t> High-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risk</a:t>
            </a:r>
            <a:r>
              <a:rPr sz="1200" spc="-1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rates</a:t>
            </a:r>
            <a:r>
              <a:rPr sz="1200" spc="-1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are</a:t>
            </a:r>
            <a:r>
              <a:rPr sz="1200" spc="-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broadly</a:t>
            </a:r>
            <a:r>
              <a:rPr sz="1200" spc="-10" dirty="0">
                <a:solidFill>
                  <a:srgbClr val="8791AF"/>
                </a:solidFill>
                <a:latin typeface="Arial MT"/>
                <a:cs typeface="Arial MT"/>
              </a:rPr>
              <a:t> consistent.</a:t>
            </a:r>
            <a:endParaRPr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tabLst>
                <a:tab pos="2602865" algn="l"/>
                <a:tab pos="3745865" algn="l"/>
                <a:tab pos="5269865" algn="l"/>
              </a:tabLst>
            </a:pPr>
            <a:r>
              <a:rPr sz="1100" b="1" spc="-10" dirty="0">
                <a:solidFill>
                  <a:srgbClr val="8791AF"/>
                </a:solidFill>
                <a:latin typeface="Arial"/>
                <a:cs typeface="Arial"/>
              </a:rPr>
              <a:t>Country</a:t>
            </a:r>
            <a:r>
              <a:rPr sz="900" b="1" dirty="0">
                <a:solidFill>
                  <a:srgbClr val="8791AF"/>
                </a:solidFill>
                <a:latin typeface="Arial"/>
                <a:cs typeface="Arial"/>
              </a:rPr>
              <a:t>	</a:t>
            </a:r>
            <a:r>
              <a:rPr sz="1100" b="1" spc="-10" dirty="0">
                <a:solidFill>
                  <a:srgbClr val="8791AF"/>
                </a:solidFill>
                <a:latin typeface="Arial"/>
                <a:cs typeface="Arial"/>
              </a:rPr>
              <a:t>Projects</a:t>
            </a:r>
            <a:r>
              <a:rPr sz="900" b="1" dirty="0">
                <a:solidFill>
                  <a:srgbClr val="8791AF"/>
                </a:solidFill>
                <a:latin typeface="Arial"/>
                <a:cs typeface="Arial"/>
              </a:rPr>
              <a:t>	</a:t>
            </a:r>
            <a:r>
              <a:rPr sz="1100" b="1" dirty="0">
                <a:solidFill>
                  <a:srgbClr val="8791AF"/>
                </a:solidFill>
                <a:latin typeface="Arial"/>
                <a:cs typeface="Arial"/>
              </a:rPr>
              <a:t>High-Risk </a:t>
            </a:r>
            <a:r>
              <a:rPr sz="1100" b="1" spc="-10" dirty="0">
                <a:solidFill>
                  <a:srgbClr val="8791AF"/>
                </a:solidFill>
                <a:latin typeface="Arial"/>
                <a:cs typeface="Arial"/>
              </a:rPr>
              <a:t>count</a:t>
            </a:r>
            <a:r>
              <a:rPr sz="1100" b="1" dirty="0">
                <a:solidFill>
                  <a:srgbClr val="8791AF"/>
                </a:solidFill>
                <a:latin typeface="Arial"/>
                <a:cs typeface="Arial"/>
              </a:rPr>
              <a:t>	High-Risk</a:t>
            </a:r>
            <a:r>
              <a:rPr sz="1100" b="1" spc="-10" dirty="0">
                <a:solidFill>
                  <a:srgbClr val="8791AF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8791AF"/>
                </a:solidFill>
                <a:latin typeface="Arial"/>
                <a:cs typeface="Arial"/>
              </a:rPr>
              <a:t>rate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9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3669665" algn="l"/>
                <a:tab pos="4380865" algn="l"/>
                <a:tab pos="5498465" algn="l"/>
              </a:tabLst>
            </a:pPr>
            <a:r>
              <a:rPr sz="1200" spc="-10" dirty="0">
                <a:solidFill>
                  <a:srgbClr val="E6F0FF"/>
                </a:solidFill>
                <a:latin typeface="Arial MT"/>
                <a:cs typeface="Arial MT"/>
              </a:rPr>
              <a:t>India</a:t>
            </a:r>
            <a:r>
              <a:rPr sz="1100" dirty="0">
                <a:solidFill>
                  <a:srgbClr val="E6F0FF"/>
                </a:solidFill>
                <a:latin typeface="Arial MT"/>
                <a:cs typeface="Arial MT"/>
              </a:rPr>
              <a:t>	</a:t>
            </a:r>
            <a:r>
              <a:rPr sz="1100" b="1" spc="-25" dirty="0">
                <a:solidFill>
                  <a:srgbClr val="00D4AA"/>
                </a:solidFill>
                <a:latin typeface="Arial"/>
                <a:cs typeface="Arial"/>
              </a:rPr>
              <a:t>652</a:t>
            </a:r>
            <a:r>
              <a:rPr sz="1000" b="1" dirty="0">
                <a:solidFill>
                  <a:srgbClr val="00D4AA"/>
                </a:solidFill>
                <a:latin typeface="Arial"/>
                <a:cs typeface="Arial"/>
              </a:rPr>
              <a:t>	</a:t>
            </a:r>
            <a:r>
              <a:rPr sz="1100" spc="-25" dirty="0">
                <a:solidFill>
                  <a:srgbClr val="8791AF"/>
                </a:solidFill>
                <a:latin typeface="Arial MT"/>
                <a:cs typeface="Arial MT"/>
              </a:rPr>
              <a:t>39</a:t>
            </a:r>
            <a:r>
              <a:rPr sz="1000" dirty="0">
                <a:solidFill>
                  <a:srgbClr val="8791AF"/>
                </a:solidFill>
                <a:latin typeface="Arial MT"/>
                <a:cs typeface="Arial MT"/>
              </a:rPr>
              <a:t>	</a:t>
            </a:r>
            <a:r>
              <a:rPr sz="1100" spc="-20" dirty="0">
                <a:solidFill>
                  <a:srgbClr val="8791AF"/>
                </a:solidFill>
                <a:latin typeface="Arial MT"/>
                <a:cs typeface="Arial MT"/>
              </a:rPr>
              <a:t>6.0%</a:t>
            </a:r>
            <a:endParaRPr sz="1100" dirty="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4500" y="2453640"/>
            <a:ext cx="45275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E6F0FF"/>
                </a:solidFill>
                <a:latin typeface="Arial MT"/>
                <a:cs typeface="Arial MT"/>
              </a:rPr>
              <a:t>China</a:t>
            </a:r>
            <a:endParaRPr sz="1200" dirty="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048000" y="2514600"/>
            <a:ext cx="965200" cy="101600"/>
            <a:chOff x="3048000" y="2184400"/>
            <a:chExt cx="965200" cy="101600"/>
          </a:xfrm>
        </p:grpSpPr>
        <p:sp>
          <p:nvSpPr>
            <p:cNvPr id="13" name="object 13"/>
            <p:cNvSpPr/>
            <p:nvPr/>
          </p:nvSpPr>
          <p:spPr>
            <a:xfrm>
              <a:off x="3048000" y="2184400"/>
              <a:ext cx="965200" cy="101600"/>
            </a:xfrm>
            <a:custGeom>
              <a:avLst/>
              <a:gdLst/>
              <a:ahLst/>
              <a:cxnLst/>
              <a:rect l="l" t="t" r="r" b="b"/>
              <a:pathLst>
                <a:path w="965200" h="101600">
                  <a:moveTo>
                    <a:pt x="914400" y="0"/>
                  </a:moveTo>
                  <a:lnTo>
                    <a:pt x="50800" y="0"/>
                  </a:lnTo>
                  <a:lnTo>
                    <a:pt x="31015" y="3988"/>
                  </a:lnTo>
                  <a:lnTo>
                    <a:pt x="14869" y="14869"/>
                  </a:lnTo>
                  <a:lnTo>
                    <a:pt x="3988" y="31015"/>
                  </a:lnTo>
                  <a:lnTo>
                    <a:pt x="0" y="50800"/>
                  </a:lnTo>
                  <a:lnTo>
                    <a:pt x="3988" y="70584"/>
                  </a:lnTo>
                  <a:lnTo>
                    <a:pt x="14869" y="86730"/>
                  </a:lnTo>
                  <a:lnTo>
                    <a:pt x="31015" y="97611"/>
                  </a:lnTo>
                  <a:lnTo>
                    <a:pt x="50800" y="101600"/>
                  </a:lnTo>
                  <a:lnTo>
                    <a:pt x="914400" y="101600"/>
                  </a:lnTo>
                  <a:lnTo>
                    <a:pt x="934184" y="97611"/>
                  </a:lnTo>
                  <a:lnTo>
                    <a:pt x="950330" y="86730"/>
                  </a:lnTo>
                  <a:lnTo>
                    <a:pt x="961211" y="70584"/>
                  </a:lnTo>
                  <a:lnTo>
                    <a:pt x="965200" y="50800"/>
                  </a:lnTo>
                  <a:lnTo>
                    <a:pt x="961211" y="31015"/>
                  </a:lnTo>
                  <a:lnTo>
                    <a:pt x="950330" y="14869"/>
                  </a:lnTo>
                  <a:lnTo>
                    <a:pt x="934184" y="3988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1D3A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048000" y="2184400"/>
              <a:ext cx="617855" cy="101600"/>
            </a:xfrm>
            <a:custGeom>
              <a:avLst/>
              <a:gdLst/>
              <a:ahLst/>
              <a:cxnLst/>
              <a:rect l="l" t="t" r="r" b="b"/>
              <a:pathLst>
                <a:path w="617854" h="101600">
                  <a:moveTo>
                    <a:pt x="566513" y="0"/>
                  </a:moveTo>
                  <a:lnTo>
                    <a:pt x="50800" y="0"/>
                  </a:lnTo>
                  <a:lnTo>
                    <a:pt x="31015" y="3988"/>
                  </a:lnTo>
                  <a:lnTo>
                    <a:pt x="14869" y="14869"/>
                  </a:lnTo>
                  <a:lnTo>
                    <a:pt x="3988" y="31015"/>
                  </a:lnTo>
                  <a:lnTo>
                    <a:pt x="0" y="50800"/>
                  </a:lnTo>
                  <a:lnTo>
                    <a:pt x="3988" y="70584"/>
                  </a:lnTo>
                  <a:lnTo>
                    <a:pt x="14869" y="86730"/>
                  </a:lnTo>
                  <a:lnTo>
                    <a:pt x="31015" y="97611"/>
                  </a:lnTo>
                  <a:lnTo>
                    <a:pt x="50800" y="101600"/>
                  </a:lnTo>
                  <a:lnTo>
                    <a:pt x="566513" y="101600"/>
                  </a:lnTo>
                  <a:lnTo>
                    <a:pt x="586298" y="97611"/>
                  </a:lnTo>
                  <a:lnTo>
                    <a:pt x="602444" y="86730"/>
                  </a:lnTo>
                  <a:lnTo>
                    <a:pt x="613325" y="70584"/>
                  </a:lnTo>
                  <a:lnTo>
                    <a:pt x="617313" y="50800"/>
                  </a:lnTo>
                  <a:lnTo>
                    <a:pt x="613325" y="31015"/>
                  </a:lnTo>
                  <a:lnTo>
                    <a:pt x="602444" y="14869"/>
                  </a:lnTo>
                  <a:lnTo>
                    <a:pt x="586298" y="3988"/>
                  </a:lnTo>
                  <a:lnTo>
                    <a:pt x="566513" y="0"/>
                  </a:lnTo>
                  <a:close/>
                </a:path>
              </a:pathLst>
            </a:custGeom>
            <a:solidFill>
              <a:srgbClr val="66BA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44500" y="2809240"/>
            <a:ext cx="78676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E6F0FF"/>
                </a:solidFill>
                <a:latin typeface="Arial MT"/>
                <a:cs typeface="Arial MT"/>
              </a:rPr>
              <a:t>Turkey</a:t>
            </a:r>
            <a:endParaRPr sz="1200" dirty="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048000" y="2895600"/>
            <a:ext cx="965200" cy="101600"/>
            <a:chOff x="3048000" y="2540000"/>
            <a:chExt cx="965200" cy="101600"/>
          </a:xfrm>
        </p:grpSpPr>
        <p:sp>
          <p:nvSpPr>
            <p:cNvPr id="17" name="object 17"/>
            <p:cNvSpPr/>
            <p:nvPr/>
          </p:nvSpPr>
          <p:spPr>
            <a:xfrm>
              <a:off x="3048000" y="2540000"/>
              <a:ext cx="965200" cy="101600"/>
            </a:xfrm>
            <a:custGeom>
              <a:avLst/>
              <a:gdLst/>
              <a:ahLst/>
              <a:cxnLst/>
              <a:rect l="l" t="t" r="r" b="b"/>
              <a:pathLst>
                <a:path w="965200" h="101600">
                  <a:moveTo>
                    <a:pt x="914400" y="0"/>
                  </a:moveTo>
                  <a:lnTo>
                    <a:pt x="50800" y="0"/>
                  </a:lnTo>
                  <a:lnTo>
                    <a:pt x="31015" y="3988"/>
                  </a:lnTo>
                  <a:lnTo>
                    <a:pt x="14869" y="14869"/>
                  </a:lnTo>
                  <a:lnTo>
                    <a:pt x="3988" y="31015"/>
                  </a:lnTo>
                  <a:lnTo>
                    <a:pt x="0" y="50800"/>
                  </a:lnTo>
                  <a:lnTo>
                    <a:pt x="3988" y="70584"/>
                  </a:lnTo>
                  <a:lnTo>
                    <a:pt x="14869" y="86730"/>
                  </a:lnTo>
                  <a:lnTo>
                    <a:pt x="31015" y="97611"/>
                  </a:lnTo>
                  <a:lnTo>
                    <a:pt x="50800" y="101600"/>
                  </a:lnTo>
                  <a:lnTo>
                    <a:pt x="914400" y="101600"/>
                  </a:lnTo>
                  <a:lnTo>
                    <a:pt x="934184" y="97611"/>
                  </a:lnTo>
                  <a:lnTo>
                    <a:pt x="950330" y="86730"/>
                  </a:lnTo>
                  <a:lnTo>
                    <a:pt x="961211" y="70584"/>
                  </a:lnTo>
                  <a:lnTo>
                    <a:pt x="965200" y="50800"/>
                  </a:lnTo>
                  <a:lnTo>
                    <a:pt x="961211" y="31015"/>
                  </a:lnTo>
                  <a:lnTo>
                    <a:pt x="950330" y="14869"/>
                  </a:lnTo>
                  <a:lnTo>
                    <a:pt x="934184" y="3988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1D3A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048000" y="2540000"/>
              <a:ext cx="267970" cy="101600"/>
            </a:xfrm>
            <a:custGeom>
              <a:avLst/>
              <a:gdLst/>
              <a:ahLst/>
              <a:cxnLst/>
              <a:rect l="l" t="t" r="r" b="b"/>
              <a:pathLst>
                <a:path w="267970" h="101600">
                  <a:moveTo>
                    <a:pt x="217147" y="0"/>
                  </a:moveTo>
                  <a:lnTo>
                    <a:pt x="50800" y="0"/>
                  </a:lnTo>
                  <a:lnTo>
                    <a:pt x="31015" y="3988"/>
                  </a:lnTo>
                  <a:lnTo>
                    <a:pt x="14869" y="14869"/>
                  </a:lnTo>
                  <a:lnTo>
                    <a:pt x="3988" y="31015"/>
                  </a:lnTo>
                  <a:lnTo>
                    <a:pt x="0" y="50800"/>
                  </a:lnTo>
                  <a:lnTo>
                    <a:pt x="3988" y="70584"/>
                  </a:lnTo>
                  <a:lnTo>
                    <a:pt x="14869" y="86730"/>
                  </a:lnTo>
                  <a:lnTo>
                    <a:pt x="31015" y="97611"/>
                  </a:lnTo>
                  <a:lnTo>
                    <a:pt x="50800" y="101600"/>
                  </a:lnTo>
                  <a:lnTo>
                    <a:pt x="217147" y="101600"/>
                  </a:lnTo>
                  <a:lnTo>
                    <a:pt x="236931" y="97611"/>
                  </a:lnTo>
                  <a:lnTo>
                    <a:pt x="253077" y="86730"/>
                  </a:lnTo>
                  <a:lnTo>
                    <a:pt x="263958" y="70584"/>
                  </a:lnTo>
                  <a:lnTo>
                    <a:pt x="267947" y="50800"/>
                  </a:lnTo>
                  <a:lnTo>
                    <a:pt x="263958" y="31015"/>
                  </a:lnTo>
                  <a:lnTo>
                    <a:pt x="253077" y="14869"/>
                  </a:lnTo>
                  <a:lnTo>
                    <a:pt x="236931" y="3988"/>
                  </a:lnTo>
                  <a:lnTo>
                    <a:pt x="217147" y="0"/>
                  </a:lnTo>
                  <a:close/>
                </a:path>
              </a:pathLst>
            </a:custGeom>
            <a:solidFill>
              <a:srgbClr val="F9A8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44500" y="3164840"/>
            <a:ext cx="9652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E6F0FF"/>
                </a:solidFill>
                <a:latin typeface="Arial MT"/>
                <a:cs typeface="Arial MT"/>
              </a:rPr>
              <a:t>Brazil</a:t>
            </a:r>
            <a:endParaRPr sz="1200" dirty="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048000" y="3251200"/>
            <a:ext cx="965200" cy="101600"/>
            <a:chOff x="3048000" y="2895600"/>
            <a:chExt cx="965200" cy="101600"/>
          </a:xfrm>
        </p:grpSpPr>
        <p:sp>
          <p:nvSpPr>
            <p:cNvPr id="21" name="object 21"/>
            <p:cNvSpPr/>
            <p:nvPr/>
          </p:nvSpPr>
          <p:spPr>
            <a:xfrm>
              <a:off x="3048000" y="2895600"/>
              <a:ext cx="965200" cy="101600"/>
            </a:xfrm>
            <a:custGeom>
              <a:avLst/>
              <a:gdLst/>
              <a:ahLst/>
              <a:cxnLst/>
              <a:rect l="l" t="t" r="r" b="b"/>
              <a:pathLst>
                <a:path w="965200" h="101600">
                  <a:moveTo>
                    <a:pt x="914400" y="0"/>
                  </a:moveTo>
                  <a:lnTo>
                    <a:pt x="50800" y="0"/>
                  </a:lnTo>
                  <a:lnTo>
                    <a:pt x="31015" y="3988"/>
                  </a:lnTo>
                  <a:lnTo>
                    <a:pt x="14869" y="14869"/>
                  </a:lnTo>
                  <a:lnTo>
                    <a:pt x="3988" y="31015"/>
                  </a:lnTo>
                  <a:lnTo>
                    <a:pt x="0" y="50800"/>
                  </a:lnTo>
                  <a:lnTo>
                    <a:pt x="3988" y="70584"/>
                  </a:lnTo>
                  <a:lnTo>
                    <a:pt x="14869" y="86730"/>
                  </a:lnTo>
                  <a:lnTo>
                    <a:pt x="31015" y="97611"/>
                  </a:lnTo>
                  <a:lnTo>
                    <a:pt x="50800" y="101600"/>
                  </a:lnTo>
                  <a:lnTo>
                    <a:pt x="914400" y="101600"/>
                  </a:lnTo>
                  <a:lnTo>
                    <a:pt x="934184" y="97611"/>
                  </a:lnTo>
                  <a:lnTo>
                    <a:pt x="950330" y="86730"/>
                  </a:lnTo>
                  <a:lnTo>
                    <a:pt x="961211" y="70584"/>
                  </a:lnTo>
                  <a:lnTo>
                    <a:pt x="965200" y="50800"/>
                  </a:lnTo>
                  <a:lnTo>
                    <a:pt x="961211" y="31015"/>
                  </a:lnTo>
                  <a:lnTo>
                    <a:pt x="950330" y="14869"/>
                  </a:lnTo>
                  <a:lnTo>
                    <a:pt x="934184" y="3988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1D3A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8000" y="2895600"/>
              <a:ext cx="102144" cy="101600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444500" y="3520440"/>
            <a:ext cx="169926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E6F0FF"/>
                </a:solidFill>
                <a:latin typeface="Arial MT"/>
                <a:cs typeface="Arial MT"/>
              </a:rPr>
              <a:t>United</a:t>
            </a:r>
            <a:r>
              <a:rPr sz="1200" spc="-35" dirty="0">
                <a:solidFill>
                  <a:srgbClr val="E6F0F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E6F0FF"/>
                </a:solidFill>
                <a:latin typeface="Arial MT"/>
                <a:cs typeface="Arial MT"/>
              </a:rPr>
              <a:t>States</a:t>
            </a:r>
            <a:endParaRPr sz="1200" dirty="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048000" y="3632200"/>
            <a:ext cx="965200" cy="101600"/>
            <a:chOff x="3048000" y="3251200"/>
            <a:chExt cx="965200" cy="101600"/>
          </a:xfrm>
        </p:grpSpPr>
        <p:sp>
          <p:nvSpPr>
            <p:cNvPr id="25" name="object 25"/>
            <p:cNvSpPr/>
            <p:nvPr/>
          </p:nvSpPr>
          <p:spPr>
            <a:xfrm>
              <a:off x="3048000" y="3251200"/>
              <a:ext cx="965200" cy="101600"/>
            </a:xfrm>
            <a:custGeom>
              <a:avLst/>
              <a:gdLst/>
              <a:ahLst/>
              <a:cxnLst/>
              <a:rect l="l" t="t" r="r" b="b"/>
              <a:pathLst>
                <a:path w="965200" h="101600">
                  <a:moveTo>
                    <a:pt x="914400" y="0"/>
                  </a:moveTo>
                  <a:lnTo>
                    <a:pt x="50800" y="0"/>
                  </a:lnTo>
                  <a:lnTo>
                    <a:pt x="31015" y="3988"/>
                  </a:lnTo>
                  <a:lnTo>
                    <a:pt x="14869" y="14869"/>
                  </a:lnTo>
                  <a:lnTo>
                    <a:pt x="3988" y="31015"/>
                  </a:lnTo>
                  <a:lnTo>
                    <a:pt x="0" y="50800"/>
                  </a:lnTo>
                  <a:lnTo>
                    <a:pt x="3988" y="70584"/>
                  </a:lnTo>
                  <a:lnTo>
                    <a:pt x="14869" y="86730"/>
                  </a:lnTo>
                  <a:lnTo>
                    <a:pt x="31015" y="97611"/>
                  </a:lnTo>
                  <a:lnTo>
                    <a:pt x="50800" y="101600"/>
                  </a:lnTo>
                  <a:lnTo>
                    <a:pt x="914400" y="101600"/>
                  </a:lnTo>
                  <a:lnTo>
                    <a:pt x="934184" y="97611"/>
                  </a:lnTo>
                  <a:lnTo>
                    <a:pt x="950330" y="86730"/>
                  </a:lnTo>
                  <a:lnTo>
                    <a:pt x="961211" y="70584"/>
                  </a:lnTo>
                  <a:lnTo>
                    <a:pt x="965200" y="50800"/>
                  </a:lnTo>
                  <a:lnTo>
                    <a:pt x="961211" y="31015"/>
                  </a:lnTo>
                  <a:lnTo>
                    <a:pt x="950330" y="14869"/>
                  </a:lnTo>
                  <a:lnTo>
                    <a:pt x="934184" y="3988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1D3A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048000" y="3251200"/>
              <a:ext cx="60960" cy="101600"/>
            </a:xfrm>
            <a:custGeom>
              <a:avLst/>
              <a:gdLst/>
              <a:ahLst/>
              <a:cxnLst/>
              <a:rect l="l" t="t" r="r" b="b"/>
              <a:pathLst>
                <a:path w="60960" h="101600">
                  <a:moveTo>
                    <a:pt x="30347" y="97161"/>
                  </a:moveTo>
                  <a:lnTo>
                    <a:pt x="29679" y="97611"/>
                  </a:lnTo>
                  <a:lnTo>
                    <a:pt x="9894" y="101600"/>
                  </a:lnTo>
                  <a:lnTo>
                    <a:pt x="50800" y="101600"/>
                  </a:lnTo>
                  <a:lnTo>
                    <a:pt x="31015" y="97611"/>
                  </a:lnTo>
                  <a:lnTo>
                    <a:pt x="30347" y="97161"/>
                  </a:lnTo>
                  <a:close/>
                </a:path>
                <a:path w="60960" h="101600">
                  <a:moveTo>
                    <a:pt x="30347" y="4438"/>
                  </a:moveTo>
                  <a:lnTo>
                    <a:pt x="14869" y="14869"/>
                  </a:lnTo>
                  <a:lnTo>
                    <a:pt x="3988" y="31015"/>
                  </a:lnTo>
                  <a:lnTo>
                    <a:pt x="0" y="50800"/>
                  </a:lnTo>
                  <a:lnTo>
                    <a:pt x="3988" y="70584"/>
                  </a:lnTo>
                  <a:lnTo>
                    <a:pt x="14869" y="86730"/>
                  </a:lnTo>
                  <a:lnTo>
                    <a:pt x="30347" y="97161"/>
                  </a:lnTo>
                  <a:lnTo>
                    <a:pt x="45825" y="86730"/>
                  </a:lnTo>
                  <a:lnTo>
                    <a:pt x="56706" y="70584"/>
                  </a:lnTo>
                  <a:lnTo>
                    <a:pt x="60694" y="50800"/>
                  </a:lnTo>
                  <a:lnTo>
                    <a:pt x="56706" y="31015"/>
                  </a:lnTo>
                  <a:lnTo>
                    <a:pt x="45825" y="14869"/>
                  </a:lnTo>
                  <a:lnTo>
                    <a:pt x="30347" y="4438"/>
                  </a:lnTo>
                  <a:close/>
                </a:path>
                <a:path w="60960" h="101600">
                  <a:moveTo>
                    <a:pt x="50800" y="0"/>
                  </a:moveTo>
                  <a:lnTo>
                    <a:pt x="9894" y="0"/>
                  </a:lnTo>
                  <a:lnTo>
                    <a:pt x="29679" y="3988"/>
                  </a:lnTo>
                  <a:lnTo>
                    <a:pt x="30347" y="4438"/>
                  </a:lnTo>
                  <a:lnTo>
                    <a:pt x="31015" y="3988"/>
                  </a:lnTo>
                  <a:lnTo>
                    <a:pt x="50800" y="0"/>
                  </a:lnTo>
                  <a:close/>
                </a:path>
              </a:pathLst>
            </a:custGeom>
            <a:solidFill>
              <a:srgbClr val="879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444500" y="3876040"/>
            <a:ext cx="11557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D" sz="1200" dirty="0">
                <a:solidFill>
                  <a:srgbClr val="E6F0FF"/>
                </a:solidFill>
                <a:latin typeface="Arial MT"/>
                <a:cs typeface="Arial MT"/>
              </a:rPr>
              <a:t>South</a:t>
            </a:r>
            <a:r>
              <a:rPr lang="en-ID" sz="1200" spc="-30" dirty="0">
                <a:solidFill>
                  <a:srgbClr val="E6F0FF"/>
                </a:solidFill>
                <a:latin typeface="Arial MT"/>
                <a:cs typeface="Arial MT"/>
              </a:rPr>
              <a:t> </a:t>
            </a:r>
            <a:r>
              <a:rPr lang="en-ID" sz="1200" spc="-10" dirty="0">
                <a:solidFill>
                  <a:srgbClr val="E6F0FF"/>
                </a:solidFill>
                <a:latin typeface="Arial MT"/>
                <a:cs typeface="Arial MT"/>
              </a:rPr>
              <a:t>Africa</a:t>
            </a:r>
            <a:endParaRPr lang="en-ID" sz="1200" dirty="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048000" y="4013200"/>
            <a:ext cx="965200" cy="101600"/>
            <a:chOff x="3048000" y="3606800"/>
            <a:chExt cx="965200" cy="101600"/>
          </a:xfrm>
        </p:grpSpPr>
        <p:sp>
          <p:nvSpPr>
            <p:cNvPr id="29" name="object 29"/>
            <p:cNvSpPr/>
            <p:nvPr/>
          </p:nvSpPr>
          <p:spPr>
            <a:xfrm>
              <a:off x="3048000" y="3606800"/>
              <a:ext cx="965200" cy="101600"/>
            </a:xfrm>
            <a:custGeom>
              <a:avLst/>
              <a:gdLst/>
              <a:ahLst/>
              <a:cxnLst/>
              <a:rect l="l" t="t" r="r" b="b"/>
              <a:pathLst>
                <a:path w="965200" h="101600">
                  <a:moveTo>
                    <a:pt x="914400" y="0"/>
                  </a:moveTo>
                  <a:lnTo>
                    <a:pt x="50800" y="0"/>
                  </a:lnTo>
                  <a:lnTo>
                    <a:pt x="31015" y="3988"/>
                  </a:lnTo>
                  <a:lnTo>
                    <a:pt x="14869" y="14869"/>
                  </a:lnTo>
                  <a:lnTo>
                    <a:pt x="3988" y="31015"/>
                  </a:lnTo>
                  <a:lnTo>
                    <a:pt x="0" y="50800"/>
                  </a:lnTo>
                  <a:lnTo>
                    <a:pt x="3988" y="70584"/>
                  </a:lnTo>
                  <a:lnTo>
                    <a:pt x="14869" y="86730"/>
                  </a:lnTo>
                  <a:lnTo>
                    <a:pt x="31015" y="97611"/>
                  </a:lnTo>
                  <a:lnTo>
                    <a:pt x="50800" y="101600"/>
                  </a:lnTo>
                  <a:lnTo>
                    <a:pt x="914400" y="101600"/>
                  </a:lnTo>
                  <a:lnTo>
                    <a:pt x="934184" y="97611"/>
                  </a:lnTo>
                  <a:lnTo>
                    <a:pt x="950330" y="86730"/>
                  </a:lnTo>
                  <a:lnTo>
                    <a:pt x="961211" y="70584"/>
                  </a:lnTo>
                  <a:lnTo>
                    <a:pt x="965200" y="50800"/>
                  </a:lnTo>
                  <a:lnTo>
                    <a:pt x="961211" y="31015"/>
                  </a:lnTo>
                  <a:lnTo>
                    <a:pt x="950330" y="14869"/>
                  </a:lnTo>
                  <a:lnTo>
                    <a:pt x="934184" y="3988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1D3A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048000" y="3606800"/>
              <a:ext cx="53340" cy="101600"/>
            </a:xfrm>
            <a:custGeom>
              <a:avLst/>
              <a:gdLst/>
              <a:ahLst/>
              <a:cxnLst/>
              <a:rect l="l" t="t" r="r" b="b"/>
              <a:pathLst>
                <a:path w="53339" h="101600">
                  <a:moveTo>
                    <a:pt x="26646" y="94667"/>
                  </a:moveTo>
                  <a:lnTo>
                    <a:pt x="22277" y="97611"/>
                  </a:lnTo>
                  <a:lnTo>
                    <a:pt x="2493" y="101600"/>
                  </a:lnTo>
                  <a:lnTo>
                    <a:pt x="50800" y="101600"/>
                  </a:lnTo>
                  <a:lnTo>
                    <a:pt x="31015" y="97611"/>
                  </a:lnTo>
                  <a:lnTo>
                    <a:pt x="26646" y="94667"/>
                  </a:lnTo>
                  <a:close/>
                </a:path>
                <a:path w="53339" h="101600">
                  <a:moveTo>
                    <a:pt x="26646" y="6932"/>
                  </a:moveTo>
                  <a:lnTo>
                    <a:pt x="14869" y="14869"/>
                  </a:lnTo>
                  <a:lnTo>
                    <a:pt x="3988" y="31015"/>
                  </a:lnTo>
                  <a:lnTo>
                    <a:pt x="0" y="50800"/>
                  </a:lnTo>
                  <a:lnTo>
                    <a:pt x="3988" y="70584"/>
                  </a:lnTo>
                  <a:lnTo>
                    <a:pt x="14869" y="86730"/>
                  </a:lnTo>
                  <a:lnTo>
                    <a:pt x="26646" y="94667"/>
                  </a:lnTo>
                  <a:lnTo>
                    <a:pt x="38423" y="86730"/>
                  </a:lnTo>
                  <a:lnTo>
                    <a:pt x="49304" y="70584"/>
                  </a:lnTo>
                  <a:lnTo>
                    <a:pt x="53293" y="50800"/>
                  </a:lnTo>
                  <a:lnTo>
                    <a:pt x="49304" y="31015"/>
                  </a:lnTo>
                  <a:lnTo>
                    <a:pt x="38423" y="14869"/>
                  </a:lnTo>
                  <a:lnTo>
                    <a:pt x="26646" y="6932"/>
                  </a:lnTo>
                  <a:close/>
                </a:path>
                <a:path w="53339" h="101600">
                  <a:moveTo>
                    <a:pt x="50800" y="0"/>
                  </a:moveTo>
                  <a:lnTo>
                    <a:pt x="2493" y="0"/>
                  </a:lnTo>
                  <a:lnTo>
                    <a:pt x="22277" y="3988"/>
                  </a:lnTo>
                  <a:lnTo>
                    <a:pt x="26646" y="6932"/>
                  </a:lnTo>
                  <a:lnTo>
                    <a:pt x="31015" y="3988"/>
                  </a:lnTo>
                  <a:lnTo>
                    <a:pt x="50800" y="0"/>
                  </a:lnTo>
                  <a:close/>
                </a:path>
              </a:pathLst>
            </a:custGeom>
            <a:solidFill>
              <a:srgbClr val="879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102100" y="2466340"/>
            <a:ext cx="2550160" cy="17312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23265" algn="l"/>
                <a:tab pos="1840864" algn="l"/>
              </a:tabLst>
            </a:pPr>
            <a:r>
              <a:rPr sz="1100" b="1" spc="-25" dirty="0">
                <a:solidFill>
                  <a:srgbClr val="66BA69"/>
                </a:solidFill>
                <a:latin typeface="Arial"/>
                <a:cs typeface="Arial"/>
              </a:rPr>
              <a:t>417</a:t>
            </a:r>
            <a:r>
              <a:rPr sz="1000" b="1" dirty="0">
                <a:solidFill>
                  <a:srgbClr val="66BA69"/>
                </a:solidFill>
                <a:latin typeface="Arial"/>
                <a:cs typeface="Arial"/>
              </a:rPr>
              <a:t>	</a:t>
            </a:r>
            <a:r>
              <a:rPr sz="1100" spc="-25" dirty="0">
                <a:solidFill>
                  <a:srgbClr val="8791AF"/>
                </a:solidFill>
                <a:latin typeface="Arial MT"/>
                <a:cs typeface="Arial MT"/>
              </a:rPr>
              <a:t>32</a:t>
            </a:r>
            <a:r>
              <a:rPr sz="1000" dirty="0">
                <a:solidFill>
                  <a:srgbClr val="8791AF"/>
                </a:solidFill>
                <a:latin typeface="Arial MT"/>
                <a:cs typeface="Arial MT"/>
              </a:rPr>
              <a:t>	</a:t>
            </a:r>
            <a:r>
              <a:rPr sz="1100" spc="-20" dirty="0">
                <a:solidFill>
                  <a:srgbClr val="8791AF"/>
                </a:solidFill>
                <a:latin typeface="Arial MT"/>
                <a:cs typeface="Arial MT"/>
              </a:rPr>
              <a:t>7.7%</a:t>
            </a:r>
            <a:endParaRPr sz="11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1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tabLst>
                <a:tab pos="723265" algn="l"/>
                <a:tab pos="1840864" algn="l"/>
              </a:tabLst>
            </a:pPr>
            <a:r>
              <a:rPr sz="1100" b="1" spc="-25" dirty="0">
                <a:solidFill>
                  <a:srgbClr val="F9A824"/>
                </a:solidFill>
                <a:latin typeface="Arial"/>
                <a:cs typeface="Arial"/>
              </a:rPr>
              <a:t>181</a:t>
            </a:r>
            <a:r>
              <a:rPr sz="1000" b="1" dirty="0">
                <a:solidFill>
                  <a:srgbClr val="F9A824"/>
                </a:solidFill>
                <a:latin typeface="Arial"/>
                <a:cs typeface="Arial"/>
              </a:rPr>
              <a:t>	</a:t>
            </a:r>
            <a:r>
              <a:rPr sz="1100" spc="-25" dirty="0">
                <a:solidFill>
                  <a:srgbClr val="8791AF"/>
                </a:solidFill>
                <a:latin typeface="Arial MT"/>
                <a:cs typeface="Arial MT"/>
              </a:rPr>
              <a:t>11</a:t>
            </a:r>
            <a:r>
              <a:rPr sz="1000" dirty="0">
                <a:solidFill>
                  <a:srgbClr val="8791AF"/>
                </a:solidFill>
                <a:latin typeface="Arial MT"/>
                <a:cs typeface="Arial MT"/>
              </a:rPr>
              <a:t>	</a:t>
            </a:r>
            <a:r>
              <a:rPr sz="1100" spc="-20" dirty="0">
                <a:solidFill>
                  <a:srgbClr val="8791AF"/>
                </a:solidFill>
                <a:latin typeface="Arial MT"/>
                <a:cs typeface="Arial MT"/>
              </a:rPr>
              <a:t>6.1%</a:t>
            </a:r>
            <a:endParaRPr sz="11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1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tabLst>
                <a:tab pos="723265" algn="l"/>
                <a:tab pos="1840864" algn="l"/>
              </a:tabLst>
            </a:pPr>
            <a:r>
              <a:rPr sz="1100" b="1" spc="-25" dirty="0">
                <a:solidFill>
                  <a:srgbClr val="8791AF"/>
                </a:solidFill>
                <a:latin typeface="Arial"/>
                <a:cs typeface="Arial"/>
              </a:rPr>
              <a:t>69</a:t>
            </a:r>
            <a:r>
              <a:rPr sz="1000" b="1" dirty="0">
                <a:solidFill>
                  <a:srgbClr val="8791AF"/>
                </a:solidFill>
                <a:latin typeface="Arial"/>
                <a:cs typeface="Arial"/>
              </a:rPr>
              <a:t>	</a:t>
            </a:r>
            <a:r>
              <a:rPr sz="1000" spc="-50" dirty="0">
                <a:solidFill>
                  <a:srgbClr val="8791AF"/>
                </a:solidFill>
                <a:latin typeface="Arial MT"/>
                <a:cs typeface="Arial MT"/>
              </a:rPr>
              <a:t>—</a:t>
            </a:r>
            <a:r>
              <a:rPr sz="1000" dirty="0">
                <a:solidFill>
                  <a:srgbClr val="8791AF"/>
                </a:solidFill>
                <a:latin typeface="Arial MT"/>
                <a:cs typeface="Arial MT"/>
              </a:rPr>
              <a:t>	</a:t>
            </a:r>
            <a:r>
              <a:rPr sz="1000" spc="-50" dirty="0">
                <a:solidFill>
                  <a:srgbClr val="8791AF"/>
                </a:solidFill>
                <a:latin typeface="Arial MT"/>
                <a:cs typeface="Arial MT"/>
              </a:rPr>
              <a:t>—</a:t>
            </a:r>
            <a:endParaRPr sz="1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1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tabLst>
                <a:tab pos="723265" algn="l"/>
                <a:tab pos="1840864" algn="l"/>
              </a:tabLst>
            </a:pPr>
            <a:r>
              <a:rPr sz="1100" b="1" spc="-25" dirty="0">
                <a:solidFill>
                  <a:srgbClr val="8791AF"/>
                </a:solidFill>
                <a:latin typeface="Arial"/>
                <a:cs typeface="Arial"/>
              </a:rPr>
              <a:t>41</a:t>
            </a:r>
            <a:r>
              <a:rPr sz="1000" b="1" dirty="0">
                <a:solidFill>
                  <a:srgbClr val="8791AF"/>
                </a:solidFill>
                <a:latin typeface="Arial"/>
                <a:cs typeface="Arial"/>
              </a:rPr>
              <a:t>	</a:t>
            </a:r>
            <a:r>
              <a:rPr sz="1000" spc="-50" dirty="0">
                <a:solidFill>
                  <a:srgbClr val="8791AF"/>
                </a:solidFill>
                <a:latin typeface="Arial MT"/>
                <a:cs typeface="Arial MT"/>
              </a:rPr>
              <a:t>—</a:t>
            </a:r>
            <a:r>
              <a:rPr sz="1000" dirty="0">
                <a:solidFill>
                  <a:srgbClr val="8791AF"/>
                </a:solidFill>
                <a:latin typeface="Arial MT"/>
                <a:cs typeface="Arial MT"/>
              </a:rPr>
              <a:t>	</a:t>
            </a:r>
            <a:r>
              <a:rPr sz="1000" spc="-50" dirty="0">
                <a:solidFill>
                  <a:srgbClr val="8791AF"/>
                </a:solidFill>
                <a:latin typeface="Arial MT"/>
                <a:cs typeface="Arial MT"/>
              </a:rPr>
              <a:t>—</a:t>
            </a:r>
            <a:endParaRPr sz="1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1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tabLst>
                <a:tab pos="723265" algn="l"/>
                <a:tab pos="1840864" algn="l"/>
              </a:tabLst>
            </a:pPr>
            <a:r>
              <a:rPr sz="1100" b="1" spc="-25" dirty="0">
                <a:solidFill>
                  <a:srgbClr val="8791AF"/>
                </a:solidFill>
                <a:latin typeface="Arial"/>
                <a:cs typeface="Arial"/>
              </a:rPr>
              <a:t>36</a:t>
            </a:r>
            <a:r>
              <a:rPr sz="1000" b="1" dirty="0">
                <a:solidFill>
                  <a:srgbClr val="8791AF"/>
                </a:solidFill>
                <a:latin typeface="Arial"/>
                <a:cs typeface="Arial"/>
              </a:rPr>
              <a:t>	</a:t>
            </a:r>
            <a:r>
              <a:rPr sz="1100" spc="-50" dirty="0">
                <a:solidFill>
                  <a:srgbClr val="8791AF"/>
                </a:solidFill>
                <a:latin typeface="Arial MT"/>
                <a:cs typeface="Arial MT"/>
              </a:rPr>
              <a:t>1</a:t>
            </a:r>
            <a:r>
              <a:rPr sz="1000" dirty="0">
                <a:solidFill>
                  <a:srgbClr val="8791AF"/>
                </a:solidFill>
                <a:latin typeface="Arial MT"/>
                <a:cs typeface="Arial MT"/>
              </a:rPr>
              <a:t>	</a:t>
            </a:r>
            <a:r>
              <a:rPr sz="1100" spc="-20" dirty="0">
                <a:solidFill>
                  <a:srgbClr val="8791AF"/>
                </a:solidFill>
                <a:latin typeface="Arial MT"/>
                <a:cs typeface="Arial MT"/>
              </a:rPr>
              <a:t>2.8%</a:t>
            </a:r>
            <a:endParaRPr sz="1100" dirty="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44500" y="4450710"/>
            <a:ext cx="42037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solidFill>
                  <a:srgbClr val="8791AF"/>
                </a:solidFill>
                <a:latin typeface="Arial"/>
                <a:cs typeface="Arial"/>
              </a:rPr>
              <a:t>High-risk</a:t>
            </a:r>
            <a:r>
              <a:rPr sz="1200" i="1" spc="-5" dirty="0">
                <a:solidFill>
                  <a:srgbClr val="8791A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8791AF"/>
                </a:solidFill>
                <a:latin typeface="Arial"/>
                <a:cs typeface="Arial"/>
              </a:rPr>
              <a:t>rate = high-risk projects</a:t>
            </a:r>
            <a:r>
              <a:rPr sz="1200" i="1" spc="-5" dirty="0">
                <a:solidFill>
                  <a:srgbClr val="8791A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8791AF"/>
                </a:solidFill>
                <a:latin typeface="Arial"/>
                <a:cs typeface="Arial"/>
              </a:rPr>
              <a:t>÷ total projects per </a:t>
            </a:r>
            <a:r>
              <a:rPr sz="1200" i="1" spc="-10" dirty="0">
                <a:solidFill>
                  <a:srgbClr val="8791AF"/>
                </a:solidFill>
                <a:latin typeface="Arial"/>
                <a:cs typeface="Arial"/>
              </a:rPr>
              <a:t>country</a:t>
            </a:r>
            <a:endParaRPr sz="1200" dirty="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57200" y="7010400"/>
            <a:ext cx="6858000" cy="482600"/>
            <a:chOff x="457200" y="7010400"/>
            <a:chExt cx="6858000" cy="482600"/>
          </a:xfrm>
        </p:grpSpPr>
        <p:sp>
          <p:nvSpPr>
            <p:cNvPr id="35" name="object 35"/>
            <p:cNvSpPr/>
            <p:nvPr/>
          </p:nvSpPr>
          <p:spPr>
            <a:xfrm>
              <a:off x="457200" y="7010400"/>
              <a:ext cx="6858000" cy="482600"/>
            </a:xfrm>
            <a:custGeom>
              <a:avLst/>
              <a:gdLst/>
              <a:ahLst/>
              <a:cxnLst/>
              <a:rect l="l" t="t" r="r" b="b"/>
              <a:pathLst>
                <a:path w="6858000" h="482600">
                  <a:moveTo>
                    <a:pt x="6756400" y="0"/>
                  </a:moveTo>
                  <a:lnTo>
                    <a:pt x="101600" y="0"/>
                  </a:lnTo>
                  <a:lnTo>
                    <a:pt x="62030" y="7976"/>
                  </a:lnTo>
                  <a:lnTo>
                    <a:pt x="29738" y="29738"/>
                  </a:lnTo>
                  <a:lnTo>
                    <a:pt x="7976" y="62030"/>
                  </a:lnTo>
                  <a:lnTo>
                    <a:pt x="0" y="101600"/>
                  </a:lnTo>
                  <a:lnTo>
                    <a:pt x="0" y="381000"/>
                  </a:lnTo>
                  <a:lnTo>
                    <a:pt x="7976" y="420569"/>
                  </a:lnTo>
                  <a:lnTo>
                    <a:pt x="29738" y="452861"/>
                  </a:lnTo>
                  <a:lnTo>
                    <a:pt x="62030" y="474623"/>
                  </a:lnTo>
                  <a:lnTo>
                    <a:pt x="101600" y="482600"/>
                  </a:lnTo>
                  <a:lnTo>
                    <a:pt x="6756400" y="482600"/>
                  </a:lnTo>
                  <a:lnTo>
                    <a:pt x="6795969" y="474623"/>
                  </a:lnTo>
                  <a:lnTo>
                    <a:pt x="6828261" y="452861"/>
                  </a:lnTo>
                  <a:lnTo>
                    <a:pt x="6850023" y="420569"/>
                  </a:lnTo>
                  <a:lnTo>
                    <a:pt x="6858000" y="381000"/>
                  </a:lnTo>
                  <a:lnTo>
                    <a:pt x="6858000" y="101600"/>
                  </a:lnTo>
                  <a:lnTo>
                    <a:pt x="6850023" y="62030"/>
                  </a:lnTo>
                  <a:lnTo>
                    <a:pt x="6828261" y="29738"/>
                  </a:lnTo>
                  <a:lnTo>
                    <a:pt x="6795969" y="7976"/>
                  </a:lnTo>
                  <a:lnTo>
                    <a:pt x="6756400" y="0"/>
                  </a:lnTo>
                  <a:close/>
                </a:path>
              </a:pathLst>
            </a:custGeom>
            <a:solidFill>
              <a:srgbClr val="1121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57200" y="7010400"/>
              <a:ext cx="50800" cy="482600"/>
            </a:xfrm>
            <a:custGeom>
              <a:avLst/>
              <a:gdLst/>
              <a:ahLst/>
              <a:cxnLst/>
              <a:rect l="l" t="t" r="r" b="b"/>
              <a:pathLst>
                <a:path w="50800" h="482600">
                  <a:moveTo>
                    <a:pt x="50800" y="0"/>
                  </a:moveTo>
                  <a:lnTo>
                    <a:pt x="0" y="0"/>
                  </a:lnTo>
                  <a:lnTo>
                    <a:pt x="0" y="482600"/>
                  </a:lnTo>
                  <a:lnTo>
                    <a:pt x="50800" y="482600"/>
                  </a:lnTo>
                  <a:lnTo>
                    <a:pt x="50800" y="0"/>
                  </a:lnTo>
                  <a:close/>
                </a:path>
              </a:pathLst>
            </a:custGeom>
            <a:solidFill>
              <a:srgbClr val="00D4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622300" y="7023100"/>
            <a:ext cx="53213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E6F0FF"/>
                </a:solidFill>
                <a:latin typeface="Arial"/>
                <a:cs typeface="Arial"/>
              </a:rPr>
              <a:t>Observation:</a:t>
            </a:r>
            <a:endParaRPr sz="11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1100" spc="-10" dirty="0">
                <a:solidFill>
                  <a:srgbClr val="8791AF"/>
                </a:solidFill>
                <a:latin typeface="Arial MT"/>
                <a:cs typeface="Arial MT"/>
              </a:rPr>
              <a:t>High-</a:t>
            </a:r>
            <a:r>
              <a:rPr sz="1100" dirty="0">
                <a:solidFill>
                  <a:srgbClr val="8791AF"/>
                </a:solidFill>
                <a:latin typeface="Arial MT"/>
                <a:cs typeface="Arial MT"/>
              </a:rPr>
              <a:t>risk rates</a:t>
            </a:r>
            <a:r>
              <a:rPr sz="11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8791AF"/>
                </a:solidFill>
                <a:latin typeface="Arial MT"/>
                <a:cs typeface="Arial MT"/>
              </a:rPr>
              <a:t>(6–8%) are</a:t>
            </a:r>
            <a:r>
              <a:rPr sz="11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8791AF"/>
                </a:solidFill>
                <a:latin typeface="Arial MT"/>
                <a:cs typeface="Arial MT"/>
              </a:rPr>
              <a:t>broadly in</a:t>
            </a:r>
            <a:r>
              <a:rPr sz="11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8791AF"/>
                </a:solidFill>
                <a:latin typeface="Arial MT"/>
                <a:cs typeface="Arial MT"/>
              </a:rPr>
              <a:t>line with</a:t>
            </a:r>
            <a:r>
              <a:rPr sz="11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8791AF"/>
                </a:solidFill>
                <a:latin typeface="Arial MT"/>
                <a:cs typeface="Arial MT"/>
              </a:rPr>
              <a:t>the dataset-wide</a:t>
            </a:r>
            <a:r>
              <a:rPr sz="11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8791AF"/>
                </a:solidFill>
                <a:latin typeface="Arial MT"/>
                <a:cs typeface="Arial MT"/>
              </a:rPr>
              <a:t>average of</a:t>
            </a:r>
            <a:r>
              <a:rPr sz="11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8791AF"/>
                </a:solidFill>
                <a:latin typeface="Arial MT"/>
                <a:cs typeface="Arial MT"/>
              </a:rPr>
              <a:t>6.1%, </a:t>
            </a:r>
            <a:r>
              <a:rPr sz="1100" dirty="0">
                <a:solidFill>
                  <a:srgbClr val="8791AF"/>
                </a:solidFill>
                <a:latin typeface="Arial MT"/>
                <a:cs typeface="Arial MT"/>
              </a:rPr>
              <a:t>suggesting that risk distribution</a:t>
            </a:r>
            <a:r>
              <a:rPr sz="11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8791AF"/>
                </a:solidFill>
                <a:latin typeface="Arial MT"/>
                <a:cs typeface="Arial MT"/>
              </a:rPr>
              <a:t>is proportional to</a:t>
            </a:r>
            <a:r>
              <a:rPr sz="11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8791AF"/>
                </a:solidFill>
                <a:latin typeface="Arial MT"/>
                <a:cs typeface="Arial MT"/>
              </a:rPr>
              <a:t>project volume, not</a:t>
            </a:r>
            <a:r>
              <a:rPr sz="11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8791AF"/>
                </a:solidFill>
                <a:latin typeface="Arial MT"/>
                <a:cs typeface="Arial MT"/>
              </a:rPr>
              <a:t>geography.</a:t>
            </a:r>
            <a:endParaRPr sz="1100" dirty="0">
              <a:latin typeface="Arial MT"/>
              <a:cs typeface="Arial MT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0" y="7620000"/>
            <a:ext cx="7772400" cy="50800"/>
          </a:xfrm>
          <a:custGeom>
            <a:avLst/>
            <a:gdLst/>
            <a:ahLst/>
            <a:cxnLst/>
            <a:rect l="l" t="t" r="r" b="b"/>
            <a:pathLst>
              <a:path w="7772400" h="50800">
                <a:moveTo>
                  <a:pt x="7772400" y="0"/>
                </a:moveTo>
                <a:lnTo>
                  <a:pt x="0" y="0"/>
                </a:lnTo>
                <a:lnTo>
                  <a:pt x="0" y="50800"/>
                </a:lnTo>
                <a:lnTo>
                  <a:pt x="7772400" y="50800"/>
                </a:lnTo>
                <a:lnTo>
                  <a:pt x="7772400" y="0"/>
                </a:lnTo>
                <a:close/>
              </a:path>
            </a:pathLst>
          </a:custGeom>
          <a:solidFill>
            <a:srgbClr val="00D4AA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355600"/>
            <a:ext cx="26797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PATTERNS &amp; </a:t>
            </a:r>
            <a:r>
              <a:rPr sz="1200" spc="-10" dirty="0">
                <a:solidFill>
                  <a:srgbClr val="8791AF"/>
                </a:solidFill>
                <a:latin typeface="Arial MT"/>
                <a:cs typeface="Arial MT"/>
              </a:rPr>
              <a:t>OBSERVATIONS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44500" y="828040"/>
            <a:ext cx="3768090" cy="77216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ts val="3000"/>
              </a:lnSpc>
              <a:spcBef>
                <a:spcPts val="80"/>
              </a:spcBef>
            </a:pPr>
            <a:r>
              <a:rPr sz="2400" dirty="0"/>
              <a:t>What</a:t>
            </a:r>
            <a:r>
              <a:rPr sz="2400" spc="-15" dirty="0"/>
              <a:t> </a:t>
            </a:r>
            <a:r>
              <a:rPr sz="2400" dirty="0"/>
              <a:t>do</a:t>
            </a:r>
            <a:r>
              <a:rPr sz="2400" spc="-10" dirty="0"/>
              <a:t> </a:t>
            </a:r>
            <a:r>
              <a:rPr sz="2400" dirty="0"/>
              <a:t>the</a:t>
            </a:r>
            <a:r>
              <a:rPr sz="2400" spc="-15" dirty="0"/>
              <a:t> </a:t>
            </a:r>
            <a:r>
              <a:rPr sz="2400" dirty="0"/>
              <a:t>data</a:t>
            </a:r>
            <a:r>
              <a:rPr sz="2400" spc="-10" dirty="0"/>
              <a:t> patterns </a:t>
            </a:r>
            <a:r>
              <a:rPr sz="2400" spc="-10" dirty="0">
                <a:solidFill>
                  <a:srgbClr val="00D4AA"/>
                </a:solidFill>
              </a:rPr>
              <a:t>suggest?</a:t>
            </a:r>
            <a:endParaRPr sz="2400" dirty="0"/>
          </a:p>
        </p:txBody>
      </p:sp>
      <p:sp>
        <p:nvSpPr>
          <p:cNvPr id="5" name="object 5"/>
          <p:cNvSpPr/>
          <p:nvPr/>
        </p:nvSpPr>
        <p:spPr>
          <a:xfrm>
            <a:off x="457200" y="1778000"/>
            <a:ext cx="6858000" cy="889000"/>
          </a:xfrm>
          <a:custGeom>
            <a:avLst/>
            <a:gdLst/>
            <a:ahLst/>
            <a:cxnLst/>
            <a:rect l="l" t="t" r="r" b="b"/>
            <a:pathLst>
              <a:path w="6858000" h="889000">
                <a:moveTo>
                  <a:pt x="6756400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787400"/>
                </a:lnTo>
                <a:lnTo>
                  <a:pt x="7976" y="826969"/>
                </a:lnTo>
                <a:lnTo>
                  <a:pt x="29738" y="859261"/>
                </a:lnTo>
                <a:lnTo>
                  <a:pt x="62030" y="881023"/>
                </a:lnTo>
                <a:lnTo>
                  <a:pt x="101600" y="889000"/>
                </a:lnTo>
                <a:lnTo>
                  <a:pt x="6756400" y="889000"/>
                </a:lnTo>
                <a:lnTo>
                  <a:pt x="6795969" y="881023"/>
                </a:lnTo>
                <a:lnTo>
                  <a:pt x="6828261" y="859261"/>
                </a:lnTo>
                <a:lnTo>
                  <a:pt x="6850023" y="826969"/>
                </a:lnTo>
                <a:lnTo>
                  <a:pt x="6858000" y="787400"/>
                </a:lnTo>
                <a:lnTo>
                  <a:pt x="6858000" y="101600"/>
                </a:lnTo>
                <a:lnTo>
                  <a:pt x="6850023" y="62030"/>
                </a:lnTo>
                <a:lnTo>
                  <a:pt x="6828261" y="29738"/>
                </a:lnTo>
                <a:lnTo>
                  <a:pt x="6795969" y="7976"/>
                </a:lnTo>
                <a:lnTo>
                  <a:pt x="6756400" y="0"/>
                </a:lnTo>
                <a:close/>
              </a:path>
            </a:pathLst>
          </a:custGeom>
          <a:solidFill>
            <a:srgbClr val="1121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7200" y="2819400"/>
            <a:ext cx="6858000" cy="889000"/>
          </a:xfrm>
          <a:custGeom>
            <a:avLst/>
            <a:gdLst/>
            <a:ahLst/>
            <a:cxnLst/>
            <a:rect l="l" t="t" r="r" b="b"/>
            <a:pathLst>
              <a:path w="6858000" h="889000">
                <a:moveTo>
                  <a:pt x="6756400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787400"/>
                </a:lnTo>
                <a:lnTo>
                  <a:pt x="7976" y="826969"/>
                </a:lnTo>
                <a:lnTo>
                  <a:pt x="29738" y="859261"/>
                </a:lnTo>
                <a:lnTo>
                  <a:pt x="62030" y="881023"/>
                </a:lnTo>
                <a:lnTo>
                  <a:pt x="101600" y="889000"/>
                </a:lnTo>
                <a:lnTo>
                  <a:pt x="6756400" y="889000"/>
                </a:lnTo>
                <a:lnTo>
                  <a:pt x="6795969" y="881023"/>
                </a:lnTo>
                <a:lnTo>
                  <a:pt x="6828261" y="859261"/>
                </a:lnTo>
                <a:lnTo>
                  <a:pt x="6850023" y="826969"/>
                </a:lnTo>
                <a:lnTo>
                  <a:pt x="6858000" y="787400"/>
                </a:lnTo>
                <a:lnTo>
                  <a:pt x="6858000" y="101600"/>
                </a:lnTo>
                <a:lnTo>
                  <a:pt x="6850023" y="62030"/>
                </a:lnTo>
                <a:lnTo>
                  <a:pt x="6828261" y="29738"/>
                </a:lnTo>
                <a:lnTo>
                  <a:pt x="6795969" y="7976"/>
                </a:lnTo>
                <a:lnTo>
                  <a:pt x="6756400" y="0"/>
                </a:lnTo>
                <a:close/>
              </a:path>
            </a:pathLst>
          </a:custGeom>
          <a:solidFill>
            <a:srgbClr val="1121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57200" y="3860800"/>
            <a:ext cx="6858000" cy="889000"/>
          </a:xfrm>
          <a:custGeom>
            <a:avLst/>
            <a:gdLst/>
            <a:ahLst/>
            <a:cxnLst/>
            <a:rect l="l" t="t" r="r" b="b"/>
            <a:pathLst>
              <a:path w="6858000" h="889000">
                <a:moveTo>
                  <a:pt x="6756400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787400"/>
                </a:lnTo>
                <a:lnTo>
                  <a:pt x="7976" y="826969"/>
                </a:lnTo>
                <a:lnTo>
                  <a:pt x="29738" y="859261"/>
                </a:lnTo>
                <a:lnTo>
                  <a:pt x="62030" y="881023"/>
                </a:lnTo>
                <a:lnTo>
                  <a:pt x="101600" y="889000"/>
                </a:lnTo>
                <a:lnTo>
                  <a:pt x="6756400" y="889000"/>
                </a:lnTo>
                <a:lnTo>
                  <a:pt x="6795969" y="881023"/>
                </a:lnTo>
                <a:lnTo>
                  <a:pt x="6828261" y="859261"/>
                </a:lnTo>
                <a:lnTo>
                  <a:pt x="6850023" y="826969"/>
                </a:lnTo>
                <a:lnTo>
                  <a:pt x="6858000" y="787400"/>
                </a:lnTo>
                <a:lnTo>
                  <a:pt x="6858000" y="101600"/>
                </a:lnTo>
                <a:lnTo>
                  <a:pt x="6850023" y="62030"/>
                </a:lnTo>
                <a:lnTo>
                  <a:pt x="6828261" y="29738"/>
                </a:lnTo>
                <a:lnTo>
                  <a:pt x="6795969" y="7976"/>
                </a:lnTo>
                <a:lnTo>
                  <a:pt x="6756400" y="0"/>
                </a:lnTo>
                <a:close/>
              </a:path>
            </a:pathLst>
          </a:custGeom>
          <a:solidFill>
            <a:srgbClr val="1121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47700" y="1897379"/>
            <a:ext cx="5821680" cy="3495828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000" b="1" spc="-25" dirty="0">
                <a:solidFill>
                  <a:srgbClr val="F9A824"/>
                </a:solidFill>
                <a:latin typeface="Arial"/>
                <a:cs typeface="Arial"/>
              </a:rPr>
              <a:t>01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ts val="1420"/>
              </a:lnSpc>
              <a:spcBef>
                <a:spcPts val="240"/>
              </a:spcBef>
            </a:pPr>
            <a:r>
              <a:rPr sz="1400" b="1" dirty="0">
                <a:solidFill>
                  <a:srgbClr val="E6F0FF"/>
                </a:solidFill>
                <a:latin typeface="Arial"/>
                <a:cs typeface="Arial"/>
              </a:rPr>
              <a:t>Stalled</a:t>
            </a:r>
            <a:r>
              <a:rPr sz="1400" b="1" spc="-20" dirty="0">
                <a:solidFill>
                  <a:srgbClr val="E6F0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E6F0FF"/>
                </a:solidFill>
                <a:latin typeface="Arial"/>
                <a:cs typeface="Arial"/>
              </a:rPr>
              <a:t>Project</a:t>
            </a:r>
            <a:r>
              <a:rPr sz="1400" b="1" spc="-20" dirty="0">
                <a:solidFill>
                  <a:srgbClr val="E6F0F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E6F0FF"/>
                </a:solidFill>
                <a:latin typeface="Arial"/>
                <a:cs typeface="Arial"/>
              </a:rPr>
              <a:t>Records</a:t>
            </a:r>
            <a:endParaRPr sz="1400" dirty="0">
              <a:latin typeface="Arial"/>
              <a:cs typeface="Arial"/>
            </a:endParaRPr>
          </a:p>
          <a:p>
            <a:pPr marL="12700" marR="132715">
              <a:lnSpc>
                <a:spcPts val="1200"/>
              </a:lnSpc>
              <a:spcBef>
                <a:spcPts val="20"/>
              </a:spcBef>
            </a:pP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597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projects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carry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a</a:t>
            </a:r>
            <a:r>
              <a:rPr sz="1200" spc="1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'Late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to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Verify'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status,</a:t>
            </a:r>
            <a:r>
              <a:rPr sz="1200" spc="1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meaning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their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registry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records</a:t>
            </a:r>
            <a:r>
              <a:rPr sz="1200" spc="1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have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not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been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updated</a:t>
            </a:r>
            <a:r>
              <a:rPr sz="1200" spc="1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8791AF"/>
                </a:solidFill>
                <a:latin typeface="Arial MT"/>
                <a:cs typeface="Arial MT"/>
              </a:rPr>
              <a:t>with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verification outcomes. From a data standpoint, these are incomplete lifecycle </a:t>
            </a:r>
            <a:r>
              <a:rPr sz="1200" spc="-10" dirty="0">
                <a:solidFill>
                  <a:srgbClr val="8791AF"/>
                </a:solidFill>
                <a:latin typeface="Arial MT"/>
                <a:cs typeface="Arial MT"/>
              </a:rPr>
              <a:t>records.</a:t>
            </a:r>
            <a:endParaRPr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endParaRPr sz="1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00" b="1" spc="-25" dirty="0">
                <a:solidFill>
                  <a:srgbClr val="00D4AA"/>
                </a:solidFill>
                <a:latin typeface="Arial"/>
                <a:cs typeface="Arial"/>
              </a:rPr>
              <a:t>02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ts val="1420"/>
              </a:lnSpc>
              <a:spcBef>
                <a:spcPts val="240"/>
              </a:spcBef>
            </a:pPr>
            <a:r>
              <a:rPr sz="1400" b="1" dirty="0">
                <a:solidFill>
                  <a:srgbClr val="E6F0FF"/>
                </a:solidFill>
                <a:latin typeface="Arial"/>
                <a:cs typeface="Arial"/>
              </a:rPr>
              <a:t>Legacy Data Gaps from CDM </a:t>
            </a:r>
            <a:r>
              <a:rPr sz="1400" b="1" spc="-10" dirty="0">
                <a:solidFill>
                  <a:srgbClr val="E6F0FF"/>
                </a:solidFill>
                <a:latin typeface="Arial"/>
                <a:cs typeface="Arial"/>
              </a:rPr>
              <a:t>Migration</a:t>
            </a:r>
            <a:endParaRPr sz="1400" dirty="0">
              <a:latin typeface="Arial"/>
              <a:cs typeface="Arial"/>
            </a:endParaRPr>
          </a:p>
          <a:p>
            <a:pPr marL="12700" marR="5080">
              <a:lnSpc>
                <a:spcPts val="1200"/>
              </a:lnSpc>
              <a:spcBef>
                <a:spcPts val="20"/>
              </a:spcBef>
            </a:pP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349 projects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registered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in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2020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show data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quality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patterns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consistent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with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legacy records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—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8791AF"/>
                </a:solidFill>
                <a:latin typeface="Arial MT"/>
                <a:cs typeface="Arial MT"/>
              </a:rPr>
              <a:t>incomplete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fields, missing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dates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— that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were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carried over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during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a large-scale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data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8791AF"/>
                </a:solidFill>
                <a:latin typeface="Arial MT"/>
                <a:cs typeface="Arial MT"/>
              </a:rPr>
              <a:t>migration.</a:t>
            </a:r>
            <a:endParaRPr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endParaRPr sz="1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00" b="1" spc="-25" dirty="0">
                <a:solidFill>
                  <a:srgbClr val="66BA69"/>
                </a:solidFill>
                <a:latin typeface="Arial"/>
                <a:cs typeface="Arial"/>
              </a:rPr>
              <a:t>03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ts val="1420"/>
              </a:lnSpc>
              <a:spcBef>
                <a:spcPts val="240"/>
              </a:spcBef>
            </a:pPr>
            <a:r>
              <a:rPr sz="1400" b="1" dirty="0">
                <a:solidFill>
                  <a:srgbClr val="E6F0FF"/>
                </a:solidFill>
                <a:latin typeface="Arial"/>
                <a:cs typeface="Arial"/>
              </a:rPr>
              <a:t>Missing</a:t>
            </a:r>
            <a:r>
              <a:rPr sz="1400" b="1" spc="-20" dirty="0">
                <a:solidFill>
                  <a:srgbClr val="E6F0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E6F0FF"/>
                </a:solidFill>
                <a:latin typeface="Arial"/>
                <a:cs typeface="Arial"/>
              </a:rPr>
              <a:t>Dates</a:t>
            </a:r>
            <a:r>
              <a:rPr sz="1400" b="1" spc="-20" dirty="0">
                <a:solidFill>
                  <a:srgbClr val="E6F0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E6F0FF"/>
                </a:solidFill>
                <a:latin typeface="Arial"/>
                <a:cs typeface="Arial"/>
              </a:rPr>
              <a:t>Limit</a:t>
            </a:r>
            <a:r>
              <a:rPr sz="1400" b="1" spc="-20" dirty="0">
                <a:solidFill>
                  <a:srgbClr val="E6F0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E6F0FF"/>
                </a:solidFill>
                <a:latin typeface="Arial"/>
                <a:cs typeface="Arial"/>
              </a:rPr>
              <a:t>Analysis</a:t>
            </a:r>
            <a:r>
              <a:rPr sz="1400" b="1" spc="-15" dirty="0">
                <a:solidFill>
                  <a:srgbClr val="E6F0F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E6F0FF"/>
                </a:solidFill>
                <a:latin typeface="Arial"/>
                <a:cs typeface="Arial"/>
              </a:rPr>
              <a:t>Depth</a:t>
            </a:r>
            <a:endParaRPr sz="1400" dirty="0">
              <a:latin typeface="Arial"/>
              <a:cs typeface="Arial"/>
            </a:endParaRPr>
          </a:p>
          <a:p>
            <a:pPr marL="12700" marR="252095">
              <a:lnSpc>
                <a:spcPts val="1200"/>
              </a:lnSpc>
              <a:spcBef>
                <a:spcPts val="20"/>
              </a:spcBef>
            </a:pP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55% of projects are missing crediting period dates. For any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analyst working with this dataset, </a:t>
            </a:r>
            <a:r>
              <a:rPr sz="1200" spc="-10" dirty="0">
                <a:solidFill>
                  <a:srgbClr val="8791AF"/>
                </a:solidFill>
                <a:latin typeface="Arial MT"/>
                <a:cs typeface="Arial MT"/>
              </a:rPr>
              <a:t>these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gaps constrain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time-series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analysis and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lifecycle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modelling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without additional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data</a:t>
            </a:r>
            <a:r>
              <a:rPr sz="1200" spc="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8791AF"/>
                </a:solidFill>
                <a:latin typeface="Arial MT"/>
                <a:cs typeface="Arial MT"/>
              </a:rPr>
              <a:t>sourcing.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7620000"/>
            <a:ext cx="7772400" cy="50800"/>
          </a:xfrm>
          <a:custGeom>
            <a:avLst/>
            <a:gdLst/>
            <a:ahLst/>
            <a:cxnLst/>
            <a:rect l="l" t="t" r="r" b="b"/>
            <a:pathLst>
              <a:path w="7772400" h="50800">
                <a:moveTo>
                  <a:pt x="7772400" y="0"/>
                </a:moveTo>
                <a:lnTo>
                  <a:pt x="0" y="0"/>
                </a:lnTo>
                <a:lnTo>
                  <a:pt x="0" y="50800"/>
                </a:lnTo>
                <a:lnTo>
                  <a:pt x="7772400" y="50800"/>
                </a:lnTo>
                <a:lnTo>
                  <a:pt x="7772400" y="0"/>
                </a:lnTo>
                <a:close/>
              </a:path>
            </a:pathLst>
          </a:custGeom>
          <a:solidFill>
            <a:srgbClr val="00D4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/>
              <a:t>9</a:t>
            </a:fld>
            <a:r>
              <a:rPr dirty="0"/>
              <a:t> / </a:t>
            </a:r>
            <a:r>
              <a:rPr spc="-25" dirty="0"/>
              <a:t>10</a:t>
            </a: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7772400" cy="711200"/>
          </a:xfrm>
          <a:custGeom>
            <a:avLst/>
            <a:gdLst/>
            <a:ahLst/>
            <a:cxnLst/>
            <a:rect l="l" t="t" r="r" b="b"/>
            <a:pathLst>
              <a:path w="7772400" h="711200">
                <a:moveTo>
                  <a:pt x="7772400" y="0"/>
                </a:moveTo>
                <a:lnTo>
                  <a:pt x="0" y="0"/>
                </a:lnTo>
                <a:lnTo>
                  <a:pt x="0" y="711200"/>
                </a:lnTo>
                <a:lnTo>
                  <a:pt x="7772400" y="711200"/>
                </a:lnTo>
                <a:lnTo>
                  <a:pt x="7772400" y="0"/>
                </a:lnTo>
                <a:close/>
              </a:path>
            </a:pathLst>
          </a:custGeom>
          <a:solidFill>
            <a:srgbClr val="00D4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057400" y="241300"/>
            <a:ext cx="3916338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0A182F"/>
                </a:solidFill>
                <a:latin typeface="Arial"/>
                <a:cs typeface="Arial"/>
              </a:rPr>
              <a:t>Verra</a:t>
            </a:r>
            <a:r>
              <a:rPr sz="1600" b="1" spc="-20" dirty="0">
                <a:solidFill>
                  <a:srgbClr val="0A182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A182F"/>
                </a:solidFill>
                <a:latin typeface="Arial"/>
                <a:cs typeface="Arial"/>
              </a:rPr>
              <a:t>VCS</a:t>
            </a:r>
            <a:r>
              <a:rPr sz="1600" b="1" spc="-15" dirty="0">
                <a:solidFill>
                  <a:srgbClr val="0A182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A182F"/>
                </a:solidFill>
                <a:latin typeface="Arial"/>
                <a:cs typeface="Arial"/>
              </a:rPr>
              <a:t>Carbon</a:t>
            </a:r>
            <a:r>
              <a:rPr sz="1600" b="1" spc="-15" dirty="0">
                <a:solidFill>
                  <a:srgbClr val="0A182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A182F"/>
                </a:solidFill>
                <a:latin typeface="Arial"/>
                <a:cs typeface="Arial"/>
              </a:rPr>
              <a:t>Registry</a:t>
            </a:r>
            <a:r>
              <a:rPr sz="1600" b="1" spc="-15" dirty="0">
                <a:solidFill>
                  <a:srgbClr val="0A182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0A182F"/>
                </a:solidFill>
                <a:latin typeface="Arial"/>
                <a:cs typeface="Arial"/>
              </a:rPr>
              <a:t>Analysis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44500" y="934027"/>
            <a:ext cx="5314861" cy="793807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000" dirty="0"/>
              <a:t>Three</a:t>
            </a:r>
            <a:r>
              <a:rPr sz="2000" spc="-20" dirty="0"/>
              <a:t> </a:t>
            </a:r>
            <a:r>
              <a:rPr sz="2000" dirty="0"/>
              <a:t>patterns.</a:t>
            </a:r>
            <a:r>
              <a:rPr sz="2000" spc="-20" dirty="0"/>
              <a:t> </a:t>
            </a:r>
            <a:r>
              <a:rPr sz="2000" dirty="0"/>
              <a:t>One</a:t>
            </a:r>
            <a:r>
              <a:rPr sz="2000" spc="-15" dirty="0"/>
              <a:t> </a:t>
            </a:r>
            <a:r>
              <a:rPr sz="2000" spc="-10" dirty="0"/>
              <a:t>dataset.</a:t>
            </a:r>
            <a:endParaRPr sz="2000" dirty="0"/>
          </a:p>
          <a:p>
            <a:pPr marL="12700" marR="5080">
              <a:lnSpc>
                <a:spcPct val="106100"/>
              </a:lnSpc>
              <a:spcBef>
                <a:spcPts val="219"/>
              </a:spcBef>
            </a:pPr>
            <a:r>
              <a:rPr sz="1200" b="0" dirty="0">
                <a:solidFill>
                  <a:srgbClr val="8791AF"/>
                </a:solidFill>
                <a:latin typeface="Arial MT"/>
                <a:cs typeface="Arial MT"/>
              </a:rPr>
              <a:t>Exploring</a:t>
            </a:r>
            <a:r>
              <a:rPr sz="1200" b="0" spc="-1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b="0" dirty="0">
                <a:solidFill>
                  <a:srgbClr val="8791AF"/>
                </a:solidFill>
                <a:latin typeface="Arial MT"/>
                <a:cs typeface="Arial MT"/>
              </a:rPr>
              <a:t>1,700</a:t>
            </a:r>
            <a:r>
              <a:rPr sz="1200" b="0" spc="-1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b="0" dirty="0">
                <a:solidFill>
                  <a:srgbClr val="8791AF"/>
                </a:solidFill>
                <a:latin typeface="Arial MT"/>
                <a:cs typeface="Arial MT"/>
              </a:rPr>
              <a:t>Verra</a:t>
            </a:r>
            <a:r>
              <a:rPr sz="1200" b="0" spc="-1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b="0" dirty="0">
                <a:solidFill>
                  <a:srgbClr val="8791AF"/>
                </a:solidFill>
                <a:latin typeface="Arial MT"/>
                <a:cs typeface="Arial MT"/>
              </a:rPr>
              <a:t>VCS</a:t>
            </a:r>
            <a:r>
              <a:rPr sz="1200" b="0" spc="-1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b="0" dirty="0">
                <a:solidFill>
                  <a:srgbClr val="8791AF"/>
                </a:solidFill>
                <a:latin typeface="Arial MT"/>
                <a:cs typeface="Arial MT"/>
              </a:rPr>
              <a:t>energy</a:t>
            </a:r>
            <a:r>
              <a:rPr sz="1200" b="0" spc="-1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b="0" dirty="0">
                <a:solidFill>
                  <a:srgbClr val="8791AF"/>
                </a:solidFill>
                <a:latin typeface="Arial MT"/>
                <a:cs typeface="Arial MT"/>
              </a:rPr>
              <a:t>projects</a:t>
            </a:r>
            <a:r>
              <a:rPr sz="1200" b="0" spc="-1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b="0" dirty="0">
                <a:solidFill>
                  <a:srgbClr val="8791AF"/>
                </a:solidFill>
                <a:latin typeface="Arial MT"/>
                <a:cs typeface="Arial MT"/>
              </a:rPr>
              <a:t>through</a:t>
            </a:r>
            <a:r>
              <a:rPr sz="1200" b="0" spc="-1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b="0" dirty="0">
                <a:solidFill>
                  <a:srgbClr val="8791AF"/>
                </a:solidFill>
                <a:latin typeface="Arial MT"/>
                <a:cs typeface="Arial MT"/>
              </a:rPr>
              <a:t>a</a:t>
            </a:r>
            <a:r>
              <a:rPr sz="1200" b="0" spc="-1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b="0" dirty="0">
                <a:solidFill>
                  <a:srgbClr val="8791AF"/>
                </a:solidFill>
                <a:latin typeface="Arial MT"/>
                <a:cs typeface="Arial MT"/>
              </a:rPr>
              <a:t>data</a:t>
            </a:r>
            <a:r>
              <a:rPr sz="1200" b="0" spc="-1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b="0" dirty="0">
                <a:solidFill>
                  <a:srgbClr val="8791AF"/>
                </a:solidFill>
                <a:latin typeface="Arial MT"/>
                <a:cs typeface="Arial MT"/>
              </a:rPr>
              <a:t>quality</a:t>
            </a:r>
            <a:r>
              <a:rPr sz="1200" b="0" spc="-1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b="0" spc="-20" dirty="0">
                <a:solidFill>
                  <a:srgbClr val="8791AF"/>
                </a:solidFill>
                <a:latin typeface="Arial MT"/>
                <a:cs typeface="Arial MT"/>
              </a:rPr>
              <a:t>lens </a:t>
            </a:r>
            <a:r>
              <a:rPr sz="1200" b="0" dirty="0">
                <a:solidFill>
                  <a:srgbClr val="8791AF"/>
                </a:solidFill>
                <a:latin typeface="Arial MT"/>
                <a:cs typeface="Arial MT"/>
              </a:rPr>
              <a:t>surfaces</a:t>
            </a:r>
            <a:r>
              <a:rPr sz="1200" b="0" spc="-2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b="0" dirty="0">
                <a:solidFill>
                  <a:srgbClr val="8791AF"/>
                </a:solidFill>
                <a:latin typeface="Arial MT"/>
                <a:cs typeface="Arial MT"/>
              </a:rPr>
              <a:t>patterns</a:t>
            </a:r>
            <a:r>
              <a:rPr sz="1200" b="0" spc="-2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b="0" dirty="0">
                <a:solidFill>
                  <a:srgbClr val="8791AF"/>
                </a:solidFill>
                <a:latin typeface="Arial MT"/>
                <a:cs typeface="Arial MT"/>
              </a:rPr>
              <a:t>worth</a:t>
            </a:r>
            <a:r>
              <a:rPr sz="1200" b="0" spc="-1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b="0" dirty="0">
                <a:solidFill>
                  <a:srgbClr val="8791AF"/>
                </a:solidFill>
                <a:latin typeface="Arial MT"/>
                <a:cs typeface="Arial MT"/>
              </a:rPr>
              <a:t>understanding</a:t>
            </a:r>
            <a:r>
              <a:rPr sz="1200" b="0" spc="-2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b="0" dirty="0">
                <a:solidFill>
                  <a:srgbClr val="8791AF"/>
                </a:solidFill>
                <a:latin typeface="Arial MT"/>
                <a:cs typeface="Arial MT"/>
              </a:rPr>
              <a:t>before</a:t>
            </a:r>
            <a:r>
              <a:rPr sz="1200" b="0" spc="-2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b="0" dirty="0">
                <a:solidFill>
                  <a:srgbClr val="8791AF"/>
                </a:solidFill>
                <a:latin typeface="Arial MT"/>
                <a:cs typeface="Arial MT"/>
              </a:rPr>
              <a:t>working</a:t>
            </a:r>
            <a:r>
              <a:rPr sz="1200" b="0" spc="-1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b="0" dirty="0">
                <a:solidFill>
                  <a:srgbClr val="8791AF"/>
                </a:solidFill>
                <a:latin typeface="Arial MT"/>
                <a:cs typeface="Arial MT"/>
              </a:rPr>
              <a:t>with</a:t>
            </a:r>
            <a:r>
              <a:rPr sz="1200" b="0" spc="-20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b="0" dirty="0">
                <a:solidFill>
                  <a:srgbClr val="8791AF"/>
                </a:solidFill>
                <a:latin typeface="Arial MT"/>
                <a:cs typeface="Arial MT"/>
              </a:rPr>
              <a:t>this</a:t>
            </a:r>
            <a:r>
              <a:rPr sz="1200" b="0" spc="-1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b="0" spc="-10" dirty="0">
                <a:solidFill>
                  <a:srgbClr val="8791AF"/>
                </a:solidFill>
                <a:latin typeface="Arial MT"/>
                <a:cs typeface="Arial MT"/>
              </a:rPr>
              <a:t>data.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57200" y="1879600"/>
            <a:ext cx="6858000" cy="0"/>
          </a:xfrm>
          <a:custGeom>
            <a:avLst/>
            <a:gdLst/>
            <a:ahLst/>
            <a:cxnLst/>
            <a:rect l="l" t="t" r="r" b="b"/>
            <a:pathLst>
              <a:path w="6858000">
                <a:moveTo>
                  <a:pt x="0" y="0"/>
                </a:moveTo>
                <a:lnTo>
                  <a:pt x="6858000" y="0"/>
                </a:lnTo>
              </a:path>
            </a:pathLst>
          </a:custGeom>
          <a:ln w="6350">
            <a:solidFill>
              <a:srgbClr val="1D3A5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7200" y="2057400"/>
            <a:ext cx="2235200" cy="914400"/>
          </a:xfrm>
          <a:custGeom>
            <a:avLst/>
            <a:gdLst/>
            <a:ahLst/>
            <a:cxnLst/>
            <a:rect l="l" t="t" r="r" b="b"/>
            <a:pathLst>
              <a:path w="2235200" h="914400">
                <a:moveTo>
                  <a:pt x="2133600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812800"/>
                </a:lnTo>
                <a:lnTo>
                  <a:pt x="7976" y="852369"/>
                </a:lnTo>
                <a:lnTo>
                  <a:pt x="29738" y="884661"/>
                </a:lnTo>
                <a:lnTo>
                  <a:pt x="62030" y="906423"/>
                </a:lnTo>
                <a:lnTo>
                  <a:pt x="101600" y="914400"/>
                </a:lnTo>
                <a:lnTo>
                  <a:pt x="2133600" y="914400"/>
                </a:lnTo>
                <a:lnTo>
                  <a:pt x="2173169" y="906423"/>
                </a:lnTo>
                <a:lnTo>
                  <a:pt x="2205461" y="884661"/>
                </a:lnTo>
                <a:lnTo>
                  <a:pt x="2227223" y="852369"/>
                </a:lnTo>
                <a:lnTo>
                  <a:pt x="2235200" y="812800"/>
                </a:lnTo>
                <a:lnTo>
                  <a:pt x="2235200" y="101600"/>
                </a:lnTo>
                <a:lnTo>
                  <a:pt x="2227223" y="62030"/>
                </a:lnTo>
                <a:lnTo>
                  <a:pt x="2205461" y="29738"/>
                </a:lnTo>
                <a:lnTo>
                  <a:pt x="2173169" y="7976"/>
                </a:lnTo>
                <a:lnTo>
                  <a:pt x="2133600" y="0"/>
                </a:lnTo>
                <a:close/>
              </a:path>
            </a:pathLst>
          </a:custGeom>
          <a:solidFill>
            <a:srgbClr val="1121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26959" y="2105095"/>
            <a:ext cx="1153027" cy="1018164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51435">
              <a:lnSpc>
                <a:spcPct val="100000"/>
              </a:lnSpc>
              <a:spcBef>
                <a:spcPts val="1225"/>
              </a:spcBef>
            </a:pPr>
            <a:r>
              <a:rPr sz="3000" b="1" spc="-10" dirty="0">
                <a:solidFill>
                  <a:srgbClr val="F9A824"/>
                </a:solidFill>
                <a:latin typeface="Arial"/>
                <a:cs typeface="Arial"/>
              </a:rPr>
              <a:t>35.1%</a:t>
            </a:r>
            <a:endParaRPr sz="3000" dirty="0">
              <a:latin typeface="Arial"/>
              <a:cs typeface="Arial"/>
            </a:endParaRPr>
          </a:p>
          <a:p>
            <a:pPr marL="70485" marR="5080" indent="-58419">
              <a:lnSpc>
                <a:spcPct val="111100"/>
              </a:lnSpc>
              <a:spcBef>
                <a:spcPts val="340"/>
              </a:spcBef>
            </a:pPr>
            <a:r>
              <a:rPr sz="1100" dirty="0">
                <a:solidFill>
                  <a:srgbClr val="E6F0FF"/>
                </a:solidFill>
                <a:latin typeface="Arial MT"/>
                <a:cs typeface="Arial MT"/>
              </a:rPr>
              <a:t>of all projects </a:t>
            </a:r>
            <a:r>
              <a:rPr sz="1100" spc="-25" dirty="0">
                <a:solidFill>
                  <a:srgbClr val="E6F0FF"/>
                </a:solidFill>
                <a:latin typeface="Arial MT"/>
                <a:cs typeface="Arial MT"/>
              </a:rPr>
              <a:t>are </a:t>
            </a:r>
            <a:r>
              <a:rPr sz="1100" dirty="0">
                <a:solidFill>
                  <a:srgbClr val="E6F0FF"/>
                </a:solidFill>
                <a:latin typeface="Arial MT"/>
                <a:cs typeface="Arial MT"/>
              </a:rPr>
              <a:t>"Late</a:t>
            </a:r>
            <a:r>
              <a:rPr sz="1100" spc="-15" dirty="0">
                <a:solidFill>
                  <a:srgbClr val="E6F0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E6F0FF"/>
                </a:solidFill>
                <a:latin typeface="Arial MT"/>
                <a:cs typeface="Arial MT"/>
              </a:rPr>
              <a:t>to</a:t>
            </a:r>
            <a:r>
              <a:rPr sz="1100" spc="-10" dirty="0">
                <a:solidFill>
                  <a:srgbClr val="E6F0FF"/>
                </a:solidFill>
                <a:latin typeface="Arial MT"/>
                <a:cs typeface="Arial MT"/>
              </a:rPr>
              <a:t> Verify"</a:t>
            </a:r>
            <a:endParaRPr sz="1100" dirty="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768600" y="2057400"/>
            <a:ext cx="2235200" cy="914400"/>
          </a:xfrm>
          <a:custGeom>
            <a:avLst/>
            <a:gdLst/>
            <a:ahLst/>
            <a:cxnLst/>
            <a:rect l="l" t="t" r="r" b="b"/>
            <a:pathLst>
              <a:path w="2235200" h="914400">
                <a:moveTo>
                  <a:pt x="2133600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812800"/>
                </a:lnTo>
                <a:lnTo>
                  <a:pt x="7976" y="852369"/>
                </a:lnTo>
                <a:lnTo>
                  <a:pt x="29738" y="884661"/>
                </a:lnTo>
                <a:lnTo>
                  <a:pt x="62030" y="906423"/>
                </a:lnTo>
                <a:lnTo>
                  <a:pt x="101600" y="914400"/>
                </a:lnTo>
                <a:lnTo>
                  <a:pt x="2133600" y="914400"/>
                </a:lnTo>
                <a:lnTo>
                  <a:pt x="2173169" y="906423"/>
                </a:lnTo>
                <a:lnTo>
                  <a:pt x="2205461" y="884661"/>
                </a:lnTo>
                <a:lnTo>
                  <a:pt x="2227223" y="852369"/>
                </a:lnTo>
                <a:lnTo>
                  <a:pt x="2235200" y="812800"/>
                </a:lnTo>
                <a:lnTo>
                  <a:pt x="2235200" y="101600"/>
                </a:lnTo>
                <a:lnTo>
                  <a:pt x="2227223" y="62030"/>
                </a:lnTo>
                <a:lnTo>
                  <a:pt x="2205461" y="29738"/>
                </a:lnTo>
                <a:lnTo>
                  <a:pt x="2173169" y="7976"/>
                </a:lnTo>
                <a:lnTo>
                  <a:pt x="2133600" y="0"/>
                </a:lnTo>
                <a:close/>
              </a:path>
            </a:pathLst>
          </a:custGeom>
          <a:solidFill>
            <a:srgbClr val="1121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257251" y="2105095"/>
            <a:ext cx="1257935" cy="1206036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25"/>
              </a:spcBef>
            </a:pPr>
            <a:r>
              <a:rPr sz="3000" b="1" spc="-10" dirty="0">
                <a:solidFill>
                  <a:srgbClr val="00D4AA"/>
                </a:solidFill>
                <a:latin typeface="Arial"/>
                <a:cs typeface="Arial"/>
              </a:rPr>
              <a:t>58.5%</a:t>
            </a:r>
            <a:endParaRPr sz="3000" dirty="0">
              <a:latin typeface="Arial"/>
              <a:cs typeface="Arial"/>
            </a:endParaRPr>
          </a:p>
          <a:p>
            <a:pPr marL="12700" marR="5080" algn="ctr">
              <a:lnSpc>
                <a:spcPct val="111100"/>
              </a:lnSpc>
              <a:spcBef>
                <a:spcPts val="340"/>
              </a:spcBef>
            </a:pPr>
            <a:r>
              <a:rPr sz="1100" dirty="0">
                <a:solidFill>
                  <a:srgbClr val="E6F0FF"/>
                </a:solidFill>
                <a:latin typeface="Arial MT"/>
                <a:cs typeface="Arial MT"/>
              </a:rPr>
              <a:t>of Late to Verify </a:t>
            </a:r>
            <a:r>
              <a:rPr sz="1100" spc="-10" dirty="0">
                <a:solidFill>
                  <a:srgbClr val="E6F0FF"/>
                </a:solidFill>
                <a:latin typeface="Arial MT"/>
                <a:cs typeface="Arial MT"/>
              </a:rPr>
              <a:t>projects </a:t>
            </a:r>
            <a:r>
              <a:rPr sz="1100" dirty="0">
                <a:solidFill>
                  <a:srgbClr val="E6F0FF"/>
                </a:solidFill>
                <a:latin typeface="Arial MT"/>
                <a:cs typeface="Arial MT"/>
              </a:rPr>
              <a:t>registered in </a:t>
            </a:r>
            <a:r>
              <a:rPr sz="1100" spc="-20" dirty="0">
                <a:solidFill>
                  <a:srgbClr val="E6F0FF"/>
                </a:solidFill>
                <a:latin typeface="Arial MT"/>
                <a:cs typeface="Arial MT"/>
              </a:rPr>
              <a:t>2020</a:t>
            </a:r>
            <a:endParaRPr sz="1100" dirty="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86400" y="2105095"/>
            <a:ext cx="1356150" cy="1018164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25"/>
              </a:spcBef>
            </a:pPr>
            <a:r>
              <a:rPr sz="3000" b="1" spc="-25" dirty="0">
                <a:solidFill>
                  <a:srgbClr val="66BA69"/>
                </a:solidFill>
                <a:latin typeface="Arial"/>
                <a:cs typeface="Arial"/>
              </a:rPr>
              <a:t>55%</a:t>
            </a:r>
            <a:endParaRPr sz="3000" dirty="0">
              <a:latin typeface="Arial"/>
              <a:cs typeface="Arial"/>
            </a:endParaRPr>
          </a:p>
          <a:p>
            <a:pPr marL="12065" marR="5080" algn="ctr">
              <a:lnSpc>
                <a:spcPct val="111100"/>
              </a:lnSpc>
              <a:spcBef>
                <a:spcPts val="340"/>
              </a:spcBef>
            </a:pPr>
            <a:r>
              <a:rPr sz="1100" dirty="0">
                <a:solidFill>
                  <a:srgbClr val="E6F0FF"/>
                </a:solidFill>
                <a:latin typeface="Arial MT"/>
                <a:cs typeface="Arial MT"/>
              </a:rPr>
              <a:t>missing </a:t>
            </a:r>
            <a:r>
              <a:rPr sz="1100" spc="-10" dirty="0">
                <a:solidFill>
                  <a:srgbClr val="E6F0FF"/>
                </a:solidFill>
                <a:latin typeface="Arial MT"/>
                <a:cs typeface="Arial MT"/>
              </a:rPr>
              <a:t>crediting </a:t>
            </a:r>
            <a:r>
              <a:rPr sz="1100" dirty="0">
                <a:solidFill>
                  <a:srgbClr val="E6F0FF"/>
                </a:solidFill>
                <a:latin typeface="Arial MT"/>
                <a:cs typeface="Arial MT"/>
              </a:rPr>
              <a:t>period </a:t>
            </a:r>
            <a:r>
              <a:rPr sz="1100" spc="-10" dirty="0">
                <a:solidFill>
                  <a:srgbClr val="E6F0FF"/>
                </a:solidFill>
                <a:latin typeface="Arial MT"/>
                <a:cs typeface="Arial MT"/>
              </a:rPr>
              <a:t>dates</a:t>
            </a:r>
            <a:endParaRPr sz="1100" dirty="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57200" y="4038600"/>
            <a:ext cx="6858000" cy="0"/>
          </a:xfrm>
          <a:custGeom>
            <a:avLst/>
            <a:gdLst/>
            <a:ahLst/>
            <a:cxnLst/>
            <a:rect l="l" t="t" r="r" b="b"/>
            <a:pathLst>
              <a:path w="6858000">
                <a:moveTo>
                  <a:pt x="0" y="0"/>
                </a:moveTo>
                <a:lnTo>
                  <a:pt x="6858000" y="0"/>
                </a:lnTo>
              </a:path>
            </a:pathLst>
          </a:custGeom>
          <a:ln w="6350">
            <a:solidFill>
              <a:srgbClr val="1D3A5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44500" y="3657600"/>
            <a:ext cx="4813300" cy="2023631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500" b="1" dirty="0">
                <a:solidFill>
                  <a:srgbClr val="E6F0FF"/>
                </a:solidFill>
                <a:latin typeface="Arial"/>
                <a:cs typeface="Arial"/>
              </a:rPr>
              <a:t>About</a:t>
            </a:r>
            <a:r>
              <a:rPr sz="1500" b="1" spc="-30" dirty="0">
                <a:solidFill>
                  <a:srgbClr val="E6F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E6F0FF"/>
                </a:solidFill>
                <a:latin typeface="Arial"/>
                <a:cs typeface="Arial"/>
              </a:rPr>
              <a:t>this</a:t>
            </a:r>
            <a:r>
              <a:rPr sz="1500" b="1" spc="-30" dirty="0">
                <a:solidFill>
                  <a:srgbClr val="E6F0FF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E6F0FF"/>
                </a:solidFill>
                <a:latin typeface="Arial"/>
                <a:cs typeface="Arial"/>
              </a:rPr>
              <a:t>analysis</a:t>
            </a:r>
            <a:endParaRPr sz="1500" dirty="0">
              <a:latin typeface="Arial"/>
              <a:cs typeface="Arial"/>
            </a:endParaRPr>
          </a:p>
          <a:p>
            <a:pPr marL="12700" marR="5080">
              <a:lnSpc>
                <a:spcPct val="116700"/>
              </a:lnSpc>
              <a:spcBef>
                <a:spcPts val="160"/>
              </a:spcBef>
            </a:pP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Conducted</a:t>
            </a:r>
            <a:r>
              <a:rPr sz="1200" spc="-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by Andita Rachmania — Data Analyst |</a:t>
            </a:r>
            <a:r>
              <a:rPr sz="1200" spc="-5" dirty="0">
                <a:solidFill>
                  <a:srgbClr val="8791A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8791AF"/>
                </a:solidFill>
                <a:latin typeface="Arial MT"/>
                <a:cs typeface="Arial MT"/>
              </a:rPr>
              <a:t>Sustainability. </a:t>
            </a:r>
            <a:r>
              <a:rPr sz="1200" dirty="0">
                <a:solidFill>
                  <a:srgbClr val="8791AF"/>
                </a:solidFill>
                <a:latin typeface="Arial MT"/>
                <a:cs typeface="Arial MT"/>
              </a:rPr>
              <a:t>Dataset: Verra VCS Registry (Energy Industry), exported April </a:t>
            </a:r>
            <a:r>
              <a:rPr sz="1200" spc="-10" dirty="0">
                <a:solidFill>
                  <a:srgbClr val="8791AF"/>
                </a:solidFill>
                <a:latin typeface="Arial MT"/>
                <a:cs typeface="Arial MT"/>
              </a:rPr>
              <a:t>2026</a:t>
            </a:r>
            <a:r>
              <a:rPr sz="1000" spc="-10" dirty="0">
                <a:solidFill>
                  <a:srgbClr val="8791AF"/>
                </a:solidFill>
                <a:latin typeface="Arial MT"/>
                <a:cs typeface="Arial MT"/>
              </a:rPr>
              <a:t>.</a:t>
            </a:r>
            <a:endParaRPr sz="1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100" b="1" dirty="0">
                <a:solidFill>
                  <a:srgbClr val="E6F0FF"/>
                </a:solidFill>
                <a:latin typeface="Arial"/>
                <a:cs typeface="Arial"/>
              </a:rPr>
              <a:t>Explore</a:t>
            </a:r>
            <a:r>
              <a:rPr sz="1100" b="1" spc="-45" dirty="0">
                <a:solidFill>
                  <a:srgbClr val="E6F0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E6F0FF"/>
                </a:solidFill>
                <a:latin typeface="Arial"/>
                <a:cs typeface="Arial"/>
              </a:rPr>
              <a:t>further:</a:t>
            </a:r>
            <a:endParaRPr sz="1100" dirty="0">
              <a:latin typeface="Arial"/>
              <a:cs typeface="Arial"/>
            </a:endParaRPr>
          </a:p>
          <a:p>
            <a:pPr marL="210185" indent="-197485">
              <a:lnSpc>
                <a:spcPct val="100000"/>
              </a:lnSpc>
              <a:spcBef>
                <a:spcPts val="780"/>
              </a:spcBef>
              <a:buFont typeface="MS Gothic"/>
              <a:buChar char="■"/>
              <a:tabLst>
                <a:tab pos="210185" algn="l"/>
              </a:tabLst>
            </a:pPr>
            <a:r>
              <a:rPr sz="1000" b="1" dirty="0">
                <a:solidFill>
                  <a:srgbClr val="00D4AA"/>
                </a:solidFill>
                <a:latin typeface="Arial"/>
                <a:cs typeface="Arial"/>
              </a:rPr>
              <a:t>Interactive </a:t>
            </a:r>
            <a:r>
              <a:rPr sz="1000" b="1" spc="-10" dirty="0">
                <a:solidFill>
                  <a:srgbClr val="00D4AA"/>
                </a:solidFill>
                <a:latin typeface="Arial"/>
                <a:cs typeface="Arial"/>
              </a:rPr>
              <a:t>Dashboard</a:t>
            </a:r>
            <a:endParaRPr sz="1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8791AF"/>
                </a:solidFill>
                <a:latin typeface="Arial MT"/>
                <a:cs typeface="Arial MT"/>
              </a:rPr>
              <a:t>github.io/AnditaRachmania/verra-carbon-registry-</a:t>
            </a:r>
            <a:r>
              <a:rPr sz="900" spc="-10" dirty="0">
                <a:solidFill>
                  <a:srgbClr val="8791AF"/>
                </a:solidFill>
                <a:latin typeface="Arial MT"/>
                <a:cs typeface="Arial MT"/>
              </a:rPr>
              <a:t>analysis</a:t>
            </a:r>
            <a:endParaRPr sz="900" dirty="0">
              <a:latin typeface="Arial MT"/>
              <a:cs typeface="Arial MT"/>
            </a:endParaRPr>
          </a:p>
          <a:p>
            <a:pPr marL="210185" indent="-197485">
              <a:lnSpc>
                <a:spcPct val="100000"/>
              </a:lnSpc>
              <a:spcBef>
                <a:spcPts val="620"/>
              </a:spcBef>
              <a:buFont typeface="MS Gothic"/>
              <a:buChar char="■"/>
              <a:tabLst>
                <a:tab pos="210185" algn="l"/>
              </a:tabLst>
            </a:pPr>
            <a:r>
              <a:rPr sz="1000" b="1" dirty="0">
                <a:solidFill>
                  <a:srgbClr val="66BA69"/>
                </a:solidFill>
                <a:latin typeface="Arial"/>
                <a:cs typeface="Arial"/>
              </a:rPr>
              <a:t>Full</a:t>
            </a:r>
            <a:r>
              <a:rPr sz="1000" b="1" spc="-15" dirty="0">
                <a:solidFill>
                  <a:srgbClr val="66BA6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66BA69"/>
                </a:solidFill>
                <a:latin typeface="Arial"/>
                <a:cs typeface="Arial"/>
              </a:rPr>
              <a:t>EDA</a:t>
            </a:r>
            <a:r>
              <a:rPr sz="1000" b="1" spc="-10" dirty="0">
                <a:solidFill>
                  <a:srgbClr val="66BA69"/>
                </a:solidFill>
                <a:latin typeface="Arial"/>
                <a:cs typeface="Arial"/>
              </a:rPr>
              <a:t> Notebook</a:t>
            </a:r>
            <a:endParaRPr sz="1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8791AF"/>
                </a:solidFill>
                <a:latin typeface="Arial MT"/>
                <a:cs typeface="Arial MT"/>
              </a:rPr>
              <a:t>github.com/AnditaRachmania/verra-carbon-registry-</a:t>
            </a:r>
            <a:r>
              <a:rPr sz="900" spc="-10" dirty="0">
                <a:solidFill>
                  <a:srgbClr val="8791AF"/>
                </a:solidFill>
                <a:latin typeface="Arial MT"/>
                <a:cs typeface="Arial MT"/>
              </a:rPr>
              <a:t>analysis</a:t>
            </a:r>
            <a:endParaRPr sz="900" dirty="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0" y="7620000"/>
            <a:ext cx="7772400" cy="50800"/>
          </a:xfrm>
          <a:custGeom>
            <a:avLst/>
            <a:gdLst/>
            <a:ahLst/>
            <a:cxnLst/>
            <a:rect l="l" t="t" r="r" b="b"/>
            <a:pathLst>
              <a:path w="7772400" h="50800">
                <a:moveTo>
                  <a:pt x="7772400" y="0"/>
                </a:moveTo>
                <a:lnTo>
                  <a:pt x="0" y="0"/>
                </a:lnTo>
                <a:lnTo>
                  <a:pt x="0" y="50800"/>
                </a:lnTo>
                <a:lnTo>
                  <a:pt x="7772400" y="50800"/>
                </a:lnTo>
                <a:lnTo>
                  <a:pt x="7772400" y="0"/>
                </a:lnTo>
                <a:close/>
              </a:path>
            </a:pathLst>
          </a:custGeom>
          <a:solidFill>
            <a:srgbClr val="00D4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/>
              <a:t>10</a:t>
            </a:fld>
            <a:r>
              <a:rPr dirty="0"/>
              <a:t> / </a:t>
            </a:r>
            <a:r>
              <a:rPr spc="-25" dirty="0"/>
              <a:t>10</a:t>
            </a: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</TotalTime>
  <Words>1090</Words>
  <Application>Microsoft Office PowerPoint</Application>
  <PresentationFormat>Custom</PresentationFormat>
  <Paragraphs>198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 MT</vt:lpstr>
      <vt:lpstr>MS Gothic</vt:lpstr>
      <vt:lpstr>Arial</vt:lpstr>
      <vt:lpstr>Calibri</vt:lpstr>
      <vt:lpstr>Symbol</vt:lpstr>
      <vt:lpstr>Times New Roman</vt:lpstr>
      <vt:lpstr>Office Theme</vt:lpstr>
      <vt:lpstr>VCS</vt:lpstr>
      <vt:lpstr>Why does registry data quality matter?</vt:lpstr>
      <vt:lpstr>Four datasets. One registry.</vt:lpstr>
      <vt:lpstr>1,700 projects. Four lifecycle stages.</vt:lpstr>
      <vt:lpstr>The Zombie Registry One status stands out among the 17 tracked in this dataset</vt:lpstr>
      <vt:lpstr>The 2020 CDM Migration Surge A registration year anomaly that shapes the entire dataset</vt:lpstr>
      <vt:lpstr>Data Quality Failures Systematic gaps that undermine registry transparency</vt:lpstr>
      <vt:lpstr>Where are the projects located?</vt:lpstr>
      <vt:lpstr>What do the data patterns suggest?</vt:lpstr>
      <vt:lpstr>Three patterns. One dataset. Exploring 1,700 Verra VCS energy projects through a data quality lens surfaces patterns worth understanding before working with this data.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Exploring Data Quality in the Verra VCS Registry — Andita Rachmania</dc:title>
  <dc:subject>unspecified</dc:subject>
  <dc:creator>Andita Rachmania</dc:creator>
  <cp:lastModifiedBy>Andita Rachmania</cp:lastModifiedBy>
  <cp:revision>3</cp:revision>
  <dcterms:created xsi:type="dcterms:W3CDTF">2026-04-05T05:17:44Z</dcterms:created>
  <dcterms:modified xsi:type="dcterms:W3CDTF">2026-04-05T06:38:22Z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2026-04-05T00:00:00Z</vt:filetime>
  </property>
  <property fmtid="{D5CDD505-2E9C-101B-9397-08002B2CF9AE}" pid="3" name="Creator">
    <vt:lpwstr>anonymous</vt:lpwstr>
  </property>
  <property fmtid="{D5CDD505-2E9C-101B-9397-08002B2CF9AE}" pid="4" name="LastSaved">
    <vt:filetime>2026-04-05T00:00:00Z</vt:filetime>
  </property>
  <property fmtid="{D5CDD505-2E9C-101B-9397-08002B2CF9AE}" pid="5" name="Producer">
    <vt:lpwstr>ReportLab PDF Library - (opensource)</vt:lpwstr>
  </property>
</Properties>
</file>